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77" r:id="rId2"/>
    <p:sldId id="279" r:id="rId3"/>
    <p:sldId id="278" r:id="rId4"/>
    <p:sldId id="256" r:id="rId5"/>
    <p:sldId id="270" r:id="rId6"/>
    <p:sldId id="274" r:id="rId7"/>
    <p:sldId id="275" r:id="rId8"/>
    <p:sldId id="276" r:id="rId9"/>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150" d="100"/>
          <a:sy n="150" d="100"/>
        </p:scale>
        <p:origin x="624"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77ED4A-AF2B-41B0-84A2-228B7EA4A9A6}" type="datetimeFigureOut">
              <a:rPr lang="ko-KR" altLang="en-US" smtClean="0"/>
              <a:t>2026-01-16</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A7A587-B29F-4E85-AF0D-45ADD318CD4B}" type="slidenum">
              <a:rPr lang="ko-KR" altLang="en-US" smtClean="0"/>
              <a:t>‹#›</a:t>
            </a:fld>
            <a:endParaRPr lang="ko-KR" altLang="en-US"/>
          </a:p>
        </p:txBody>
      </p:sp>
    </p:spTree>
    <p:extLst>
      <p:ext uri="{BB962C8B-B14F-4D97-AF65-F5344CB8AC3E}">
        <p14:creationId xmlns:p14="http://schemas.microsoft.com/office/powerpoint/2010/main" val="59972509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1d115b0ec5_0_50: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g1d115b0ec5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ko-KR"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d115b0ec5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ko-KR" altLang="en-US"/>
          </a:p>
        </p:txBody>
      </p:sp>
      <p:sp>
        <p:nvSpPr>
          <p:cNvPr id="270" name="Google Shape;270;g1d115b0ec5_0_83: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rgbClr val="333333"/>
                </a:solidFill>
                <a:highlight>
                  <a:srgbClr val="FFFFFF"/>
                </a:highlight>
              </a:rPr>
              <a:t>Jin Sam Kim “플레이스홀더는 레이지 기법으로 값을 미리 정하지 않고, 프로그래밍이 돌아가는 시점에 정해지는 값입니다. 변수의 형태(type)만 정해 놓고, 변수의 값은 정해지지 않았지만 텐서플로우가 실행되는 동안에 정해집니다. 값이 미리 정해지지 않고, 나중에 정해지는 점은 굉장히 유연한 프로그래밍을 할 수 있게 </a:t>
            </a:r>
            <a:endParaRPr sz="1000">
              <a:solidFill>
                <a:srgbClr val="333333"/>
              </a:solidFill>
              <a:highlight>
                <a:srgbClr val="FFFFFF"/>
              </a:highlight>
            </a:endParaRPr>
          </a:p>
          <a:p>
            <a:pPr marL="0" lvl="0" indent="0" algn="l" rtl="0">
              <a:spcBef>
                <a:spcPts val="0"/>
              </a:spcBef>
              <a:spcAft>
                <a:spcPts val="0"/>
              </a:spcAft>
              <a:buNone/>
            </a:pPr>
            <a:r>
              <a:rPr lang="en" sz="1000">
                <a:solidFill>
                  <a:srgbClr val="333333"/>
                </a:solidFill>
                <a:highlight>
                  <a:srgbClr val="FFFFFF"/>
                </a:highlight>
              </a:rPr>
              <a:t>도와줍니다.”</a:t>
            </a:r>
            <a:endParaRPr sz="1000">
              <a:solidFill>
                <a:srgbClr val="333333"/>
              </a:solidFill>
              <a:highlight>
                <a:srgbClr val="FFFFFF"/>
              </a:highlight>
            </a:endParaRPr>
          </a:p>
          <a:p>
            <a:pPr marL="0" lvl="0" indent="0" algn="l" rtl="0">
              <a:spcBef>
                <a:spcPts val="0"/>
              </a:spcBef>
              <a:spcAft>
                <a:spcPts val="0"/>
              </a:spcAft>
              <a:buNone/>
            </a:pPr>
            <a:endParaRPr sz="1000">
              <a:solidFill>
                <a:srgbClr val="333333"/>
              </a:solidFill>
              <a:highlight>
                <a:srgbClr val="FFFFFF"/>
              </a:highlight>
            </a:endParaRPr>
          </a:p>
          <a:p>
            <a:pPr marL="0" lvl="0" indent="0" algn="l" rtl="0">
              <a:spcBef>
                <a:spcPts val="0"/>
              </a:spcBef>
              <a:spcAft>
                <a:spcPts val="0"/>
              </a:spcAft>
              <a:buNone/>
            </a:pPr>
            <a:r>
              <a:rPr lang="en" sz="1000">
                <a:solidFill>
                  <a:srgbClr val="333333"/>
                </a:solidFill>
                <a:highlight>
                  <a:srgbClr val="FFFFFF"/>
                </a:highlight>
              </a:rPr>
              <a:t>“feed_dict={값}</a:t>
            </a:r>
            <a:endParaRPr sz="1000">
              <a:solidFill>
                <a:srgbClr val="333333"/>
              </a:solidFill>
              <a:highlight>
                <a:srgbClr val="FFFFFF"/>
              </a:highlight>
            </a:endParaRPr>
          </a:p>
          <a:p>
            <a:pPr marL="0" lvl="0" indent="0" algn="l" rtl="0">
              <a:spcBef>
                <a:spcPts val="0"/>
              </a:spcBef>
              <a:spcAft>
                <a:spcPts val="0"/>
              </a:spcAft>
              <a:buClr>
                <a:schemeClr val="dk1"/>
              </a:buClr>
              <a:buSzPts val="1100"/>
              <a:buFont typeface="Arial"/>
              <a:buNone/>
            </a:pPr>
            <a:r>
              <a:rPr lang="en" sz="1000">
                <a:solidFill>
                  <a:srgbClr val="333333"/>
                </a:solidFill>
                <a:highlight>
                  <a:srgbClr val="FFFFFF"/>
                </a:highlight>
              </a:rPr>
              <a:t>이 문법은 run function에서 argument로 받는 특정 이름을 지칭하는 것입니다.</a:t>
            </a:r>
            <a:endParaRPr sz="1000">
              <a:solidFill>
                <a:srgbClr val="333333"/>
              </a:solidFill>
              <a:highlight>
                <a:srgbClr val="FFFFFF"/>
              </a:highlight>
            </a:endParaRPr>
          </a:p>
          <a:p>
            <a:pPr marL="0" lvl="0" indent="0" algn="l" rtl="0">
              <a:spcBef>
                <a:spcPts val="0"/>
              </a:spcBef>
              <a:spcAft>
                <a:spcPts val="0"/>
              </a:spcAft>
              <a:buClr>
                <a:schemeClr val="dk1"/>
              </a:buClr>
              <a:buSzPts val="1100"/>
              <a:buFont typeface="Arial"/>
              <a:buNone/>
            </a:pPr>
            <a:r>
              <a:rPr lang="en" sz="1000">
                <a:solidFill>
                  <a:srgbClr val="333333"/>
                </a:solidFill>
                <a:highlight>
                  <a:srgbClr val="FFFFFF"/>
                </a:highlight>
              </a:rPr>
              <a:t>자바 같은 경우에는 argument 순서에 의해서 전달되는 파라미터가 어떤 argument에 매칭될지가 정해지는데, 파이썬에서는 argument이름을 정해줌으로써 순서에 상관 없이 파라미터를 전달 할 수 있는 장점이 있습니다.</a:t>
            </a:r>
            <a:endParaRPr sz="1000">
              <a:solidFill>
                <a:srgbClr val="333333"/>
              </a:solidFill>
              <a:highlight>
                <a:srgbClr val="FFFFFF"/>
              </a:highlight>
            </a:endParaRPr>
          </a:p>
          <a:p>
            <a:pPr marL="0" lvl="0" indent="0" algn="l" rtl="0">
              <a:spcBef>
                <a:spcPts val="0"/>
              </a:spcBef>
              <a:spcAft>
                <a:spcPts val="0"/>
              </a:spcAft>
              <a:buNone/>
            </a:pPr>
            <a:r>
              <a:rPr lang="en" sz="1000">
                <a:solidFill>
                  <a:srgbClr val="333333"/>
                </a:solidFill>
                <a:highlight>
                  <a:srgbClr val="FFFFFF"/>
                </a:highlight>
              </a:rPr>
              <a:t>텐서플로우 1.0 기준으로 Session.run 에는 4개의 arguments가 있는데, 그 중 하나인 feed_dict를 특정해서 파라미터를 전달할 수 있습니다.”</a:t>
            </a:r>
            <a:endParaRPr sz="1000">
              <a:solidFill>
                <a:srgbClr val="333333"/>
              </a:solidFill>
              <a:highlight>
                <a:srgbClr val="FFFFFF"/>
              </a:highlight>
            </a:endParaRPr>
          </a:p>
          <a:p>
            <a:pPr marL="0" lvl="0" indent="0" algn="l" rtl="0">
              <a:spcBef>
                <a:spcPts val="0"/>
              </a:spcBef>
              <a:spcAft>
                <a:spcPts val="0"/>
              </a:spcAft>
              <a:buNone/>
            </a:pPr>
            <a:endParaRPr sz="1000">
              <a:solidFill>
                <a:srgbClr val="333333"/>
              </a:solidFill>
              <a:highlight>
                <a:srgbClr val="FFFFFF"/>
              </a:highlight>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a:extLst>
            <a:ext uri="{FF2B5EF4-FFF2-40B4-BE49-F238E27FC236}">
              <a16:creationId xmlns:a16="http://schemas.microsoft.com/office/drawing/2014/main" id="{43D6B602-3045-1308-9DD4-EC5F1DCEB97D}"/>
            </a:ext>
          </a:extLst>
        </p:cNvPr>
        <p:cNvGrpSpPr/>
        <p:nvPr/>
      </p:nvGrpSpPr>
      <p:grpSpPr>
        <a:xfrm>
          <a:off x="0" y="0"/>
          <a:ext cx="0" cy="0"/>
          <a:chOff x="0" y="0"/>
          <a:chExt cx="0" cy="0"/>
        </a:xfrm>
      </p:grpSpPr>
      <p:sp>
        <p:nvSpPr>
          <p:cNvPr id="269" name="Google Shape;269;g1d115b0ec5_0_83:notes">
            <a:extLst>
              <a:ext uri="{FF2B5EF4-FFF2-40B4-BE49-F238E27FC236}">
                <a16:creationId xmlns:a16="http://schemas.microsoft.com/office/drawing/2014/main" id="{B69D5322-025E-C650-76B5-FC9A3B3977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ko-KR" altLang="en-US"/>
          </a:p>
        </p:txBody>
      </p:sp>
      <p:sp>
        <p:nvSpPr>
          <p:cNvPr id="270" name="Google Shape;270;g1d115b0ec5_0_83:notes">
            <a:extLst>
              <a:ext uri="{FF2B5EF4-FFF2-40B4-BE49-F238E27FC236}">
                <a16:creationId xmlns:a16="http://schemas.microsoft.com/office/drawing/2014/main" id="{EA9F7AF8-E3B8-5BCD-27AE-DBDA50EBBAB3}"/>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rgbClr val="333333"/>
                </a:solidFill>
                <a:highlight>
                  <a:srgbClr val="FFFFFF"/>
                </a:highlight>
              </a:rPr>
              <a:t>Jin Sam Kim “플레이스홀더는 레이지 기법으로 값을 미리 정하지 않고, 프로그래밍이 돌아가는 시점에 정해지는 값입니다. 변수의 형태(type)만 정해 놓고, 변수의 값은 정해지지 않았지만 텐서플로우가 실행되는 동안에 정해집니다. 값이 미리 정해지지 않고, 나중에 정해지는 점은 굉장히 유연한 프로그래밍을 할 수 있게 </a:t>
            </a:r>
            <a:endParaRPr sz="1000">
              <a:solidFill>
                <a:srgbClr val="333333"/>
              </a:solidFill>
              <a:highlight>
                <a:srgbClr val="FFFFFF"/>
              </a:highlight>
            </a:endParaRPr>
          </a:p>
          <a:p>
            <a:pPr marL="0" lvl="0" indent="0" algn="l" rtl="0">
              <a:spcBef>
                <a:spcPts val="0"/>
              </a:spcBef>
              <a:spcAft>
                <a:spcPts val="0"/>
              </a:spcAft>
              <a:buNone/>
            </a:pPr>
            <a:r>
              <a:rPr lang="en" sz="1000">
                <a:solidFill>
                  <a:srgbClr val="333333"/>
                </a:solidFill>
                <a:highlight>
                  <a:srgbClr val="FFFFFF"/>
                </a:highlight>
              </a:rPr>
              <a:t>도와줍니다.”</a:t>
            </a:r>
            <a:endParaRPr sz="1000">
              <a:solidFill>
                <a:srgbClr val="333333"/>
              </a:solidFill>
              <a:highlight>
                <a:srgbClr val="FFFFFF"/>
              </a:highlight>
            </a:endParaRPr>
          </a:p>
          <a:p>
            <a:pPr marL="0" lvl="0" indent="0" algn="l" rtl="0">
              <a:spcBef>
                <a:spcPts val="0"/>
              </a:spcBef>
              <a:spcAft>
                <a:spcPts val="0"/>
              </a:spcAft>
              <a:buNone/>
            </a:pPr>
            <a:endParaRPr sz="1000">
              <a:solidFill>
                <a:srgbClr val="333333"/>
              </a:solidFill>
              <a:highlight>
                <a:srgbClr val="FFFFFF"/>
              </a:highlight>
            </a:endParaRPr>
          </a:p>
          <a:p>
            <a:pPr marL="0" lvl="0" indent="0" algn="l" rtl="0">
              <a:spcBef>
                <a:spcPts val="0"/>
              </a:spcBef>
              <a:spcAft>
                <a:spcPts val="0"/>
              </a:spcAft>
              <a:buNone/>
            </a:pPr>
            <a:r>
              <a:rPr lang="en" sz="1000">
                <a:solidFill>
                  <a:srgbClr val="333333"/>
                </a:solidFill>
                <a:highlight>
                  <a:srgbClr val="FFFFFF"/>
                </a:highlight>
              </a:rPr>
              <a:t>“feed_dict={값}</a:t>
            </a:r>
            <a:endParaRPr sz="1000">
              <a:solidFill>
                <a:srgbClr val="333333"/>
              </a:solidFill>
              <a:highlight>
                <a:srgbClr val="FFFFFF"/>
              </a:highlight>
            </a:endParaRPr>
          </a:p>
          <a:p>
            <a:pPr marL="0" lvl="0" indent="0" algn="l" rtl="0">
              <a:spcBef>
                <a:spcPts val="0"/>
              </a:spcBef>
              <a:spcAft>
                <a:spcPts val="0"/>
              </a:spcAft>
              <a:buClr>
                <a:schemeClr val="dk1"/>
              </a:buClr>
              <a:buSzPts val="1100"/>
              <a:buFont typeface="Arial"/>
              <a:buNone/>
            </a:pPr>
            <a:r>
              <a:rPr lang="en" sz="1000">
                <a:solidFill>
                  <a:srgbClr val="333333"/>
                </a:solidFill>
                <a:highlight>
                  <a:srgbClr val="FFFFFF"/>
                </a:highlight>
              </a:rPr>
              <a:t>이 문법은 run function에서 argument로 받는 특정 이름을 지칭하는 것입니다.</a:t>
            </a:r>
            <a:endParaRPr sz="1000">
              <a:solidFill>
                <a:srgbClr val="333333"/>
              </a:solidFill>
              <a:highlight>
                <a:srgbClr val="FFFFFF"/>
              </a:highlight>
            </a:endParaRPr>
          </a:p>
          <a:p>
            <a:pPr marL="0" lvl="0" indent="0" algn="l" rtl="0">
              <a:spcBef>
                <a:spcPts val="0"/>
              </a:spcBef>
              <a:spcAft>
                <a:spcPts val="0"/>
              </a:spcAft>
              <a:buClr>
                <a:schemeClr val="dk1"/>
              </a:buClr>
              <a:buSzPts val="1100"/>
              <a:buFont typeface="Arial"/>
              <a:buNone/>
            </a:pPr>
            <a:r>
              <a:rPr lang="en" sz="1000">
                <a:solidFill>
                  <a:srgbClr val="333333"/>
                </a:solidFill>
                <a:highlight>
                  <a:srgbClr val="FFFFFF"/>
                </a:highlight>
              </a:rPr>
              <a:t>자바 같은 경우에는 argument 순서에 의해서 전달되는 파라미터가 어떤 argument에 매칭될지가 정해지는데, 파이썬에서는 argument이름을 정해줌으로써 순서에 상관 없이 파라미터를 전달 할 수 있는 장점이 있습니다.</a:t>
            </a:r>
            <a:endParaRPr sz="1000">
              <a:solidFill>
                <a:srgbClr val="333333"/>
              </a:solidFill>
              <a:highlight>
                <a:srgbClr val="FFFFFF"/>
              </a:highlight>
            </a:endParaRPr>
          </a:p>
          <a:p>
            <a:pPr marL="0" lvl="0" indent="0" algn="l" rtl="0">
              <a:spcBef>
                <a:spcPts val="0"/>
              </a:spcBef>
              <a:spcAft>
                <a:spcPts val="0"/>
              </a:spcAft>
              <a:buNone/>
            </a:pPr>
            <a:r>
              <a:rPr lang="en" sz="1000">
                <a:solidFill>
                  <a:srgbClr val="333333"/>
                </a:solidFill>
                <a:highlight>
                  <a:srgbClr val="FFFFFF"/>
                </a:highlight>
              </a:rPr>
              <a:t>텐서플로우 1.0 기준으로 Session.run 에는 4개의 arguments가 있는데, 그 중 하나인 feed_dict를 특정해서 파라미터를 전달할 수 있습니다.”</a:t>
            </a:r>
            <a:endParaRPr sz="1000">
              <a:solidFill>
                <a:srgbClr val="333333"/>
              </a:solidFill>
              <a:highlight>
                <a:srgbClr val="FFFFFF"/>
              </a:highlight>
            </a:endParaRPr>
          </a:p>
          <a:p>
            <a:pPr marL="0" lvl="0" indent="0" algn="l" rtl="0">
              <a:spcBef>
                <a:spcPts val="0"/>
              </a:spcBef>
              <a:spcAft>
                <a:spcPts val="0"/>
              </a:spcAft>
              <a:buNone/>
            </a:pPr>
            <a:endParaRPr sz="1000">
              <a:solidFill>
                <a:srgbClr val="333333"/>
              </a:solidFill>
              <a:highlight>
                <a:srgbClr val="FFFFFF"/>
              </a:highlight>
            </a:endParaRPr>
          </a:p>
        </p:txBody>
      </p:sp>
    </p:spTree>
    <p:extLst>
      <p:ext uri="{BB962C8B-B14F-4D97-AF65-F5344CB8AC3E}">
        <p14:creationId xmlns:p14="http://schemas.microsoft.com/office/powerpoint/2010/main" val="41940291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a:extLst>
            <a:ext uri="{FF2B5EF4-FFF2-40B4-BE49-F238E27FC236}">
              <a16:creationId xmlns:a16="http://schemas.microsoft.com/office/drawing/2014/main" id="{FDA75E01-D8EF-8356-47D7-BBE1CD2CBCD3}"/>
            </a:ext>
          </a:extLst>
        </p:cNvPr>
        <p:cNvGrpSpPr/>
        <p:nvPr/>
      </p:nvGrpSpPr>
      <p:grpSpPr>
        <a:xfrm>
          <a:off x="0" y="0"/>
          <a:ext cx="0" cy="0"/>
          <a:chOff x="0" y="0"/>
          <a:chExt cx="0" cy="0"/>
        </a:xfrm>
      </p:grpSpPr>
      <p:sp>
        <p:nvSpPr>
          <p:cNvPr id="176" name="Google Shape;176;g1d11dcbc39_0_36:notes">
            <a:extLst>
              <a:ext uri="{FF2B5EF4-FFF2-40B4-BE49-F238E27FC236}">
                <a16:creationId xmlns:a16="http://schemas.microsoft.com/office/drawing/2014/main" id="{F43C081E-184C-78EF-06A7-12AA652688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ko-KR" altLang="en-US"/>
          </a:p>
        </p:txBody>
      </p:sp>
      <p:sp>
        <p:nvSpPr>
          <p:cNvPr id="177" name="Google Shape;177;g1d11dcbc39_0_36:notes">
            <a:extLst>
              <a:ext uri="{FF2B5EF4-FFF2-40B4-BE49-F238E27FC236}">
                <a16:creationId xmlns:a16="http://schemas.microsoft.com/office/drawing/2014/main" id="{AD403724-4040-3B6E-625B-13AA25599AA9}"/>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49852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70A8FEE-DD91-88D5-C2B3-4937363EDB81}"/>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E109656A-8B11-1BED-6734-9C979CDB3A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407FC569-3E6A-CF80-1323-76D619F2E504}"/>
              </a:ext>
            </a:extLst>
          </p:cNvPr>
          <p:cNvSpPr>
            <a:spLocks noGrp="1"/>
          </p:cNvSpPr>
          <p:nvPr>
            <p:ph type="dt" sz="half" idx="10"/>
          </p:nvPr>
        </p:nvSpPr>
        <p:spPr/>
        <p:txBody>
          <a:bodyPr/>
          <a:lstStyle/>
          <a:p>
            <a:fld id="{4CA9EB10-0283-4C0D-A8FE-1E7776CE559D}" type="datetimeFigureOut">
              <a:rPr lang="ko-KR" altLang="en-US" smtClean="0"/>
              <a:t>2026-01-16</a:t>
            </a:fld>
            <a:endParaRPr lang="ko-KR" altLang="en-US"/>
          </a:p>
        </p:txBody>
      </p:sp>
      <p:sp>
        <p:nvSpPr>
          <p:cNvPr id="5" name="바닥글 개체 틀 4">
            <a:extLst>
              <a:ext uri="{FF2B5EF4-FFF2-40B4-BE49-F238E27FC236}">
                <a16:creationId xmlns:a16="http://schemas.microsoft.com/office/drawing/2014/main" id="{E3C6BC9C-A9BB-C864-E5F6-32D56A14FFC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F83014F-5836-6AA2-546A-E619F3FA0217}"/>
              </a:ext>
            </a:extLst>
          </p:cNvPr>
          <p:cNvSpPr>
            <a:spLocks noGrp="1"/>
          </p:cNvSpPr>
          <p:nvPr>
            <p:ph type="sldNum" sz="quarter" idx="12"/>
          </p:nvPr>
        </p:nvSpPr>
        <p:spPr/>
        <p:txBody>
          <a:bodyPr/>
          <a:lstStyle/>
          <a:p>
            <a:fld id="{2AF92E8A-E0BA-4F2D-942A-9154684D4230}" type="slidenum">
              <a:rPr lang="ko-KR" altLang="en-US" smtClean="0"/>
              <a:t>‹#›</a:t>
            </a:fld>
            <a:endParaRPr lang="ko-KR" altLang="en-US"/>
          </a:p>
        </p:txBody>
      </p:sp>
    </p:spTree>
    <p:extLst>
      <p:ext uri="{BB962C8B-B14F-4D97-AF65-F5344CB8AC3E}">
        <p14:creationId xmlns:p14="http://schemas.microsoft.com/office/powerpoint/2010/main" val="3675868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1874FA-573B-8700-19C1-33D5C50D98F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17C6AF6C-142C-1051-E476-505DA6E879D3}"/>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DD835BA-34F2-8C81-3E1B-B2133E0B84D4}"/>
              </a:ext>
            </a:extLst>
          </p:cNvPr>
          <p:cNvSpPr>
            <a:spLocks noGrp="1"/>
          </p:cNvSpPr>
          <p:nvPr>
            <p:ph type="dt" sz="half" idx="10"/>
          </p:nvPr>
        </p:nvSpPr>
        <p:spPr/>
        <p:txBody>
          <a:bodyPr/>
          <a:lstStyle/>
          <a:p>
            <a:fld id="{4CA9EB10-0283-4C0D-A8FE-1E7776CE559D}" type="datetimeFigureOut">
              <a:rPr lang="ko-KR" altLang="en-US" smtClean="0"/>
              <a:t>2026-01-16</a:t>
            </a:fld>
            <a:endParaRPr lang="ko-KR" altLang="en-US"/>
          </a:p>
        </p:txBody>
      </p:sp>
      <p:sp>
        <p:nvSpPr>
          <p:cNvPr id="5" name="바닥글 개체 틀 4">
            <a:extLst>
              <a:ext uri="{FF2B5EF4-FFF2-40B4-BE49-F238E27FC236}">
                <a16:creationId xmlns:a16="http://schemas.microsoft.com/office/drawing/2014/main" id="{8537A16E-D2CD-2479-A4ED-D58BCE303F7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53B2153D-C31E-3061-6554-3751DC128636}"/>
              </a:ext>
            </a:extLst>
          </p:cNvPr>
          <p:cNvSpPr>
            <a:spLocks noGrp="1"/>
          </p:cNvSpPr>
          <p:nvPr>
            <p:ph type="sldNum" sz="quarter" idx="12"/>
          </p:nvPr>
        </p:nvSpPr>
        <p:spPr/>
        <p:txBody>
          <a:bodyPr/>
          <a:lstStyle/>
          <a:p>
            <a:fld id="{2AF92E8A-E0BA-4F2D-942A-9154684D4230}" type="slidenum">
              <a:rPr lang="ko-KR" altLang="en-US" smtClean="0"/>
              <a:t>‹#›</a:t>
            </a:fld>
            <a:endParaRPr lang="ko-KR" altLang="en-US"/>
          </a:p>
        </p:txBody>
      </p:sp>
    </p:spTree>
    <p:extLst>
      <p:ext uri="{BB962C8B-B14F-4D97-AF65-F5344CB8AC3E}">
        <p14:creationId xmlns:p14="http://schemas.microsoft.com/office/powerpoint/2010/main" val="1992581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79A3725-F554-50D9-8AB7-E5AA474B3CE9}"/>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BCCB9BA2-37C7-6169-851D-65DA16CA18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CC2940AA-774B-378A-CDCD-56AAE6B8B613}"/>
              </a:ext>
            </a:extLst>
          </p:cNvPr>
          <p:cNvSpPr>
            <a:spLocks noGrp="1"/>
          </p:cNvSpPr>
          <p:nvPr>
            <p:ph type="dt" sz="half" idx="10"/>
          </p:nvPr>
        </p:nvSpPr>
        <p:spPr/>
        <p:txBody>
          <a:bodyPr/>
          <a:lstStyle/>
          <a:p>
            <a:fld id="{4CA9EB10-0283-4C0D-A8FE-1E7776CE559D}" type="datetimeFigureOut">
              <a:rPr lang="ko-KR" altLang="en-US" smtClean="0"/>
              <a:t>2026-01-16</a:t>
            </a:fld>
            <a:endParaRPr lang="ko-KR" altLang="en-US"/>
          </a:p>
        </p:txBody>
      </p:sp>
      <p:sp>
        <p:nvSpPr>
          <p:cNvPr id="5" name="바닥글 개체 틀 4">
            <a:extLst>
              <a:ext uri="{FF2B5EF4-FFF2-40B4-BE49-F238E27FC236}">
                <a16:creationId xmlns:a16="http://schemas.microsoft.com/office/drawing/2014/main" id="{FE230D69-EE8A-D991-8D9F-53C9D130304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0D092E8-4421-367F-048D-E5BDAAD15503}"/>
              </a:ext>
            </a:extLst>
          </p:cNvPr>
          <p:cNvSpPr>
            <a:spLocks noGrp="1"/>
          </p:cNvSpPr>
          <p:nvPr>
            <p:ph type="sldNum" sz="quarter" idx="12"/>
          </p:nvPr>
        </p:nvSpPr>
        <p:spPr/>
        <p:txBody>
          <a:bodyPr/>
          <a:lstStyle/>
          <a:p>
            <a:fld id="{2AF92E8A-E0BA-4F2D-942A-9154684D4230}" type="slidenum">
              <a:rPr lang="ko-KR" altLang="en-US" smtClean="0"/>
              <a:t>‹#›</a:t>
            </a:fld>
            <a:endParaRPr lang="ko-KR" altLang="en-US"/>
          </a:p>
        </p:txBody>
      </p:sp>
    </p:spTree>
    <p:extLst>
      <p:ext uri="{BB962C8B-B14F-4D97-AF65-F5344CB8AC3E}">
        <p14:creationId xmlns:p14="http://schemas.microsoft.com/office/powerpoint/2010/main" val="94078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C676376-86B7-EF66-C662-98FA9EFF7DA1}"/>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B9CD0292-4210-DF69-0A1E-1E91BCFBB8AC}"/>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19D262F1-BFC8-5897-FE19-64AC768187AA}"/>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9626F22D-9275-5C02-EBCF-D0365CE7692F}"/>
              </a:ext>
            </a:extLst>
          </p:cNvPr>
          <p:cNvSpPr>
            <a:spLocks noGrp="1"/>
          </p:cNvSpPr>
          <p:nvPr>
            <p:ph type="dt" sz="half" idx="10"/>
          </p:nvPr>
        </p:nvSpPr>
        <p:spPr/>
        <p:txBody>
          <a:bodyPr/>
          <a:lstStyle/>
          <a:p>
            <a:fld id="{4CA9EB10-0283-4C0D-A8FE-1E7776CE559D}" type="datetimeFigureOut">
              <a:rPr lang="ko-KR" altLang="en-US" smtClean="0"/>
              <a:t>2026-01-16</a:t>
            </a:fld>
            <a:endParaRPr lang="ko-KR" altLang="en-US"/>
          </a:p>
        </p:txBody>
      </p:sp>
      <p:sp>
        <p:nvSpPr>
          <p:cNvPr id="6" name="바닥글 개체 틀 5">
            <a:extLst>
              <a:ext uri="{FF2B5EF4-FFF2-40B4-BE49-F238E27FC236}">
                <a16:creationId xmlns:a16="http://schemas.microsoft.com/office/drawing/2014/main" id="{BAAF22CD-85A9-6040-5E14-B1A20DD6054D}"/>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162FEC27-920A-5550-98C4-C956A24BF7B8}"/>
              </a:ext>
            </a:extLst>
          </p:cNvPr>
          <p:cNvSpPr>
            <a:spLocks noGrp="1"/>
          </p:cNvSpPr>
          <p:nvPr>
            <p:ph type="sldNum" sz="quarter" idx="12"/>
          </p:nvPr>
        </p:nvSpPr>
        <p:spPr/>
        <p:txBody>
          <a:bodyPr/>
          <a:lstStyle/>
          <a:p>
            <a:fld id="{2AF92E8A-E0BA-4F2D-942A-9154684D4230}" type="slidenum">
              <a:rPr lang="ko-KR" altLang="en-US" smtClean="0"/>
              <a:t>‹#›</a:t>
            </a:fld>
            <a:endParaRPr lang="ko-KR" altLang="en-US"/>
          </a:p>
        </p:txBody>
      </p:sp>
    </p:spTree>
    <p:extLst>
      <p:ext uri="{BB962C8B-B14F-4D97-AF65-F5344CB8AC3E}">
        <p14:creationId xmlns:p14="http://schemas.microsoft.com/office/powerpoint/2010/main" val="1082998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1529BD5-8640-E88B-7F14-82EE3C77477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A4463977-6252-4F4D-C6F0-512C714D98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41D10EF9-14E9-2FAB-4755-2E52294C9402}"/>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0F51A086-2305-6CCF-6B92-1052B597A3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A4155660-425F-652E-FFD0-F98324CAEFDE}"/>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6D7454D0-61DC-CF49-21D1-966B304505ED}"/>
              </a:ext>
            </a:extLst>
          </p:cNvPr>
          <p:cNvSpPr>
            <a:spLocks noGrp="1"/>
          </p:cNvSpPr>
          <p:nvPr>
            <p:ph type="dt" sz="half" idx="10"/>
          </p:nvPr>
        </p:nvSpPr>
        <p:spPr/>
        <p:txBody>
          <a:bodyPr/>
          <a:lstStyle/>
          <a:p>
            <a:fld id="{4CA9EB10-0283-4C0D-A8FE-1E7776CE559D}" type="datetimeFigureOut">
              <a:rPr lang="ko-KR" altLang="en-US" smtClean="0"/>
              <a:t>2026-01-16</a:t>
            </a:fld>
            <a:endParaRPr lang="ko-KR" altLang="en-US"/>
          </a:p>
        </p:txBody>
      </p:sp>
      <p:sp>
        <p:nvSpPr>
          <p:cNvPr id="8" name="바닥글 개체 틀 7">
            <a:extLst>
              <a:ext uri="{FF2B5EF4-FFF2-40B4-BE49-F238E27FC236}">
                <a16:creationId xmlns:a16="http://schemas.microsoft.com/office/drawing/2014/main" id="{7CCBA6BA-B303-FCA1-4680-F1C537556C74}"/>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95EE953F-4018-7621-9918-7E3C31C8A6BB}"/>
              </a:ext>
            </a:extLst>
          </p:cNvPr>
          <p:cNvSpPr>
            <a:spLocks noGrp="1"/>
          </p:cNvSpPr>
          <p:nvPr>
            <p:ph type="sldNum" sz="quarter" idx="12"/>
          </p:nvPr>
        </p:nvSpPr>
        <p:spPr/>
        <p:txBody>
          <a:bodyPr/>
          <a:lstStyle/>
          <a:p>
            <a:fld id="{2AF92E8A-E0BA-4F2D-942A-9154684D4230}" type="slidenum">
              <a:rPr lang="ko-KR" altLang="en-US" smtClean="0"/>
              <a:t>‹#›</a:t>
            </a:fld>
            <a:endParaRPr lang="ko-KR" altLang="en-US"/>
          </a:p>
        </p:txBody>
      </p:sp>
    </p:spTree>
    <p:extLst>
      <p:ext uri="{BB962C8B-B14F-4D97-AF65-F5344CB8AC3E}">
        <p14:creationId xmlns:p14="http://schemas.microsoft.com/office/powerpoint/2010/main" val="3396171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7D625A4-9371-3385-725F-C6E6ABA1C0ED}"/>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3FF70D85-C200-2D0C-D304-1CDAB1F1C37F}"/>
              </a:ext>
            </a:extLst>
          </p:cNvPr>
          <p:cNvSpPr>
            <a:spLocks noGrp="1"/>
          </p:cNvSpPr>
          <p:nvPr>
            <p:ph type="dt" sz="half" idx="10"/>
          </p:nvPr>
        </p:nvSpPr>
        <p:spPr/>
        <p:txBody>
          <a:bodyPr/>
          <a:lstStyle/>
          <a:p>
            <a:fld id="{4CA9EB10-0283-4C0D-A8FE-1E7776CE559D}" type="datetimeFigureOut">
              <a:rPr lang="ko-KR" altLang="en-US" smtClean="0"/>
              <a:t>2026-01-16</a:t>
            </a:fld>
            <a:endParaRPr lang="ko-KR" altLang="en-US"/>
          </a:p>
        </p:txBody>
      </p:sp>
      <p:sp>
        <p:nvSpPr>
          <p:cNvPr id="4" name="바닥글 개체 틀 3">
            <a:extLst>
              <a:ext uri="{FF2B5EF4-FFF2-40B4-BE49-F238E27FC236}">
                <a16:creationId xmlns:a16="http://schemas.microsoft.com/office/drawing/2014/main" id="{11E3A8C0-A54C-AC76-8E11-B540CC30D064}"/>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505E888D-7E42-899A-8134-C53A7C9A8D45}"/>
              </a:ext>
            </a:extLst>
          </p:cNvPr>
          <p:cNvSpPr>
            <a:spLocks noGrp="1"/>
          </p:cNvSpPr>
          <p:nvPr>
            <p:ph type="sldNum" sz="quarter" idx="12"/>
          </p:nvPr>
        </p:nvSpPr>
        <p:spPr/>
        <p:txBody>
          <a:bodyPr/>
          <a:lstStyle/>
          <a:p>
            <a:fld id="{2AF92E8A-E0BA-4F2D-942A-9154684D4230}" type="slidenum">
              <a:rPr lang="ko-KR" altLang="en-US" smtClean="0"/>
              <a:t>‹#›</a:t>
            </a:fld>
            <a:endParaRPr lang="ko-KR" altLang="en-US"/>
          </a:p>
        </p:txBody>
      </p:sp>
    </p:spTree>
    <p:extLst>
      <p:ext uri="{BB962C8B-B14F-4D97-AF65-F5344CB8AC3E}">
        <p14:creationId xmlns:p14="http://schemas.microsoft.com/office/powerpoint/2010/main" val="3429717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C45A59B4-396C-D55B-A82C-52CFB9CDCE36}"/>
              </a:ext>
            </a:extLst>
          </p:cNvPr>
          <p:cNvSpPr>
            <a:spLocks noGrp="1"/>
          </p:cNvSpPr>
          <p:nvPr>
            <p:ph type="dt" sz="half" idx="10"/>
          </p:nvPr>
        </p:nvSpPr>
        <p:spPr/>
        <p:txBody>
          <a:bodyPr/>
          <a:lstStyle/>
          <a:p>
            <a:fld id="{4CA9EB10-0283-4C0D-A8FE-1E7776CE559D}" type="datetimeFigureOut">
              <a:rPr lang="ko-KR" altLang="en-US" smtClean="0"/>
              <a:t>2026-01-16</a:t>
            </a:fld>
            <a:endParaRPr lang="ko-KR" altLang="en-US"/>
          </a:p>
        </p:txBody>
      </p:sp>
      <p:sp>
        <p:nvSpPr>
          <p:cNvPr id="3" name="바닥글 개체 틀 2">
            <a:extLst>
              <a:ext uri="{FF2B5EF4-FFF2-40B4-BE49-F238E27FC236}">
                <a16:creationId xmlns:a16="http://schemas.microsoft.com/office/drawing/2014/main" id="{3BDD9337-0D66-C4C0-A51A-BDA4D1438F1A}"/>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13E35190-5FFB-37E0-751D-62520CE825C5}"/>
              </a:ext>
            </a:extLst>
          </p:cNvPr>
          <p:cNvSpPr>
            <a:spLocks noGrp="1"/>
          </p:cNvSpPr>
          <p:nvPr>
            <p:ph type="sldNum" sz="quarter" idx="12"/>
          </p:nvPr>
        </p:nvSpPr>
        <p:spPr/>
        <p:txBody>
          <a:bodyPr/>
          <a:lstStyle/>
          <a:p>
            <a:fld id="{2AF92E8A-E0BA-4F2D-942A-9154684D4230}" type="slidenum">
              <a:rPr lang="ko-KR" altLang="en-US" smtClean="0"/>
              <a:t>‹#›</a:t>
            </a:fld>
            <a:endParaRPr lang="ko-KR" altLang="en-US"/>
          </a:p>
        </p:txBody>
      </p:sp>
    </p:spTree>
    <p:extLst>
      <p:ext uri="{BB962C8B-B14F-4D97-AF65-F5344CB8AC3E}">
        <p14:creationId xmlns:p14="http://schemas.microsoft.com/office/powerpoint/2010/main" val="3327760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7255ED4-405D-6304-BCFB-5B5949ABCCE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80696697-CC7B-45C2-7A25-4CC62F68EB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84AF6C73-28E2-3091-82C1-11C5DB4822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DC2F7A24-9A01-C41A-CE78-C52AAFCC94E3}"/>
              </a:ext>
            </a:extLst>
          </p:cNvPr>
          <p:cNvSpPr>
            <a:spLocks noGrp="1"/>
          </p:cNvSpPr>
          <p:nvPr>
            <p:ph type="dt" sz="half" idx="10"/>
          </p:nvPr>
        </p:nvSpPr>
        <p:spPr/>
        <p:txBody>
          <a:bodyPr/>
          <a:lstStyle/>
          <a:p>
            <a:fld id="{4CA9EB10-0283-4C0D-A8FE-1E7776CE559D}" type="datetimeFigureOut">
              <a:rPr lang="ko-KR" altLang="en-US" smtClean="0"/>
              <a:t>2026-01-16</a:t>
            </a:fld>
            <a:endParaRPr lang="ko-KR" altLang="en-US"/>
          </a:p>
        </p:txBody>
      </p:sp>
      <p:sp>
        <p:nvSpPr>
          <p:cNvPr id="6" name="바닥글 개체 틀 5">
            <a:extLst>
              <a:ext uri="{FF2B5EF4-FFF2-40B4-BE49-F238E27FC236}">
                <a16:creationId xmlns:a16="http://schemas.microsoft.com/office/drawing/2014/main" id="{3A4CDB52-CC44-3E22-AC25-26E41397FF0B}"/>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6350CCDC-7D15-7E2A-63AD-C1134BC01051}"/>
              </a:ext>
            </a:extLst>
          </p:cNvPr>
          <p:cNvSpPr>
            <a:spLocks noGrp="1"/>
          </p:cNvSpPr>
          <p:nvPr>
            <p:ph type="sldNum" sz="quarter" idx="12"/>
          </p:nvPr>
        </p:nvSpPr>
        <p:spPr/>
        <p:txBody>
          <a:bodyPr/>
          <a:lstStyle/>
          <a:p>
            <a:fld id="{2AF92E8A-E0BA-4F2D-942A-9154684D4230}" type="slidenum">
              <a:rPr lang="ko-KR" altLang="en-US" smtClean="0"/>
              <a:t>‹#›</a:t>
            </a:fld>
            <a:endParaRPr lang="ko-KR" altLang="en-US"/>
          </a:p>
        </p:txBody>
      </p:sp>
    </p:spTree>
    <p:extLst>
      <p:ext uri="{BB962C8B-B14F-4D97-AF65-F5344CB8AC3E}">
        <p14:creationId xmlns:p14="http://schemas.microsoft.com/office/powerpoint/2010/main" val="2157351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85CCA73-A188-6DDC-EB8B-41699C85E8A6}"/>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EE4633E6-765E-4D65-0FA9-AE7722C37E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BF5B0E79-00EF-B769-9D3B-4AA46EF3CE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957A5D9B-1FB3-7331-A7EE-733EB11D50F9}"/>
              </a:ext>
            </a:extLst>
          </p:cNvPr>
          <p:cNvSpPr>
            <a:spLocks noGrp="1"/>
          </p:cNvSpPr>
          <p:nvPr>
            <p:ph type="dt" sz="half" idx="10"/>
          </p:nvPr>
        </p:nvSpPr>
        <p:spPr/>
        <p:txBody>
          <a:bodyPr/>
          <a:lstStyle/>
          <a:p>
            <a:fld id="{4CA9EB10-0283-4C0D-A8FE-1E7776CE559D}" type="datetimeFigureOut">
              <a:rPr lang="ko-KR" altLang="en-US" smtClean="0"/>
              <a:t>2026-01-16</a:t>
            </a:fld>
            <a:endParaRPr lang="ko-KR" altLang="en-US"/>
          </a:p>
        </p:txBody>
      </p:sp>
      <p:sp>
        <p:nvSpPr>
          <p:cNvPr id="6" name="바닥글 개체 틀 5">
            <a:extLst>
              <a:ext uri="{FF2B5EF4-FFF2-40B4-BE49-F238E27FC236}">
                <a16:creationId xmlns:a16="http://schemas.microsoft.com/office/drawing/2014/main" id="{B0DC4494-8012-7151-1EC6-E817FB0BA53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A9722B6F-7CC9-5E4E-C6E5-5B425CBDDCAB}"/>
              </a:ext>
            </a:extLst>
          </p:cNvPr>
          <p:cNvSpPr>
            <a:spLocks noGrp="1"/>
          </p:cNvSpPr>
          <p:nvPr>
            <p:ph type="sldNum" sz="quarter" idx="12"/>
          </p:nvPr>
        </p:nvSpPr>
        <p:spPr/>
        <p:txBody>
          <a:bodyPr/>
          <a:lstStyle/>
          <a:p>
            <a:fld id="{2AF92E8A-E0BA-4F2D-942A-9154684D4230}" type="slidenum">
              <a:rPr lang="ko-KR" altLang="en-US" smtClean="0"/>
              <a:t>‹#›</a:t>
            </a:fld>
            <a:endParaRPr lang="ko-KR" altLang="en-US"/>
          </a:p>
        </p:txBody>
      </p:sp>
    </p:spTree>
    <p:extLst>
      <p:ext uri="{BB962C8B-B14F-4D97-AF65-F5344CB8AC3E}">
        <p14:creationId xmlns:p14="http://schemas.microsoft.com/office/powerpoint/2010/main" val="39280394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17F4F78-85B1-9791-7EB9-7857A54F9EBD}"/>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175A9D18-AD65-5D17-2492-AC70F2643830}"/>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D7CF82D-5F2C-904B-EA55-056C9C59A7A8}"/>
              </a:ext>
            </a:extLst>
          </p:cNvPr>
          <p:cNvSpPr>
            <a:spLocks noGrp="1"/>
          </p:cNvSpPr>
          <p:nvPr>
            <p:ph type="dt" sz="half" idx="10"/>
          </p:nvPr>
        </p:nvSpPr>
        <p:spPr/>
        <p:txBody>
          <a:bodyPr/>
          <a:lstStyle/>
          <a:p>
            <a:fld id="{4CA9EB10-0283-4C0D-A8FE-1E7776CE559D}" type="datetimeFigureOut">
              <a:rPr lang="ko-KR" altLang="en-US" smtClean="0"/>
              <a:t>2026-01-16</a:t>
            </a:fld>
            <a:endParaRPr lang="ko-KR" altLang="en-US"/>
          </a:p>
        </p:txBody>
      </p:sp>
      <p:sp>
        <p:nvSpPr>
          <p:cNvPr id="5" name="바닥글 개체 틀 4">
            <a:extLst>
              <a:ext uri="{FF2B5EF4-FFF2-40B4-BE49-F238E27FC236}">
                <a16:creationId xmlns:a16="http://schemas.microsoft.com/office/drawing/2014/main" id="{3ED46A61-DB1D-A4B0-6502-57C0C880EC0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916EFF3-4744-499B-6FD0-C80D6A8D40BC}"/>
              </a:ext>
            </a:extLst>
          </p:cNvPr>
          <p:cNvSpPr>
            <a:spLocks noGrp="1"/>
          </p:cNvSpPr>
          <p:nvPr>
            <p:ph type="sldNum" sz="quarter" idx="12"/>
          </p:nvPr>
        </p:nvSpPr>
        <p:spPr/>
        <p:txBody>
          <a:bodyPr/>
          <a:lstStyle/>
          <a:p>
            <a:fld id="{2AF92E8A-E0BA-4F2D-942A-9154684D4230}" type="slidenum">
              <a:rPr lang="ko-KR" altLang="en-US" smtClean="0"/>
              <a:t>‹#›</a:t>
            </a:fld>
            <a:endParaRPr lang="ko-KR" altLang="en-US"/>
          </a:p>
        </p:txBody>
      </p:sp>
    </p:spTree>
    <p:extLst>
      <p:ext uri="{BB962C8B-B14F-4D97-AF65-F5344CB8AC3E}">
        <p14:creationId xmlns:p14="http://schemas.microsoft.com/office/powerpoint/2010/main" val="3574951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7E6511DF-AF74-5E31-806F-3840ED817D1D}"/>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9A773896-6F22-C0C5-97B2-13C390CE9994}"/>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6DC0436-A7A7-C461-3951-B15CF1158AD5}"/>
              </a:ext>
            </a:extLst>
          </p:cNvPr>
          <p:cNvSpPr>
            <a:spLocks noGrp="1"/>
          </p:cNvSpPr>
          <p:nvPr>
            <p:ph type="dt" sz="half" idx="10"/>
          </p:nvPr>
        </p:nvSpPr>
        <p:spPr/>
        <p:txBody>
          <a:bodyPr/>
          <a:lstStyle/>
          <a:p>
            <a:fld id="{4CA9EB10-0283-4C0D-A8FE-1E7776CE559D}" type="datetimeFigureOut">
              <a:rPr lang="ko-KR" altLang="en-US" smtClean="0"/>
              <a:t>2026-01-16</a:t>
            </a:fld>
            <a:endParaRPr lang="ko-KR" altLang="en-US"/>
          </a:p>
        </p:txBody>
      </p:sp>
      <p:sp>
        <p:nvSpPr>
          <p:cNvPr id="5" name="바닥글 개체 틀 4">
            <a:extLst>
              <a:ext uri="{FF2B5EF4-FFF2-40B4-BE49-F238E27FC236}">
                <a16:creationId xmlns:a16="http://schemas.microsoft.com/office/drawing/2014/main" id="{B49BC4F7-E791-3009-14EE-587A033989F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A911649-B1B4-5FEC-EB6D-18FB641909E6}"/>
              </a:ext>
            </a:extLst>
          </p:cNvPr>
          <p:cNvSpPr>
            <a:spLocks noGrp="1"/>
          </p:cNvSpPr>
          <p:nvPr>
            <p:ph type="sldNum" sz="quarter" idx="12"/>
          </p:nvPr>
        </p:nvSpPr>
        <p:spPr/>
        <p:txBody>
          <a:bodyPr/>
          <a:lstStyle/>
          <a:p>
            <a:fld id="{2AF92E8A-E0BA-4F2D-942A-9154684D4230}" type="slidenum">
              <a:rPr lang="ko-KR" altLang="en-US" smtClean="0"/>
              <a:t>‹#›</a:t>
            </a:fld>
            <a:endParaRPr lang="ko-KR" altLang="en-US"/>
          </a:p>
        </p:txBody>
      </p:sp>
    </p:spTree>
    <p:extLst>
      <p:ext uri="{BB962C8B-B14F-4D97-AF65-F5344CB8AC3E}">
        <p14:creationId xmlns:p14="http://schemas.microsoft.com/office/powerpoint/2010/main" val="3815697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mp; Bullets">
  <p:cSld name="Title &amp; Bullets">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2416968" y="178593"/>
            <a:ext cx="7358000" cy="17144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Gill Sans"/>
              <a:buNone/>
              <a:defRPr sz="4533" b="0" i="0" u="none" strike="noStrike" cap="none">
                <a:solidFill>
                  <a:srgbClr val="000000"/>
                </a:solidFill>
                <a:latin typeface="Gill Sans"/>
                <a:ea typeface="Gill Sans"/>
                <a:cs typeface="Gill Sans"/>
                <a:sym typeface="Gill Sans"/>
              </a:defRPr>
            </a:lvl1pPr>
            <a:lvl2pPr marL="0" marR="0" lvl="1"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2pPr>
            <a:lvl3pPr marL="0" marR="0" lvl="2"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3pPr>
            <a:lvl4pPr marL="0" marR="0" lvl="3"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4pPr>
            <a:lvl5pPr marL="0" marR="0" lvl="4"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5pPr>
            <a:lvl6pPr marL="0" marR="0" lvl="5"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6pPr>
            <a:lvl7pPr marL="0" marR="0" lvl="6"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7pPr>
            <a:lvl8pPr marL="0" marR="0" lvl="7"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8pPr>
            <a:lvl9pPr marL="0" marR="0" lvl="8"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9pPr>
          </a:lstStyle>
          <a:p>
            <a:endParaRPr/>
          </a:p>
        </p:txBody>
      </p:sp>
      <p:sp>
        <p:nvSpPr>
          <p:cNvPr id="60" name="Google Shape;60;p15"/>
          <p:cNvSpPr txBox="1">
            <a:spLocks noGrp="1"/>
          </p:cNvSpPr>
          <p:nvPr>
            <p:ph type="body" idx="1"/>
          </p:nvPr>
        </p:nvSpPr>
        <p:spPr>
          <a:xfrm>
            <a:off x="2416968" y="1946672"/>
            <a:ext cx="7358000" cy="4018400"/>
          </a:xfrm>
          <a:prstGeom prst="rect">
            <a:avLst/>
          </a:prstGeom>
          <a:noFill/>
          <a:ln>
            <a:noFill/>
          </a:ln>
        </p:spPr>
        <p:txBody>
          <a:bodyPr spcFirstLastPara="1" wrap="square" lIns="34275" tIns="34275" rIns="34275" bIns="34275" anchor="ctr" anchorCtr="0">
            <a:noAutofit/>
          </a:bodyPr>
          <a:lstStyle>
            <a:lvl1pPr marL="609585" marR="0" lvl="0" indent="-609585" algn="l" rtl="0">
              <a:lnSpc>
                <a:spcPct val="100000"/>
              </a:lnSpc>
              <a:spcBef>
                <a:spcPts val="1600"/>
              </a:spcBef>
              <a:spcAft>
                <a:spcPts val="0"/>
              </a:spcAft>
              <a:buClr>
                <a:srgbClr val="000000"/>
              </a:buClr>
              <a:buSzPts val="3600"/>
              <a:buFont typeface="Noto Sans Symbols"/>
              <a:buChar char="●"/>
              <a:defRPr sz="2800" b="0" i="0" u="none" strike="noStrike" cap="none">
                <a:solidFill>
                  <a:srgbClr val="000000"/>
                </a:solidFill>
                <a:latin typeface="Gill Sans"/>
                <a:ea typeface="Gill Sans"/>
                <a:cs typeface="Gill Sans"/>
                <a:sym typeface="Gill Sans"/>
              </a:defRPr>
            </a:lvl1pPr>
            <a:lvl2pPr marL="1219170" marR="0" lvl="1" indent="-575719" algn="l" rtl="0">
              <a:lnSpc>
                <a:spcPct val="100000"/>
              </a:lnSpc>
              <a:spcBef>
                <a:spcPts val="400"/>
              </a:spcBef>
              <a:spcAft>
                <a:spcPts val="0"/>
              </a:spcAft>
              <a:buClr>
                <a:srgbClr val="000000"/>
              </a:buClr>
              <a:buSzPts val="3200"/>
              <a:buFont typeface="Noto Sans Symbols"/>
              <a:buChar char="•"/>
              <a:defRPr sz="2533" b="0" i="0" u="none" strike="noStrike" cap="none">
                <a:solidFill>
                  <a:srgbClr val="000000"/>
                </a:solidFill>
                <a:latin typeface="Gill Sans"/>
                <a:ea typeface="Gill Sans"/>
                <a:cs typeface="Gill Sans"/>
                <a:sym typeface="Gill Sans"/>
              </a:defRPr>
            </a:lvl2pPr>
            <a:lvl3pPr marL="1828754" marR="0" lvl="2" indent="-575719" algn="l" rtl="0">
              <a:lnSpc>
                <a:spcPct val="100000"/>
              </a:lnSpc>
              <a:spcBef>
                <a:spcPts val="400"/>
              </a:spcBef>
              <a:spcAft>
                <a:spcPts val="0"/>
              </a:spcAft>
              <a:buClr>
                <a:srgbClr val="000000"/>
              </a:buClr>
              <a:buSzPts val="3200"/>
              <a:buFont typeface="Noto Sans Symbols"/>
              <a:buChar char="●"/>
              <a:defRPr sz="2533" b="0" i="0" u="none" strike="noStrike" cap="none">
                <a:solidFill>
                  <a:srgbClr val="000000"/>
                </a:solidFill>
                <a:latin typeface="Gill Sans"/>
                <a:ea typeface="Gill Sans"/>
                <a:cs typeface="Gill Sans"/>
                <a:sym typeface="Gill Sans"/>
              </a:defRPr>
            </a:lvl3pPr>
            <a:lvl4pPr marL="2438339" marR="0" lvl="3" indent="-575719" algn="l" rtl="0">
              <a:lnSpc>
                <a:spcPct val="100000"/>
              </a:lnSpc>
              <a:spcBef>
                <a:spcPts val="400"/>
              </a:spcBef>
              <a:spcAft>
                <a:spcPts val="0"/>
              </a:spcAft>
              <a:buClr>
                <a:srgbClr val="000000"/>
              </a:buClr>
              <a:buSzPts val="3200"/>
              <a:buFont typeface="Noto Sans Symbols"/>
              <a:buChar char="●"/>
              <a:defRPr sz="2533" b="0" i="0" u="none" strike="noStrike" cap="none">
                <a:solidFill>
                  <a:srgbClr val="000000"/>
                </a:solidFill>
                <a:latin typeface="Gill Sans"/>
                <a:ea typeface="Gill Sans"/>
                <a:cs typeface="Gill Sans"/>
                <a:sym typeface="Gill Sans"/>
              </a:defRPr>
            </a:lvl4pPr>
            <a:lvl5pPr marL="3047924" marR="0" lvl="4" indent="-575719" algn="l" rtl="0">
              <a:lnSpc>
                <a:spcPct val="100000"/>
              </a:lnSpc>
              <a:spcBef>
                <a:spcPts val="400"/>
              </a:spcBef>
              <a:spcAft>
                <a:spcPts val="0"/>
              </a:spcAft>
              <a:buClr>
                <a:srgbClr val="000000"/>
              </a:buClr>
              <a:buSzPts val="3200"/>
              <a:buFont typeface="Noto Sans Symbols"/>
              <a:buChar char="●"/>
              <a:defRPr sz="2533" b="0" i="0" u="none" strike="noStrike" cap="none">
                <a:solidFill>
                  <a:srgbClr val="000000"/>
                </a:solidFill>
                <a:latin typeface="Gill Sans"/>
                <a:ea typeface="Gill Sans"/>
                <a:cs typeface="Gill Sans"/>
                <a:sym typeface="Gill Sans"/>
              </a:defRPr>
            </a:lvl5pPr>
            <a:lvl6pPr marL="3657509" marR="0" lvl="5" indent="-507987" algn="l" rtl="0">
              <a:lnSpc>
                <a:spcPct val="100000"/>
              </a:lnSpc>
              <a:spcBef>
                <a:spcPts val="1067"/>
              </a:spcBef>
              <a:spcAft>
                <a:spcPts val="0"/>
              </a:spcAft>
              <a:buClr>
                <a:srgbClr val="000000"/>
              </a:buClr>
              <a:buSzPts val="2400"/>
              <a:buFont typeface="Noto Sans Symbols"/>
              <a:buChar char="●"/>
              <a:defRPr sz="3200" b="0" i="0" u="none" strike="noStrike" cap="none">
                <a:solidFill>
                  <a:srgbClr val="000000"/>
                </a:solidFill>
                <a:latin typeface="Arial"/>
                <a:ea typeface="Arial"/>
                <a:cs typeface="Arial"/>
                <a:sym typeface="Arial"/>
              </a:defRPr>
            </a:lvl6pPr>
            <a:lvl7pPr marL="4267093" marR="0" lvl="6" indent="-507987" algn="l" rtl="0">
              <a:lnSpc>
                <a:spcPct val="100000"/>
              </a:lnSpc>
              <a:spcBef>
                <a:spcPts val="1067"/>
              </a:spcBef>
              <a:spcAft>
                <a:spcPts val="0"/>
              </a:spcAft>
              <a:buClr>
                <a:srgbClr val="000000"/>
              </a:buClr>
              <a:buSzPts val="2400"/>
              <a:buFont typeface="Noto Sans Symbols"/>
              <a:buChar char="●"/>
              <a:defRPr sz="3200" b="0" i="0" u="none" strike="noStrike" cap="none">
                <a:solidFill>
                  <a:srgbClr val="000000"/>
                </a:solidFill>
                <a:latin typeface="Arial"/>
                <a:ea typeface="Arial"/>
                <a:cs typeface="Arial"/>
                <a:sym typeface="Arial"/>
              </a:defRPr>
            </a:lvl7pPr>
            <a:lvl8pPr marL="4876678" marR="0" lvl="7" indent="-507987" algn="l" rtl="0">
              <a:lnSpc>
                <a:spcPct val="100000"/>
              </a:lnSpc>
              <a:spcBef>
                <a:spcPts val="1067"/>
              </a:spcBef>
              <a:spcAft>
                <a:spcPts val="0"/>
              </a:spcAft>
              <a:buClr>
                <a:srgbClr val="000000"/>
              </a:buClr>
              <a:buSzPts val="2400"/>
              <a:buFont typeface="Noto Sans Symbols"/>
              <a:buChar char="●"/>
              <a:defRPr sz="3200" b="0" i="0" u="none" strike="noStrike" cap="none">
                <a:solidFill>
                  <a:srgbClr val="000000"/>
                </a:solidFill>
                <a:latin typeface="Arial"/>
                <a:ea typeface="Arial"/>
                <a:cs typeface="Arial"/>
                <a:sym typeface="Arial"/>
              </a:defRPr>
            </a:lvl8pPr>
            <a:lvl9pPr marL="5486263" marR="0" lvl="8" indent="-507987" algn="l" rtl="0">
              <a:lnSpc>
                <a:spcPct val="100000"/>
              </a:lnSpc>
              <a:spcBef>
                <a:spcPts val="1067"/>
              </a:spcBef>
              <a:spcAft>
                <a:spcPts val="0"/>
              </a:spcAft>
              <a:buClr>
                <a:srgbClr val="000000"/>
              </a:buClr>
              <a:buSzPts val="2400"/>
              <a:buFont typeface="Noto Sans Symbols"/>
              <a:buChar char="●"/>
              <a:defRPr sz="3200" b="0" i="0" u="none" strike="noStrike" cap="none">
                <a:solidFill>
                  <a:srgbClr val="000000"/>
                </a:solidFill>
                <a:latin typeface="Arial"/>
                <a:ea typeface="Arial"/>
                <a:cs typeface="Arial"/>
                <a:sym typeface="Arial"/>
              </a:defRPr>
            </a:lvl9pPr>
          </a:lstStyle>
          <a:p>
            <a:endParaRPr/>
          </a:p>
        </p:txBody>
      </p:sp>
      <p:sp>
        <p:nvSpPr>
          <p:cNvPr id="61" name="Google Shape;61;p15"/>
          <p:cNvSpPr txBox="1">
            <a:spLocks noGrp="1"/>
          </p:cNvSpPr>
          <p:nvPr>
            <p:ph type="sldNum" idx="12"/>
          </p:nvPr>
        </p:nvSpPr>
        <p:spPr>
          <a:xfrm>
            <a:off x="5976441" y="6509743"/>
            <a:ext cx="230400" cy="2492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Gill Sans"/>
              <a:buNone/>
              <a:defRPr sz="1200" b="0" i="0" u="none" strike="noStrike" cap="none">
                <a:solidFill>
                  <a:srgbClr val="000000"/>
                </a:solidFill>
                <a:latin typeface="Gill Sans"/>
                <a:ea typeface="Gill Sans"/>
                <a:cs typeface="Gill Sans"/>
                <a:sym typeface="Gill Sans"/>
              </a:defRPr>
            </a:lvl1pPr>
            <a:lvl2pPr marL="0" marR="0" lvl="1" indent="0" algn="ctr" rtl="0">
              <a:lnSpc>
                <a:spcPct val="100000"/>
              </a:lnSpc>
              <a:spcBef>
                <a:spcPts val="0"/>
              </a:spcBef>
              <a:spcAft>
                <a:spcPts val="0"/>
              </a:spcAft>
              <a:buClr>
                <a:srgbClr val="000000"/>
              </a:buClr>
              <a:buFont typeface="Gill Sans"/>
              <a:buNone/>
              <a:defRPr sz="1200" b="0" i="0" u="none" strike="noStrike" cap="none">
                <a:solidFill>
                  <a:srgbClr val="000000"/>
                </a:solidFill>
                <a:latin typeface="Gill Sans"/>
                <a:ea typeface="Gill Sans"/>
                <a:cs typeface="Gill Sans"/>
                <a:sym typeface="Gill Sans"/>
              </a:defRPr>
            </a:lvl2pPr>
            <a:lvl3pPr marL="0" marR="0" lvl="2" indent="0" algn="ctr" rtl="0">
              <a:lnSpc>
                <a:spcPct val="100000"/>
              </a:lnSpc>
              <a:spcBef>
                <a:spcPts val="0"/>
              </a:spcBef>
              <a:spcAft>
                <a:spcPts val="0"/>
              </a:spcAft>
              <a:buClr>
                <a:srgbClr val="000000"/>
              </a:buClr>
              <a:buFont typeface="Gill Sans"/>
              <a:buNone/>
              <a:defRPr sz="1200" b="0" i="0" u="none" strike="noStrike" cap="none">
                <a:solidFill>
                  <a:srgbClr val="000000"/>
                </a:solidFill>
                <a:latin typeface="Gill Sans"/>
                <a:ea typeface="Gill Sans"/>
                <a:cs typeface="Gill Sans"/>
                <a:sym typeface="Gill Sans"/>
              </a:defRPr>
            </a:lvl3pPr>
            <a:lvl4pPr marL="0" marR="0" lvl="3" indent="0" algn="ctr" rtl="0">
              <a:lnSpc>
                <a:spcPct val="100000"/>
              </a:lnSpc>
              <a:spcBef>
                <a:spcPts val="0"/>
              </a:spcBef>
              <a:spcAft>
                <a:spcPts val="0"/>
              </a:spcAft>
              <a:buClr>
                <a:srgbClr val="000000"/>
              </a:buClr>
              <a:buFont typeface="Gill Sans"/>
              <a:buNone/>
              <a:defRPr sz="1200" b="0" i="0" u="none" strike="noStrike" cap="none">
                <a:solidFill>
                  <a:srgbClr val="000000"/>
                </a:solidFill>
                <a:latin typeface="Gill Sans"/>
                <a:ea typeface="Gill Sans"/>
                <a:cs typeface="Gill Sans"/>
                <a:sym typeface="Gill Sans"/>
              </a:defRPr>
            </a:lvl4pPr>
            <a:lvl5pPr marL="0" marR="0" lvl="4" indent="0" algn="ctr" rtl="0">
              <a:lnSpc>
                <a:spcPct val="100000"/>
              </a:lnSpc>
              <a:spcBef>
                <a:spcPts val="0"/>
              </a:spcBef>
              <a:spcAft>
                <a:spcPts val="0"/>
              </a:spcAft>
              <a:buClr>
                <a:srgbClr val="000000"/>
              </a:buClr>
              <a:buFont typeface="Gill Sans"/>
              <a:buNone/>
              <a:defRPr sz="1200" b="0" i="0" u="none" strike="noStrike" cap="none">
                <a:solidFill>
                  <a:srgbClr val="000000"/>
                </a:solidFill>
                <a:latin typeface="Gill Sans"/>
                <a:ea typeface="Gill Sans"/>
                <a:cs typeface="Gill Sans"/>
                <a:sym typeface="Gill Sans"/>
              </a:defRPr>
            </a:lvl5pPr>
            <a:lvl6pPr marL="0" marR="0" lvl="5" indent="0" algn="ctr" rtl="0">
              <a:lnSpc>
                <a:spcPct val="100000"/>
              </a:lnSpc>
              <a:spcBef>
                <a:spcPts val="0"/>
              </a:spcBef>
              <a:spcAft>
                <a:spcPts val="0"/>
              </a:spcAft>
              <a:buClr>
                <a:srgbClr val="000000"/>
              </a:buClr>
              <a:buFont typeface="Gill Sans"/>
              <a:buNone/>
              <a:defRPr sz="1200" b="0" i="0" u="none" strike="noStrike" cap="none">
                <a:solidFill>
                  <a:srgbClr val="000000"/>
                </a:solidFill>
                <a:latin typeface="Gill Sans"/>
                <a:ea typeface="Gill Sans"/>
                <a:cs typeface="Gill Sans"/>
                <a:sym typeface="Gill Sans"/>
              </a:defRPr>
            </a:lvl6pPr>
            <a:lvl7pPr marL="0" marR="0" lvl="6" indent="0" algn="ctr" rtl="0">
              <a:lnSpc>
                <a:spcPct val="100000"/>
              </a:lnSpc>
              <a:spcBef>
                <a:spcPts val="0"/>
              </a:spcBef>
              <a:spcAft>
                <a:spcPts val="0"/>
              </a:spcAft>
              <a:buClr>
                <a:srgbClr val="000000"/>
              </a:buClr>
              <a:buFont typeface="Gill Sans"/>
              <a:buNone/>
              <a:defRPr sz="1200" b="0" i="0" u="none" strike="noStrike" cap="none">
                <a:solidFill>
                  <a:srgbClr val="000000"/>
                </a:solidFill>
                <a:latin typeface="Gill Sans"/>
                <a:ea typeface="Gill Sans"/>
                <a:cs typeface="Gill Sans"/>
                <a:sym typeface="Gill Sans"/>
              </a:defRPr>
            </a:lvl7pPr>
            <a:lvl8pPr marL="0" marR="0" lvl="7" indent="0" algn="ctr" rtl="0">
              <a:lnSpc>
                <a:spcPct val="100000"/>
              </a:lnSpc>
              <a:spcBef>
                <a:spcPts val="0"/>
              </a:spcBef>
              <a:spcAft>
                <a:spcPts val="0"/>
              </a:spcAft>
              <a:buClr>
                <a:srgbClr val="000000"/>
              </a:buClr>
              <a:buFont typeface="Gill Sans"/>
              <a:buNone/>
              <a:defRPr sz="1200" b="0" i="0" u="none" strike="noStrike" cap="none">
                <a:solidFill>
                  <a:srgbClr val="000000"/>
                </a:solidFill>
                <a:latin typeface="Gill Sans"/>
                <a:ea typeface="Gill Sans"/>
                <a:cs typeface="Gill Sans"/>
                <a:sym typeface="Gill Sans"/>
              </a:defRPr>
            </a:lvl8pPr>
            <a:lvl9pPr marL="0" marR="0" lvl="8" indent="0" algn="ctr" rtl="0">
              <a:lnSpc>
                <a:spcPct val="100000"/>
              </a:lnSpc>
              <a:spcBef>
                <a:spcPts val="0"/>
              </a:spcBef>
              <a:spcAft>
                <a:spcPts val="0"/>
              </a:spcAft>
              <a:buClr>
                <a:srgbClr val="000000"/>
              </a:buClr>
              <a:buFont typeface="Gill Sans"/>
              <a:buNone/>
              <a:defRPr sz="1200" b="0" i="0" u="none" strike="noStrike" cap="none">
                <a:solidFill>
                  <a:srgbClr val="000000"/>
                </a:solidFill>
                <a:latin typeface="Gill Sans"/>
                <a:ea typeface="Gill Sans"/>
                <a:cs typeface="Gill Sans"/>
                <a:sym typeface="Gill Sans"/>
              </a:defRPr>
            </a:lvl9pPr>
          </a:lstStyle>
          <a:p>
            <a:fld id="{00000000-1234-1234-1234-123412341234}" type="slidenum">
              <a:rPr lang="en" smtClean="0"/>
              <a:pPr/>
              <a:t>‹#›</a:t>
            </a:fld>
            <a:endParaRPr lang="en">
              <a:latin typeface="Calibri"/>
              <a:ea typeface="Calibri"/>
              <a:cs typeface="Calibri"/>
              <a:sym typeface="Calibri"/>
            </a:endParaRPr>
          </a:p>
        </p:txBody>
      </p:sp>
    </p:spTree>
    <p:extLst>
      <p:ext uri="{BB962C8B-B14F-4D97-AF65-F5344CB8AC3E}">
        <p14:creationId xmlns:p14="http://schemas.microsoft.com/office/powerpoint/2010/main" val="1168808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B66344A9-3014-1C96-E478-9340046702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54E22870-F332-DAD9-C535-685E86EB3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7748F37-F9FA-F077-4ACB-B7BFE4B7CB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A9EB10-0283-4C0D-A8FE-1E7776CE559D}" type="datetimeFigureOut">
              <a:rPr lang="ko-KR" altLang="en-US" smtClean="0"/>
              <a:t>2026-01-16</a:t>
            </a:fld>
            <a:endParaRPr lang="ko-KR" altLang="en-US"/>
          </a:p>
        </p:txBody>
      </p:sp>
      <p:sp>
        <p:nvSpPr>
          <p:cNvPr id="5" name="바닥글 개체 틀 4">
            <a:extLst>
              <a:ext uri="{FF2B5EF4-FFF2-40B4-BE49-F238E27FC236}">
                <a16:creationId xmlns:a16="http://schemas.microsoft.com/office/drawing/2014/main" id="{0BAA1E2D-F00F-E344-CADA-1863547D66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9B6F39BF-EF00-F18B-44E8-4B9DBD71C0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F92E8A-E0BA-4F2D-942A-9154684D4230}" type="slidenum">
              <a:rPr lang="ko-KR" altLang="en-US" smtClean="0"/>
              <a:t>‹#›</a:t>
            </a:fld>
            <a:endParaRPr lang="ko-KR" altLang="en-US"/>
          </a:p>
        </p:txBody>
      </p:sp>
    </p:spTree>
    <p:extLst>
      <p:ext uri="{BB962C8B-B14F-4D97-AF65-F5344CB8AC3E}">
        <p14:creationId xmlns:p14="http://schemas.microsoft.com/office/powerpoint/2010/main" val="20806394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F2E851C-3AD9-5D97-D124-35098AC3C350}"/>
              </a:ext>
            </a:extLst>
          </p:cNvPr>
          <p:cNvSpPr txBox="1"/>
          <p:nvPr/>
        </p:nvSpPr>
        <p:spPr>
          <a:xfrm>
            <a:off x="407670" y="2844800"/>
            <a:ext cx="11245850" cy="861774"/>
          </a:xfrm>
          <a:prstGeom prst="rect">
            <a:avLst/>
          </a:prstGeom>
          <a:noFill/>
        </p:spPr>
        <p:txBody>
          <a:bodyPr wrap="square" rtlCol="0">
            <a:spAutoFit/>
          </a:bodyPr>
          <a:lstStyle/>
          <a:p>
            <a:pPr algn="ctr"/>
            <a:r>
              <a:rPr lang="ko-KR" altLang="en-US" sz="5000" dirty="0"/>
              <a:t>중요 개념</a:t>
            </a:r>
          </a:p>
        </p:txBody>
      </p:sp>
    </p:spTree>
    <p:extLst>
      <p:ext uri="{BB962C8B-B14F-4D97-AF65-F5344CB8AC3E}">
        <p14:creationId xmlns:p14="http://schemas.microsoft.com/office/powerpoint/2010/main" val="793821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4" name="표 3">
                <a:extLst>
                  <a:ext uri="{FF2B5EF4-FFF2-40B4-BE49-F238E27FC236}">
                    <a16:creationId xmlns:a16="http://schemas.microsoft.com/office/drawing/2014/main" id="{BFBD336E-3C40-DE93-7287-37479A38039D}"/>
                  </a:ext>
                </a:extLst>
              </p:cNvPr>
              <p:cNvGraphicFramePr>
                <a:graphicFrameLocks noGrp="1"/>
              </p:cNvGraphicFramePr>
              <p:nvPr>
                <p:extLst>
                  <p:ext uri="{D42A27DB-BD31-4B8C-83A1-F6EECF244321}">
                    <p14:modId xmlns:p14="http://schemas.microsoft.com/office/powerpoint/2010/main" val="3102837713"/>
                  </p:ext>
                </p:extLst>
              </p:nvPr>
            </p:nvGraphicFramePr>
            <p:xfrm>
              <a:off x="747678" y="504827"/>
              <a:ext cx="11177622" cy="6022972"/>
            </p:xfrm>
            <a:graphic>
              <a:graphicData uri="http://schemas.openxmlformats.org/drawingml/2006/table">
                <a:tbl>
                  <a:tblPr/>
                  <a:tblGrid>
                    <a:gridCol w="1214472">
                      <a:extLst>
                        <a:ext uri="{9D8B030D-6E8A-4147-A177-3AD203B41FA5}">
                          <a16:colId xmlns:a16="http://schemas.microsoft.com/office/drawing/2014/main" val="3486832264"/>
                        </a:ext>
                      </a:extLst>
                    </a:gridCol>
                    <a:gridCol w="2755900">
                      <a:extLst>
                        <a:ext uri="{9D8B030D-6E8A-4147-A177-3AD203B41FA5}">
                          <a16:colId xmlns:a16="http://schemas.microsoft.com/office/drawing/2014/main" val="665483992"/>
                        </a:ext>
                      </a:extLst>
                    </a:gridCol>
                    <a:gridCol w="7207250">
                      <a:extLst>
                        <a:ext uri="{9D8B030D-6E8A-4147-A177-3AD203B41FA5}">
                          <a16:colId xmlns:a16="http://schemas.microsoft.com/office/drawing/2014/main" val="809044732"/>
                        </a:ext>
                      </a:extLst>
                    </a:gridCol>
                  </a:tblGrid>
                  <a:tr h="307056">
                    <a:tc>
                      <a:txBody>
                        <a:bodyPr/>
                        <a:lstStyle/>
                        <a:p>
                          <a:pPr algn="ctr" rtl="0">
                            <a:buNone/>
                          </a:pPr>
                          <a:r>
                            <a:rPr lang="ko-KR" altLang="en-US" sz="1200" b="1">
                              <a:solidFill>
                                <a:srgbClr val="1F1F1F"/>
                              </a:solidFill>
                              <a:effectLst/>
                              <a:latin typeface="+mn-lt"/>
                            </a:rPr>
                            <a:t>분류</a:t>
                          </a:r>
                          <a:endParaRPr lang="ko-KR" altLang="en-US" sz="120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200" b="1">
                              <a:solidFill>
                                <a:srgbClr val="1F1F1F"/>
                              </a:solidFill>
                              <a:effectLst/>
                              <a:latin typeface="+mn-lt"/>
                            </a:rPr>
                            <a:t>용어</a:t>
                          </a:r>
                          <a:endParaRPr lang="ko-KR" altLang="en-US" sz="120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200" b="1">
                              <a:solidFill>
                                <a:srgbClr val="1F1F1F"/>
                              </a:solidFill>
                              <a:effectLst/>
                              <a:latin typeface="+mn-lt"/>
                            </a:rPr>
                            <a:t>개념 및 설명</a:t>
                          </a:r>
                          <a:endParaRPr lang="ko-KR" altLang="en-US" sz="120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4051498"/>
                      </a:ext>
                    </a:extLst>
                  </a:tr>
                  <a:tr h="597900">
                    <a:tc rowSpan="3">
                      <a:txBody>
                        <a:bodyPr/>
                        <a:lstStyle/>
                        <a:p>
                          <a:pPr algn="ctr" rtl="0">
                            <a:buNone/>
                          </a:pPr>
                          <a:r>
                            <a:rPr lang="ko-KR" altLang="en-US" sz="1200" b="1" dirty="0">
                              <a:solidFill>
                                <a:srgbClr val="1F1F1F"/>
                              </a:solidFill>
                              <a:effectLst/>
                              <a:latin typeface="+mn-lt"/>
                            </a:rPr>
                            <a:t>기본 개념</a:t>
                          </a:r>
                          <a:endParaRPr lang="ko-KR" altLang="en-US" sz="1200" dirty="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200" b="1">
                              <a:solidFill>
                                <a:srgbClr val="1F1F1F"/>
                              </a:solidFill>
                              <a:effectLst/>
                              <a:latin typeface="+mn-lt"/>
                            </a:rPr>
                            <a:t>머신러닝 </a:t>
                          </a:r>
                          <a:r>
                            <a:rPr lang="en-US" altLang="ko-KR" sz="1200" b="1">
                              <a:solidFill>
                                <a:srgbClr val="1F1F1F"/>
                              </a:solidFill>
                              <a:effectLst/>
                              <a:latin typeface="+mn-lt"/>
                            </a:rPr>
                            <a:t>(</a:t>
                          </a:r>
                          <a:r>
                            <a:rPr lang="en-US" sz="1200" b="1">
                              <a:solidFill>
                                <a:srgbClr val="1F1F1F"/>
                              </a:solidFill>
                              <a:effectLst/>
                              <a:latin typeface="+mn-lt"/>
                            </a:rPr>
                            <a:t>Machine Learning)</a:t>
                          </a:r>
                          <a:endParaRPr lang="en-US" sz="120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100" dirty="0">
                              <a:solidFill>
                                <a:srgbClr val="1F1F1F"/>
                              </a:solidFill>
                              <a:effectLst/>
                              <a:latin typeface="+mn-lt"/>
                            </a:rPr>
                            <a:t>명시적으로 </a:t>
                          </a:r>
                          <a:r>
                            <a:rPr lang="ko-KR" altLang="en-US" sz="1100" dirty="0" err="1">
                              <a:solidFill>
                                <a:srgbClr val="1F1F1F"/>
                              </a:solidFill>
                              <a:effectLst/>
                              <a:latin typeface="+mn-lt"/>
                            </a:rPr>
                            <a:t>프로그래밍되지</a:t>
                          </a:r>
                          <a:r>
                            <a:rPr lang="ko-KR" altLang="en-US" sz="1100" dirty="0">
                              <a:solidFill>
                                <a:srgbClr val="1F1F1F"/>
                              </a:solidFill>
                              <a:effectLst/>
                              <a:latin typeface="+mn-lt"/>
                            </a:rPr>
                            <a:t> 않아도 컴퓨터가 스스로 학습할 수 있는 능력을 부여하는 연구 분야입니다</a:t>
                          </a:r>
                          <a:r>
                            <a:rPr lang="en-US" altLang="ko-KR" sz="1100" dirty="0">
                              <a:solidFill>
                                <a:srgbClr val="1F1F1F"/>
                              </a:solidFill>
                              <a:effectLst/>
                              <a:latin typeface="+mn-lt"/>
                            </a:rPr>
                            <a:t>.</a:t>
                          </a: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4575752"/>
                      </a:ext>
                    </a:extLst>
                  </a:tr>
                  <a:tr h="490277">
                    <a:tc vMerge="1">
                      <a:txBody>
                        <a:bodyPr/>
                        <a:lstStyle/>
                        <a:p>
                          <a:pPr algn="ctr" rtl="0">
                            <a:buNone/>
                          </a:pPr>
                          <a:endParaRPr lang="ko-KR" altLang="en-US" sz="1200" dirty="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200" b="1">
                              <a:solidFill>
                                <a:srgbClr val="1F1F1F"/>
                              </a:solidFill>
                              <a:effectLst/>
                              <a:latin typeface="+mn-lt"/>
                            </a:rPr>
                            <a:t>지도 학습 </a:t>
                          </a:r>
                          <a:r>
                            <a:rPr lang="en-US" altLang="ko-KR" sz="1200" b="1">
                              <a:solidFill>
                                <a:srgbClr val="1F1F1F"/>
                              </a:solidFill>
                              <a:effectLst/>
                              <a:latin typeface="+mn-lt"/>
                            </a:rPr>
                            <a:t>(</a:t>
                          </a:r>
                          <a:r>
                            <a:rPr lang="en-US" sz="1200" b="1">
                              <a:solidFill>
                                <a:srgbClr val="1F1F1F"/>
                              </a:solidFill>
                              <a:effectLst/>
                              <a:latin typeface="+mn-lt"/>
                            </a:rPr>
                            <a:t>Supervised Learning)</a:t>
                          </a:r>
                          <a:endParaRPr lang="en-US" sz="120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100">
                              <a:solidFill>
                                <a:srgbClr val="1F1F1F"/>
                              </a:solidFill>
                              <a:effectLst/>
                              <a:latin typeface="+mn-lt"/>
                            </a:rPr>
                            <a:t>정답</a:t>
                          </a:r>
                          <a:r>
                            <a:rPr lang="en-US" altLang="ko-KR" sz="1100">
                              <a:solidFill>
                                <a:srgbClr val="1F1F1F"/>
                              </a:solidFill>
                              <a:effectLst/>
                              <a:latin typeface="+mn-lt"/>
                            </a:rPr>
                            <a:t>(Label)</a:t>
                          </a:r>
                          <a:r>
                            <a:rPr lang="ko-KR" altLang="en-US" sz="1100">
                              <a:solidFill>
                                <a:srgbClr val="1F1F1F"/>
                              </a:solidFill>
                              <a:effectLst/>
                              <a:latin typeface="+mn-lt"/>
                            </a:rPr>
                            <a:t>이 포함된 예제 데이터셋</a:t>
                          </a:r>
                          <a:r>
                            <a:rPr lang="en-US" altLang="ko-KR" sz="1100">
                              <a:solidFill>
                                <a:srgbClr val="1F1F1F"/>
                              </a:solidFill>
                              <a:effectLst/>
                              <a:latin typeface="+mn-lt"/>
                            </a:rPr>
                            <a:t>(Training set)</a:t>
                          </a:r>
                          <a:r>
                            <a:rPr lang="ko-KR" altLang="en-US" sz="1100">
                              <a:solidFill>
                                <a:srgbClr val="1F1F1F"/>
                              </a:solidFill>
                              <a:effectLst/>
                              <a:latin typeface="+mn-lt"/>
                            </a:rPr>
                            <a:t>을 통해 컴퓨터를 학습시키는 방법입니다</a:t>
                          </a:r>
                          <a:r>
                            <a:rPr lang="en-US" altLang="ko-KR" sz="1100">
                              <a:solidFill>
                                <a:srgbClr val="1F1F1F"/>
                              </a:solidFill>
                              <a:effectLst/>
                              <a:latin typeface="+mn-lt"/>
                            </a:rPr>
                            <a:t>.</a:t>
                          </a: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7325140"/>
                      </a:ext>
                    </a:extLst>
                  </a:tr>
                  <a:tr h="597900">
                    <a:tc vMerge="1">
                      <a:txBody>
                        <a:bodyPr/>
                        <a:lstStyle/>
                        <a:p>
                          <a:pPr algn="ctr" rtl="0">
                            <a:buNone/>
                          </a:pPr>
                          <a:endParaRPr lang="ko-KR" altLang="en-US" sz="1200" dirty="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200" b="1">
                              <a:solidFill>
                                <a:srgbClr val="1F1F1F"/>
                              </a:solidFill>
                              <a:effectLst/>
                              <a:latin typeface="+mn-lt"/>
                            </a:rPr>
                            <a:t>비지도 학습 </a:t>
                          </a:r>
                          <a:r>
                            <a:rPr lang="en-US" altLang="ko-KR" sz="1200" b="1">
                              <a:solidFill>
                                <a:srgbClr val="1F1F1F"/>
                              </a:solidFill>
                              <a:effectLst/>
                              <a:latin typeface="+mn-lt"/>
                            </a:rPr>
                            <a:t>(</a:t>
                          </a:r>
                          <a:r>
                            <a:rPr lang="en-US" sz="1200" b="1">
                              <a:solidFill>
                                <a:srgbClr val="1F1F1F"/>
                              </a:solidFill>
                              <a:effectLst/>
                              <a:latin typeface="+mn-lt"/>
                            </a:rPr>
                            <a:t>Unsupervised Learning)</a:t>
                          </a:r>
                          <a:endParaRPr lang="en-US" sz="120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100" dirty="0">
                              <a:solidFill>
                                <a:srgbClr val="1F1F1F"/>
                              </a:solidFill>
                              <a:effectLst/>
                              <a:latin typeface="+mn-lt"/>
                            </a:rPr>
                            <a:t>정답이 없는 데이터에서 데이터 간의 그룹화나 클러스터링을 통해 스스로 구조를 파악하는 학습 방식입니다</a:t>
                          </a:r>
                          <a:r>
                            <a:rPr lang="en-US" altLang="ko-KR" sz="1100" dirty="0">
                              <a:solidFill>
                                <a:srgbClr val="1F1F1F"/>
                              </a:solidFill>
                              <a:effectLst/>
                              <a:latin typeface="+mn-lt"/>
                            </a:rPr>
                            <a:t>.</a:t>
                          </a: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2062097"/>
                      </a:ext>
                    </a:extLst>
                  </a:tr>
                  <a:tr h="490277">
                    <a:tc rowSpan="2">
                      <a:txBody>
                        <a:bodyPr/>
                        <a:lstStyle/>
                        <a:p>
                          <a:pPr algn="ctr" rtl="0">
                            <a:buNone/>
                          </a:pPr>
                          <a:r>
                            <a:rPr lang="ko-KR" altLang="en-US" sz="1200" b="1" dirty="0">
                              <a:solidFill>
                                <a:srgbClr val="1F1F1F"/>
                              </a:solidFill>
                              <a:effectLst/>
                              <a:latin typeface="+mn-lt"/>
                            </a:rPr>
                            <a:t>학습 유형</a:t>
                          </a:r>
                          <a:endParaRPr lang="ko-KR" altLang="en-US" sz="1200" dirty="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200" b="1">
                              <a:solidFill>
                                <a:srgbClr val="1F1F1F"/>
                              </a:solidFill>
                              <a:effectLst/>
                              <a:latin typeface="+mn-lt"/>
                            </a:rPr>
                            <a:t>회귀 </a:t>
                          </a:r>
                          <a:r>
                            <a:rPr lang="en-US" altLang="ko-KR" sz="1200" b="1">
                              <a:solidFill>
                                <a:srgbClr val="1F1F1F"/>
                              </a:solidFill>
                              <a:effectLst/>
                              <a:latin typeface="+mn-lt"/>
                            </a:rPr>
                            <a:t>(</a:t>
                          </a:r>
                          <a:r>
                            <a:rPr lang="en-US" sz="1200" b="1">
                              <a:solidFill>
                                <a:srgbClr val="1F1F1F"/>
                              </a:solidFill>
                              <a:effectLst/>
                              <a:latin typeface="+mn-lt"/>
                            </a:rPr>
                            <a:t>Regression)</a:t>
                          </a:r>
                          <a:endParaRPr lang="en-US" sz="120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100">
                              <a:solidFill>
                                <a:srgbClr val="1F1F1F"/>
                              </a:solidFill>
                              <a:effectLst/>
                              <a:latin typeface="+mn-lt"/>
                            </a:rPr>
                            <a:t>연속적인 수치값</a:t>
                          </a:r>
                          <a:r>
                            <a:rPr lang="en-US" altLang="ko-KR" sz="1100">
                              <a:solidFill>
                                <a:srgbClr val="1F1F1F"/>
                              </a:solidFill>
                              <a:effectLst/>
                              <a:latin typeface="+mn-lt"/>
                            </a:rPr>
                            <a:t>(</a:t>
                          </a:r>
                          <a:r>
                            <a:rPr lang="ko-KR" altLang="en-US" sz="1100">
                              <a:solidFill>
                                <a:srgbClr val="1F1F1F"/>
                              </a:solidFill>
                              <a:effectLst/>
                              <a:latin typeface="+mn-lt"/>
                            </a:rPr>
                            <a:t>예</a:t>
                          </a:r>
                          <a:r>
                            <a:rPr lang="en-US" altLang="ko-KR" sz="1100">
                              <a:solidFill>
                                <a:srgbClr val="1F1F1F"/>
                              </a:solidFill>
                              <a:effectLst/>
                              <a:latin typeface="+mn-lt"/>
                            </a:rPr>
                            <a:t>: </a:t>
                          </a:r>
                          <a:r>
                            <a:rPr lang="ko-KR" altLang="en-US" sz="1100">
                              <a:solidFill>
                                <a:srgbClr val="1F1F1F"/>
                              </a:solidFill>
                              <a:effectLst/>
                              <a:latin typeface="+mn-lt"/>
                            </a:rPr>
                            <a:t>시험 점수</a:t>
                          </a:r>
                          <a:r>
                            <a:rPr lang="en-US" altLang="ko-KR" sz="1100">
                              <a:solidFill>
                                <a:srgbClr val="1F1F1F"/>
                              </a:solidFill>
                              <a:effectLst/>
                              <a:latin typeface="+mn-lt"/>
                            </a:rPr>
                            <a:t>)</a:t>
                          </a:r>
                          <a:r>
                            <a:rPr lang="ko-KR" altLang="en-US" sz="1100">
                              <a:solidFill>
                                <a:srgbClr val="1F1F1F"/>
                              </a:solidFill>
                              <a:effectLst/>
                              <a:latin typeface="+mn-lt"/>
                            </a:rPr>
                            <a:t>을 예측하는 지도 학습의 한 종류입니다</a:t>
                          </a:r>
                          <a:r>
                            <a:rPr lang="en-US" altLang="ko-KR" sz="1100">
                              <a:solidFill>
                                <a:srgbClr val="1F1F1F"/>
                              </a:solidFill>
                              <a:effectLst/>
                              <a:latin typeface="+mn-lt"/>
                            </a:rPr>
                            <a:t>.</a:t>
                          </a: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4247232"/>
                      </a:ext>
                    </a:extLst>
                  </a:tr>
                  <a:tr h="490277">
                    <a:tc vMerge="1">
                      <a:txBody>
                        <a:bodyPr/>
                        <a:lstStyle/>
                        <a:p>
                          <a:pPr algn="ctr" rtl="0">
                            <a:buNone/>
                          </a:pPr>
                          <a:endParaRPr lang="ko-KR" altLang="en-US" sz="1200" dirty="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200" b="1">
                              <a:solidFill>
                                <a:srgbClr val="1F1F1F"/>
                              </a:solidFill>
                              <a:effectLst/>
                              <a:latin typeface="+mn-lt"/>
                            </a:rPr>
                            <a:t>분류 </a:t>
                          </a:r>
                          <a:r>
                            <a:rPr lang="en-US" altLang="ko-KR" sz="1200" b="1">
                              <a:solidFill>
                                <a:srgbClr val="1F1F1F"/>
                              </a:solidFill>
                              <a:effectLst/>
                              <a:latin typeface="+mn-lt"/>
                            </a:rPr>
                            <a:t>(</a:t>
                          </a:r>
                          <a:r>
                            <a:rPr lang="en-US" sz="1200" b="1">
                              <a:solidFill>
                                <a:srgbClr val="1F1F1F"/>
                              </a:solidFill>
                              <a:effectLst/>
                              <a:latin typeface="+mn-lt"/>
                            </a:rPr>
                            <a:t>Classification)</a:t>
                          </a:r>
                          <a:endParaRPr lang="en-US" sz="120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100" dirty="0">
                              <a:solidFill>
                                <a:srgbClr val="1F1F1F"/>
                              </a:solidFill>
                              <a:effectLst/>
                              <a:latin typeface="+mn-lt"/>
                            </a:rPr>
                            <a:t>데이터를 정해진 범주</a:t>
                          </a:r>
                          <a:r>
                            <a:rPr lang="en-US" altLang="ko-KR" sz="1100" dirty="0">
                              <a:solidFill>
                                <a:srgbClr val="1F1F1F"/>
                              </a:solidFill>
                              <a:effectLst/>
                              <a:latin typeface="+mn-lt"/>
                            </a:rPr>
                            <a:t>(</a:t>
                          </a:r>
                          <a:r>
                            <a:rPr lang="ko-KR" altLang="en-US" sz="1100" dirty="0">
                              <a:solidFill>
                                <a:srgbClr val="1F1F1F"/>
                              </a:solidFill>
                              <a:effectLst/>
                              <a:latin typeface="+mn-lt"/>
                            </a:rPr>
                            <a:t>예</a:t>
                          </a:r>
                          <a:r>
                            <a:rPr lang="en-US" altLang="ko-KR" sz="1100" dirty="0">
                              <a:solidFill>
                                <a:srgbClr val="1F1F1F"/>
                              </a:solidFill>
                              <a:effectLst/>
                              <a:latin typeface="+mn-lt"/>
                            </a:rPr>
                            <a:t>: </a:t>
                          </a:r>
                          <a:r>
                            <a:rPr lang="ko-KR" altLang="en-US" sz="1100" dirty="0">
                              <a:solidFill>
                                <a:srgbClr val="1F1F1F"/>
                              </a:solidFill>
                              <a:effectLst/>
                              <a:latin typeface="+mn-lt"/>
                            </a:rPr>
                            <a:t>합격</a:t>
                          </a:r>
                          <a:r>
                            <a:rPr lang="en-US" altLang="ko-KR" sz="1100" dirty="0">
                              <a:solidFill>
                                <a:srgbClr val="1F1F1F"/>
                              </a:solidFill>
                              <a:effectLst/>
                              <a:latin typeface="+mn-lt"/>
                            </a:rPr>
                            <a:t>/</a:t>
                          </a:r>
                          <a:r>
                            <a:rPr lang="ko-KR" altLang="en-US" sz="1100" dirty="0">
                              <a:solidFill>
                                <a:srgbClr val="1F1F1F"/>
                              </a:solidFill>
                              <a:effectLst/>
                              <a:latin typeface="+mn-lt"/>
                            </a:rPr>
                            <a:t>불합격</a:t>
                          </a:r>
                          <a:r>
                            <a:rPr lang="en-US" altLang="ko-KR" sz="1100" dirty="0">
                              <a:solidFill>
                                <a:srgbClr val="1F1F1F"/>
                              </a:solidFill>
                              <a:effectLst/>
                              <a:latin typeface="+mn-lt"/>
                            </a:rPr>
                            <a:t>, </a:t>
                          </a:r>
                          <a:r>
                            <a:rPr lang="ko-KR" altLang="en-US" sz="1100" dirty="0">
                              <a:solidFill>
                                <a:srgbClr val="1F1F1F"/>
                              </a:solidFill>
                              <a:effectLst/>
                              <a:latin typeface="+mn-lt"/>
                            </a:rPr>
                            <a:t>성적 등급</a:t>
                          </a:r>
                          <a:r>
                            <a:rPr lang="en-US" altLang="ko-KR" sz="1100" dirty="0">
                              <a:solidFill>
                                <a:srgbClr val="1F1F1F"/>
                              </a:solidFill>
                              <a:effectLst/>
                              <a:latin typeface="+mn-lt"/>
                            </a:rPr>
                            <a:t>)</a:t>
                          </a:r>
                          <a:r>
                            <a:rPr lang="ko-KR" altLang="en-US" sz="1100" dirty="0">
                              <a:solidFill>
                                <a:srgbClr val="1F1F1F"/>
                              </a:solidFill>
                              <a:effectLst/>
                              <a:latin typeface="+mn-lt"/>
                            </a:rPr>
                            <a:t>로 나누는 학습 방식입니다</a:t>
                          </a:r>
                          <a:r>
                            <a:rPr lang="en-US" altLang="ko-KR" sz="1100" dirty="0">
                              <a:solidFill>
                                <a:srgbClr val="1F1F1F"/>
                              </a:solidFill>
                              <a:effectLst/>
                              <a:latin typeface="+mn-lt"/>
                            </a:rPr>
                            <a:t>.</a:t>
                          </a: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1817073"/>
                      </a:ext>
                    </a:extLst>
                  </a:tr>
                  <a:tr h="490277">
                    <a:tc rowSpan="3">
                      <a:txBody>
                        <a:bodyPr/>
                        <a:lstStyle/>
                        <a:p>
                          <a:pPr algn="ctr" rtl="0">
                            <a:buNone/>
                          </a:pPr>
                          <a:r>
                            <a:rPr lang="ko-KR" altLang="en-US" sz="1200" b="1" dirty="0">
                              <a:solidFill>
                                <a:srgbClr val="1F1F1F"/>
                              </a:solidFill>
                              <a:effectLst/>
                              <a:latin typeface="+mn-lt"/>
                            </a:rPr>
                            <a:t>모델 구성</a:t>
                          </a:r>
                          <a:endParaRPr lang="ko-KR" altLang="en-US" sz="1200" dirty="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200" b="1" dirty="0">
                              <a:solidFill>
                                <a:srgbClr val="1F1F1F"/>
                              </a:solidFill>
                              <a:effectLst/>
                              <a:latin typeface="+mn-lt"/>
                            </a:rPr>
                            <a:t>가설 </a:t>
                          </a:r>
                          <a:r>
                            <a:rPr lang="en-US" altLang="ko-KR" sz="1200" b="1" dirty="0">
                              <a:solidFill>
                                <a:srgbClr val="1F1F1F"/>
                              </a:solidFill>
                              <a:effectLst/>
                              <a:latin typeface="+mn-lt"/>
                            </a:rPr>
                            <a:t>(</a:t>
                          </a:r>
                          <a:r>
                            <a:rPr lang="en-US" sz="1200" b="1" dirty="0">
                              <a:solidFill>
                                <a:srgbClr val="1F1F1F"/>
                              </a:solidFill>
                              <a:effectLst/>
                              <a:latin typeface="+mn-lt"/>
                            </a:rPr>
                            <a:t>Hypothesis, </a:t>
                          </a:r>
                          <a14:m>
                            <m:oMath xmlns:m="http://schemas.openxmlformats.org/officeDocument/2006/math">
                              <m:r>
                                <a:rPr lang="en-US" sz="1200" b="1" i="1" dirty="0" smtClean="0">
                                  <a:solidFill>
                                    <a:srgbClr val="1F1F1F"/>
                                  </a:solidFill>
                                  <a:effectLst/>
                                  <a:latin typeface="Cambria Math" panose="02040503050406030204" pitchFamily="18" charset="0"/>
                                </a:rPr>
                                <m:t>𝑯</m:t>
                              </m:r>
                              <m:r>
                                <a:rPr lang="en-US" sz="1200" b="1" i="1" dirty="0">
                                  <a:solidFill>
                                    <a:srgbClr val="1F1F1F"/>
                                  </a:solidFill>
                                  <a:effectLst/>
                                  <a:latin typeface="Cambria Math" panose="02040503050406030204" pitchFamily="18" charset="0"/>
                                </a:rPr>
                                <m:t>(</m:t>
                              </m:r>
                              <m:r>
                                <a:rPr lang="en-US" sz="1200" b="1" i="1" dirty="0">
                                  <a:solidFill>
                                    <a:srgbClr val="1F1F1F"/>
                                  </a:solidFill>
                                  <a:effectLst/>
                                  <a:latin typeface="Cambria Math" panose="02040503050406030204" pitchFamily="18" charset="0"/>
                                </a:rPr>
                                <m:t>𝒙</m:t>
                              </m:r>
                              <m:r>
                                <a:rPr lang="en-US" sz="1200" b="1" i="1" dirty="0" smtClean="0">
                                  <a:solidFill>
                                    <a:srgbClr val="1F1F1F"/>
                                  </a:solidFill>
                                  <a:effectLst/>
                                  <a:latin typeface="Cambria Math" panose="02040503050406030204" pitchFamily="18" charset="0"/>
                                </a:rPr>
                                <m:t>)</m:t>
                              </m:r>
                            </m:oMath>
                          </a14:m>
                          <a:r>
                            <a:rPr lang="en-US" sz="1200" b="1" dirty="0">
                              <a:solidFill>
                                <a:srgbClr val="1F1F1F"/>
                              </a:solidFill>
                              <a:effectLst/>
                              <a:latin typeface="+mn-lt"/>
                            </a:rPr>
                            <a:t>)</a:t>
                          </a:r>
                          <a:endParaRPr lang="en-US" sz="1200" dirty="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100" dirty="0">
                              <a:solidFill>
                                <a:srgbClr val="1F1F1F"/>
                              </a:solidFill>
                              <a:effectLst/>
                              <a:latin typeface="+mn-lt"/>
                            </a:rPr>
                            <a:t>데이터와 결과 사이의 관계를 나타내는 선형 모델로</a:t>
                          </a:r>
                          <a:r>
                            <a:rPr lang="en-US" altLang="ko-KR" sz="1100" dirty="0">
                              <a:solidFill>
                                <a:srgbClr val="1F1F1F"/>
                              </a:solidFill>
                              <a:effectLst/>
                              <a:latin typeface="+mn-lt"/>
                            </a:rPr>
                            <a:t>, </a:t>
                          </a:r>
                          <a:r>
                            <a:rPr lang="ko-KR" altLang="en-US" sz="1100" dirty="0">
                              <a:solidFill>
                                <a:srgbClr val="1F1F1F"/>
                              </a:solidFill>
                              <a:effectLst/>
                              <a:latin typeface="+mn-lt"/>
                            </a:rPr>
                            <a:t>보통 </a:t>
                          </a:r>
                          <a14:m>
                            <m:oMath xmlns:m="http://schemas.openxmlformats.org/officeDocument/2006/math">
                              <m:r>
                                <a:rPr lang="en-US" altLang="ko-KR" sz="1100" i="1" dirty="0" smtClean="0">
                                  <a:solidFill>
                                    <a:srgbClr val="1F1F1F"/>
                                  </a:solidFill>
                                  <a:effectLst/>
                                  <a:latin typeface="Cambria Math" panose="02040503050406030204" pitchFamily="18" charset="0"/>
                                </a:rPr>
                                <m:t>𝐻</m:t>
                              </m:r>
                              <m:r>
                                <a:rPr lang="en-US" altLang="ko-KR" sz="1100" i="1" dirty="0" smtClean="0">
                                  <a:solidFill>
                                    <a:srgbClr val="1F1F1F"/>
                                  </a:solidFill>
                                  <a:effectLst/>
                                  <a:latin typeface="Cambria Math" panose="02040503050406030204" pitchFamily="18" charset="0"/>
                                </a:rPr>
                                <m:t>(</m:t>
                              </m:r>
                              <m:r>
                                <a:rPr lang="en-US" altLang="ko-KR" sz="1100" i="1" dirty="0" smtClean="0">
                                  <a:solidFill>
                                    <a:srgbClr val="1F1F1F"/>
                                  </a:solidFill>
                                  <a:effectLst/>
                                  <a:latin typeface="Cambria Math" panose="02040503050406030204" pitchFamily="18" charset="0"/>
                                </a:rPr>
                                <m:t>𝑥</m:t>
                              </m:r>
                              <m:r>
                                <a:rPr lang="en-US" altLang="ko-KR" sz="1100" i="1" dirty="0" smtClean="0">
                                  <a:solidFill>
                                    <a:srgbClr val="1F1F1F"/>
                                  </a:solidFill>
                                  <a:effectLst/>
                                  <a:latin typeface="Cambria Math" panose="02040503050406030204" pitchFamily="18" charset="0"/>
                                </a:rPr>
                                <m:t>) = </m:t>
                              </m:r>
                              <m:r>
                                <a:rPr lang="en-US" altLang="ko-KR" sz="1100" i="1" dirty="0" err="1">
                                  <a:solidFill>
                                    <a:srgbClr val="1F1F1F"/>
                                  </a:solidFill>
                                  <a:effectLst/>
                                  <a:latin typeface="Cambria Math" panose="02040503050406030204" pitchFamily="18" charset="0"/>
                                </a:rPr>
                                <m:t>𝑊𝑥</m:t>
                              </m:r>
                              <m:r>
                                <a:rPr lang="en-US" altLang="ko-KR" sz="1100" i="1" dirty="0">
                                  <a:solidFill>
                                    <a:srgbClr val="1F1F1F"/>
                                  </a:solidFill>
                                  <a:effectLst/>
                                  <a:latin typeface="Cambria Math" panose="02040503050406030204" pitchFamily="18" charset="0"/>
                                </a:rPr>
                                <m:t> + </m:t>
                              </m:r>
                              <m:r>
                                <a:rPr lang="en-US" altLang="ko-KR" sz="1100" i="1" dirty="0">
                                  <a:solidFill>
                                    <a:srgbClr val="1F1F1F"/>
                                  </a:solidFill>
                                  <a:effectLst/>
                                  <a:latin typeface="Cambria Math" panose="02040503050406030204" pitchFamily="18" charset="0"/>
                                </a:rPr>
                                <m:t>𝑏</m:t>
                              </m:r>
                            </m:oMath>
                          </a14:m>
                          <a:r>
                            <a:rPr lang="en-US" altLang="ko-KR" sz="1100" dirty="0">
                              <a:solidFill>
                                <a:srgbClr val="1F1F1F"/>
                              </a:solidFill>
                              <a:effectLst/>
                              <a:latin typeface="+mn-lt"/>
                            </a:rPr>
                            <a:t> </a:t>
                          </a:r>
                          <a:r>
                            <a:rPr lang="ko-KR" altLang="en-US" sz="1100" dirty="0">
                              <a:solidFill>
                                <a:srgbClr val="1F1F1F"/>
                              </a:solidFill>
                              <a:effectLst/>
                              <a:latin typeface="+mn-lt"/>
                            </a:rPr>
                            <a:t>형태로 표현됩니다</a:t>
                          </a:r>
                          <a:r>
                            <a:rPr lang="en-US" altLang="ko-KR" sz="1100" dirty="0">
                              <a:solidFill>
                                <a:srgbClr val="1F1F1F"/>
                              </a:solidFill>
                              <a:effectLst/>
                              <a:latin typeface="+mn-lt"/>
                            </a:rPr>
                            <a:t>.</a:t>
                          </a: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7769377"/>
                      </a:ext>
                    </a:extLst>
                  </a:tr>
                  <a:tr h="597900">
                    <a:tc vMerge="1">
                      <a:txBody>
                        <a:bodyPr/>
                        <a:lstStyle/>
                        <a:p>
                          <a:pPr algn="ctr" rtl="0">
                            <a:buNone/>
                          </a:pPr>
                          <a:endParaRPr lang="ko-KR" altLang="en-US" sz="1200" dirty="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200" b="1" dirty="0">
                              <a:solidFill>
                                <a:srgbClr val="FF0000"/>
                              </a:solidFill>
                              <a:effectLst/>
                              <a:latin typeface="+mn-lt"/>
                            </a:rPr>
                            <a:t>비용 함수 </a:t>
                          </a:r>
                          <a:r>
                            <a:rPr lang="en-US" altLang="ko-KR" sz="1200" b="1" dirty="0">
                              <a:solidFill>
                                <a:srgbClr val="FF0000"/>
                              </a:solidFill>
                              <a:effectLst/>
                              <a:latin typeface="+mn-lt"/>
                            </a:rPr>
                            <a:t>(</a:t>
                          </a:r>
                          <a:r>
                            <a:rPr lang="en-US" sz="1200" b="1" dirty="0">
                              <a:solidFill>
                                <a:srgbClr val="FF0000"/>
                              </a:solidFill>
                              <a:effectLst/>
                              <a:latin typeface="+mn-lt"/>
                            </a:rPr>
                            <a:t>Cost Function)</a:t>
                          </a:r>
                          <a:endParaRPr lang="en-US" sz="1200" dirty="0">
                            <a:solidFill>
                              <a:srgbClr val="FF0000"/>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100" dirty="0">
                              <a:solidFill>
                                <a:srgbClr val="1F1F1F"/>
                              </a:solidFill>
                              <a:effectLst/>
                              <a:latin typeface="+mn-lt"/>
                            </a:rPr>
                            <a:t>가설이 실제 데이터와 얼마나 차이가 나는지 계산하는 함수로</a:t>
                          </a:r>
                          <a:r>
                            <a:rPr lang="en-US" altLang="ko-KR" sz="1100" dirty="0">
                              <a:solidFill>
                                <a:srgbClr val="1F1F1F"/>
                              </a:solidFill>
                              <a:effectLst/>
                              <a:latin typeface="+mn-lt"/>
                            </a:rPr>
                            <a:t>, </a:t>
                          </a:r>
                          <a:r>
                            <a:rPr lang="ko-KR" altLang="en-US" sz="1100" dirty="0">
                              <a:solidFill>
                                <a:srgbClr val="1F1F1F"/>
                              </a:solidFill>
                              <a:effectLst/>
                              <a:latin typeface="+mn-lt"/>
                            </a:rPr>
                            <a:t>모델의 성능을 평가하는 지표입니다</a:t>
                          </a:r>
                          <a:r>
                            <a:rPr lang="en-US" altLang="ko-KR" sz="1100" dirty="0">
                              <a:solidFill>
                                <a:srgbClr val="1F1F1F"/>
                              </a:solidFill>
                              <a:effectLst/>
                              <a:latin typeface="+mn-lt"/>
                            </a:rPr>
                            <a:t>.</a:t>
                          </a: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400034"/>
                      </a:ext>
                    </a:extLst>
                  </a:tr>
                  <a:tr h="490277">
                    <a:tc vMerge="1">
                      <a:txBody>
                        <a:bodyPr/>
                        <a:lstStyle/>
                        <a:p>
                          <a:pPr algn="ctr" rtl="0">
                            <a:buNone/>
                          </a:pPr>
                          <a:endParaRPr lang="ko-KR" altLang="en-US" sz="1200" dirty="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200" b="1" dirty="0">
                              <a:solidFill>
                                <a:srgbClr val="FF0000"/>
                              </a:solidFill>
                              <a:effectLst/>
                              <a:latin typeface="+mn-lt"/>
                            </a:rPr>
                            <a:t>가중치</a:t>
                          </a:r>
                          <a:r>
                            <a:rPr lang="en-US" altLang="ko-KR" sz="1200" b="1" dirty="0">
                              <a:solidFill>
                                <a:srgbClr val="FF0000"/>
                              </a:solidFill>
                              <a:effectLst/>
                              <a:latin typeface="+mn-lt"/>
                            </a:rPr>
                            <a:t>(W)</a:t>
                          </a:r>
                          <a:r>
                            <a:rPr lang="ko-KR" altLang="en-US" sz="1200" b="1" dirty="0">
                              <a:solidFill>
                                <a:srgbClr val="FF0000"/>
                              </a:solidFill>
                              <a:effectLst/>
                              <a:latin typeface="+mn-lt"/>
                            </a:rPr>
                            <a:t>와 편향</a:t>
                          </a:r>
                          <a:r>
                            <a:rPr lang="en-US" altLang="ko-KR" sz="1200" b="1" dirty="0">
                              <a:solidFill>
                                <a:srgbClr val="FF0000"/>
                              </a:solidFill>
                              <a:effectLst/>
                              <a:latin typeface="+mn-lt"/>
                            </a:rPr>
                            <a:t>(b)</a:t>
                          </a:r>
                          <a:endParaRPr lang="ko-KR" altLang="en-US" sz="1200" dirty="0">
                            <a:solidFill>
                              <a:srgbClr val="FF0000"/>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100">
                              <a:solidFill>
                                <a:srgbClr val="1F1F1F"/>
                              </a:solidFill>
                              <a:effectLst/>
                              <a:latin typeface="+mn-lt"/>
                            </a:rPr>
                            <a:t>모델이 학습을 통해 업데이트하며 최적의 값을 찾아야 하는 변수들입니다</a:t>
                          </a:r>
                          <a:r>
                            <a:rPr lang="en-US" altLang="ko-KR" sz="1100">
                              <a:solidFill>
                                <a:srgbClr val="1F1F1F"/>
                              </a:solidFill>
                              <a:effectLst/>
                              <a:latin typeface="+mn-lt"/>
                            </a:rPr>
                            <a:t>.</a:t>
                          </a: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3958948"/>
                      </a:ext>
                    </a:extLst>
                  </a:tr>
                  <a:tr h="490277">
                    <a:tc rowSpan="3">
                      <a:txBody>
                        <a:bodyPr/>
                        <a:lstStyle/>
                        <a:p>
                          <a:pPr algn="ctr" rtl="0">
                            <a:buNone/>
                          </a:pPr>
                          <a:r>
                            <a:rPr lang="ko-KR" altLang="en-US" sz="1200" b="1" dirty="0">
                              <a:solidFill>
                                <a:srgbClr val="1F1F1F"/>
                              </a:solidFill>
                              <a:effectLst/>
                              <a:latin typeface="+mn-lt"/>
                            </a:rPr>
                            <a:t>데이터 구조</a:t>
                          </a:r>
                          <a:endParaRPr lang="ko-KR" altLang="en-US" sz="1200" dirty="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200" b="1" dirty="0" err="1">
                              <a:solidFill>
                                <a:srgbClr val="FF0000"/>
                              </a:solidFill>
                              <a:effectLst/>
                              <a:latin typeface="+mn-lt"/>
                            </a:rPr>
                            <a:t>텐서</a:t>
                          </a:r>
                          <a:r>
                            <a:rPr lang="ko-KR" altLang="en-US" sz="1200" b="1" dirty="0">
                              <a:solidFill>
                                <a:srgbClr val="FF0000"/>
                              </a:solidFill>
                              <a:effectLst/>
                              <a:latin typeface="+mn-lt"/>
                            </a:rPr>
                            <a:t> </a:t>
                          </a:r>
                          <a:r>
                            <a:rPr lang="en-US" altLang="ko-KR" sz="1200" b="1" dirty="0">
                              <a:solidFill>
                                <a:srgbClr val="FF0000"/>
                              </a:solidFill>
                              <a:effectLst/>
                              <a:latin typeface="+mn-lt"/>
                            </a:rPr>
                            <a:t>(</a:t>
                          </a:r>
                          <a:r>
                            <a:rPr lang="en-US" sz="1200" b="1" dirty="0">
                              <a:solidFill>
                                <a:srgbClr val="FF0000"/>
                              </a:solidFill>
                              <a:effectLst/>
                              <a:latin typeface="+mn-lt"/>
                            </a:rPr>
                            <a:t>Tensor)</a:t>
                          </a:r>
                          <a:endParaRPr lang="en-US" sz="1200" dirty="0">
                            <a:solidFill>
                              <a:srgbClr val="FF0000"/>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en-US" altLang="ko-KR" sz="1100" dirty="0">
                              <a:solidFill>
                                <a:srgbClr val="1F1F1F"/>
                              </a:solidFill>
                              <a:effectLst/>
                              <a:latin typeface="+mn-lt"/>
                            </a:rPr>
                            <a:t>TensorFlow</a:t>
                          </a:r>
                          <a:r>
                            <a:rPr lang="ko-KR" altLang="en-US" sz="1100" dirty="0">
                              <a:solidFill>
                                <a:srgbClr val="1F1F1F"/>
                              </a:solidFill>
                              <a:effectLst/>
                              <a:latin typeface="+mn-lt"/>
                            </a:rPr>
                            <a:t>에서 사용되는 가장 기본적인 데이터 구조로</a:t>
                          </a:r>
                          <a:r>
                            <a:rPr lang="en-US" altLang="ko-KR" sz="1100" dirty="0">
                              <a:solidFill>
                                <a:srgbClr val="1F1F1F"/>
                              </a:solidFill>
                              <a:effectLst/>
                              <a:latin typeface="+mn-lt"/>
                            </a:rPr>
                            <a:t>, </a:t>
                          </a:r>
                          <a:r>
                            <a:rPr lang="ko-KR" altLang="en-US" sz="1100" dirty="0">
                              <a:solidFill>
                                <a:srgbClr val="1F1F1F"/>
                              </a:solidFill>
                              <a:effectLst/>
                              <a:latin typeface="+mn-lt"/>
                            </a:rPr>
                            <a:t>다차원 배열 형태를 가집니다</a:t>
                          </a:r>
                          <a:r>
                            <a:rPr lang="en-US" altLang="ko-KR" sz="1100" dirty="0">
                              <a:solidFill>
                                <a:srgbClr val="1F1F1F"/>
                              </a:solidFill>
                              <a:effectLst/>
                              <a:latin typeface="+mn-lt"/>
                            </a:rPr>
                            <a:t>.</a:t>
                          </a: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7221491"/>
                      </a:ext>
                    </a:extLst>
                  </a:tr>
                  <a:tr h="490277">
                    <a:tc vMerge="1">
                      <a:txBody>
                        <a:bodyPr/>
                        <a:lstStyle/>
                        <a:p>
                          <a:pPr algn="ctr" rtl="0">
                            <a:buNone/>
                          </a:pPr>
                          <a:endParaRPr lang="ko-KR" altLang="en-US" sz="1200" dirty="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200" b="1" dirty="0">
                              <a:solidFill>
                                <a:srgbClr val="1F1F1F"/>
                              </a:solidFill>
                              <a:effectLst/>
                              <a:latin typeface="+mn-lt"/>
                            </a:rPr>
                            <a:t>랭크 </a:t>
                          </a:r>
                          <a:r>
                            <a:rPr lang="en-US" altLang="ko-KR" sz="1200" b="1" dirty="0">
                              <a:solidFill>
                                <a:srgbClr val="1F1F1F"/>
                              </a:solidFill>
                              <a:effectLst/>
                              <a:latin typeface="+mn-lt"/>
                            </a:rPr>
                            <a:t>(</a:t>
                          </a:r>
                          <a:r>
                            <a:rPr lang="en-US" sz="1200" b="1" dirty="0">
                              <a:solidFill>
                                <a:srgbClr val="1F1F1F"/>
                              </a:solidFill>
                              <a:effectLst/>
                              <a:latin typeface="+mn-lt"/>
                            </a:rPr>
                            <a:t>Rank)</a:t>
                          </a:r>
                          <a:endParaRPr lang="en-US" sz="1200" dirty="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100" dirty="0" err="1">
                              <a:solidFill>
                                <a:srgbClr val="1F1F1F"/>
                              </a:solidFill>
                              <a:effectLst/>
                              <a:latin typeface="+mn-lt"/>
                            </a:rPr>
                            <a:t>텐서가</a:t>
                          </a:r>
                          <a:r>
                            <a:rPr lang="ko-KR" altLang="en-US" sz="1100" dirty="0">
                              <a:solidFill>
                                <a:srgbClr val="1F1F1F"/>
                              </a:solidFill>
                              <a:effectLst/>
                              <a:latin typeface="+mn-lt"/>
                            </a:rPr>
                            <a:t> 몇 차원인지를 나타내며</a:t>
                          </a:r>
                          <a:r>
                            <a:rPr lang="en-US" altLang="ko-KR" sz="1100" dirty="0">
                              <a:solidFill>
                                <a:srgbClr val="1F1F1F"/>
                              </a:solidFill>
                              <a:effectLst/>
                              <a:latin typeface="+mn-lt"/>
                            </a:rPr>
                            <a:t>, </a:t>
                          </a:r>
                          <a:r>
                            <a:rPr lang="ko-KR" altLang="en-US" sz="1100" dirty="0">
                              <a:solidFill>
                                <a:srgbClr val="1F1F1F"/>
                              </a:solidFill>
                              <a:effectLst/>
                              <a:latin typeface="+mn-lt"/>
                            </a:rPr>
                            <a:t>스칼라는 </a:t>
                          </a:r>
                          <a:r>
                            <a:rPr lang="en-US" altLang="ko-KR" sz="1100" dirty="0">
                              <a:solidFill>
                                <a:srgbClr val="1F1F1F"/>
                              </a:solidFill>
                              <a:effectLst/>
                              <a:latin typeface="+mn-lt"/>
                            </a:rPr>
                            <a:t>0, </a:t>
                          </a:r>
                          <a:r>
                            <a:rPr lang="ko-KR" altLang="en-US" sz="1100" dirty="0">
                              <a:solidFill>
                                <a:srgbClr val="1F1F1F"/>
                              </a:solidFill>
                              <a:effectLst/>
                              <a:latin typeface="+mn-lt"/>
                            </a:rPr>
                            <a:t>벡터는 </a:t>
                          </a:r>
                          <a:r>
                            <a:rPr lang="en-US" altLang="ko-KR" sz="1100" dirty="0">
                              <a:solidFill>
                                <a:srgbClr val="1F1F1F"/>
                              </a:solidFill>
                              <a:effectLst/>
                              <a:latin typeface="+mn-lt"/>
                            </a:rPr>
                            <a:t>1, </a:t>
                          </a:r>
                          <a:r>
                            <a:rPr lang="ko-KR" altLang="en-US" sz="1100" dirty="0">
                              <a:solidFill>
                                <a:srgbClr val="1F1F1F"/>
                              </a:solidFill>
                              <a:effectLst/>
                              <a:latin typeface="+mn-lt"/>
                            </a:rPr>
                            <a:t>행렬은 </a:t>
                          </a:r>
                          <a:r>
                            <a:rPr lang="en-US" altLang="ko-KR" sz="1100" dirty="0">
                              <a:solidFill>
                                <a:srgbClr val="1F1F1F"/>
                              </a:solidFill>
                              <a:effectLst/>
                              <a:latin typeface="+mn-lt"/>
                            </a:rPr>
                            <a:t>2</a:t>
                          </a:r>
                          <a:r>
                            <a:rPr lang="ko-KR" altLang="en-US" sz="1100" dirty="0">
                              <a:solidFill>
                                <a:srgbClr val="1F1F1F"/>
                              </a:solidFill>
                              <a:effectLst/>
                              <a:latin typeface="+mn-lt"/>
                            </a:rPr>
                            <a:t>의 값을 가집니다</a:t>
                          </a:r>
                          <a:r>
                            <a:rPr lang="en-US" altLang="ko-KR" sz="1100" dirty="0">
                              <a:solidFill>
                                <a:srgbClr val="1F1F1F"/>
                              </a:solidFill>
                              <a:effectLst/>
                              <a:latin typeface="+mn-lt"/>
                            </a:rPr>
                            <a:t>.</a:t>
                          </a: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045523"/>
                      </a:ext>
                    </a:extLst>
                  </a:tr>
                  <a:tr h="490277">
                    <a:tc vMerge="1">
                      <a:txBody>
                        <a:bodyPr/>
                        <a:lstStyle/>
                        <a:p>
                          <a:pPr algn="ctr" rtl="0">
                            <a:buNone/>
                          </a:pPr>
                          <a:endParaRPr lang="ko-KR" altLang="en-US" sz="1200" dirty="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200" b="1" dirty="0" err="1">
                              <a:solidFill>
                                <a:srgbClr val="1F1F1F"/>
                              </a:solidFill>
                              <a:effectLst/>
                              <a:latin typeface="+mn-lt"/>
                            </a:rPr>
                            <a:t>쉐이프</a:t>
                          </a:r>
                          <a:r>
                            <a:rPr lang="ko-KR" altLang="en-US" sz="1200" b="1" dirty="0">
                              <a:solidFill>
                                <a:srgbClr val="1F1F1F"/>
                              </a:solidFill>
                              <a:effectLst/>
                              <a:latin typeface="+mn-lt"/>
                            </a:rPr>
                            <a:t> </a:t>
                          </a:r>
                          <a:r>
                            <a:rPr lang="en-US" altLang="ko-KR" sz="1200" b="1" dirty="0">
                              <a:solidFill>
                                <a:srgbClr val="1F1F1F"/>
                              </a:solidFill>
                              <a:effectLst/>
                              <a:latin typeface="+mn-lt"/>
                            </a:rPr>
                            <a:t>(</a:t>
                          </a:r>
                          <a:r>
                            <a:rPr lang="en-US" sz="1200" b="1" dirty="0">
                              <a:solidFill>
                                <a:srgbClr val="1F1F1F"/>
                              </a:solidFill>
                              <a:effectLst/>
                              <a:latin typeface="+mn-lt"/>
                            </a:rPr>
                            <a:t>Shape)</a:t>
                          </a:r>
                          <a:endParaRPr lang="en-US" sz="1200" dirty="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100" dirty="0" err="1">
                              <a:solidFill>
                                <a:srgbClr val="1F1F1F"/>
                              </a:solidFill>
                              <a:effectLst/>
                              <a:latin typeface="+mn-lt"/>
                            </a:rPr>
                            <a:t>텐서의</a:t>
                          </a:r>
                          <a:r>
                            <a:rPr lang="ko-KR" altLang="en-US" sz="1100" dirty="0">
                              <a:solidFill>
                                <a:srgbClr val="1F1F1F"/>
                              </a:solidFill>
                              <a:effectLst/>
                              <a:latin typeface="+mn-lt"/>
                            </a:rPr>
                            <a:t> 각 차원에 데이터가 몇 개씩 들어있는지 그 구조를 나타내는 정보입니다</a:t>
                          </a:r>
                          <a:r>
                            <a:rPr lang="en-US" altLang="ko-KR" sz="1100" dirty="0">
                              <a:solidFill>
                                <a:srgbClr val="1F1F1F"/>
                              </a:solidFill>
                              <a:effectLst/>
                              <a:latin typeface="+mn-lt"/>
                            </a:rPr>
                            <a:t>.</a:t>
                          </a: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7696600"/>
                      </a:ext>
                    </a:extLst>
                  </a:tr>
                </a:tbl>
              </a:graphicData>
            </a:graphic>
          </p:graphicFrame>
        </mc:Choice>
        <mc:Fallback>
          <p:graphicFrame>
            <p:nvGraphicFramePr>
              <p:cNvPr id="4" name="표 3">
                <a:extLst>
                  <a:ext uri="{FF2B5EF4-FFF2-40B4-BE49-F238E27FC236}">
                    <a16:creationId xmlns:a16="http://schemas.microsoft.com/office/drawing/2014/main" id="{BFBD336E-3C40-DE93-7287-37479A38039D}"/>
                  </a:ext>
                </a:extLst>
              </p:cNvPr>
              <p:cNvGraphicFramePr>
                <a:graphicFrameLocks noGrp="1"/>
              </p:cNvGraphicFramePr>
              <p:nvPr>
                <p:extLst>
                  <p:ext uri="{D42A27DB-BD31-4B8C-83A1-F6EECF244321}">
                    <p14:modId xmlns:p14="http://schemas.microsoft.com/office/powerpoint/2010/main" val="3102837713"/>
                  </p:ext>
                </p:extLst>
              </p:nvPr>
            </p:nvGraphicFramePr>
            <p:xfrm>
              <a:off x="747678" y="504827"/>
              <a:ext cx="11177622" cy="6022972"/>
            </p:xfrm>
            <a:graphic>
              <a:graphicData uri="http://schemas.openxmlformats.org/drawingml/2006/table">
                <a:tbl>
                  <a:tblPr/>
                  <a:tblGrid>
                    <a:gridCol w="1214472">
                      <a:extLst>
                        <a:ext uri="{9D8B030D-6E8A-4147-A177-3AD203B41FA5}">
                          <a16:colId xmlns:a16="http://schemas.microsoft.com/office/drawing/2014/main" val="3486832264"/>
                        </a:ext>
                      </a:extLst>
                    </a:gridCol>
                    <a:gridCol w="2755900">
                      <a:extLst>
                        <a:ext uri="{9D8B030D-6E8A-4147-A177-3AD203B41FA5}">
                          <a16:colId xmlns:a16="http://schemas.microsoft.com/office/drawing/2014/main" val="665483992"/>
                        </a:ext>
                      </a:extLst>
                    </a:gridCol>
                    <a:gridCol w="7207250">
                      <a:extLst>
                        <a:ext uri="{9D8B030D-6E8A-4147-A177-3AD203B41FA5}">
                          <a16:colId xmlns:a16="http://schemas.microsoft.com/office/drawing/2014/main" val="809044732"/>
                        </a:ext>
                      </a:extLst>
                    </a:gridCol>
                  </a:tblGrid>
                  <a:tr h="307056">
                    <a:tc>
                      <a:txBody>
                        <a:bodyPr/>
                        <a:lstStyle/>
                        <a:p>
                          <a:pPr algn="ctr" rtl="0">
                            <a:buNone/>
                          </a:pPr>
                          <a:r>
                            <a:rPr lang="ko-KR" altLang="en-US" sz="1200" b="1">
                              <a:solidFill>
                                <a:srgbClr val="1F1F1F"/>
                              </a:solidFill>
                              <a:effectLst/>
                              <a:latin typeface="+mn-lt"/>
                            </a:rPr>
                            <a:t>분류</a:t>
                          </a:r>
                          <a:endParaRPr lang="ko-KR" altLang="en-US" sz="120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200" b="1">
                              <a:solidFill>
                                <a:srgbClr val="1F1F1F"/>
                              </a:solidFill>
                              <a:effectLst/>
                              <a:latin typeface="+mn-lt"/>
                            </a:rPr>
                            <a:t>용어</a:t>
                          </a:r>
                          <a:endParaRPr lang="ko-KR" altLang="en-US" sz="120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200" b="1">
                              <a:solidFill>
                                <a:srgbClr val="1F1F1F"/>
                              </a:solidFill>
                              <a:effectLst/>
                              <a:latin typeface="+mn-lt"/>
                            </a:rPr>
                            <a:t>개념 및 설명</a:t>
                          </a:r>
                          <a:endParaRPr lang="ko-KR" altLang="en-US" sz="120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4051498"/>
                      </a:ext>
                    </a:extLst>
                  </a:tr>
                  <a:tr h="597900">
                    <a:tc rowSpan="3">
                      <a:txBody>
                        <a:bodyPr/>
                        <a:lstStyle/>
                        <a:p>
                          <a:pPr algn="ctr" rtl="0">
                            <a:buNone/>
                          </a:pPr>
                          <a:r>
                            <a:rPr lang="ko-KR" altLang="en-US" sz="1200" b="1" dirty="0">
                              <a:solidFill>
                                <a:srgbClr val="1F1F1F"/>
                              </a:solidFill>
                              <a:effectLst/>
                              <a:latin typeface="+mn-lt"/>
                            </a:rPr>
                            <a:t>기본 개념</a:t>
                          </a:r>
                          <a:endParaRPr lang="ko-KR" altLang="en-US" sz="1200" dirty="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200" b="1">
                              <a:solidFill>
                                <a:srgbClr val="1F1F1F"/>
                              </a:solidFill>
                              <a:effectLst/>
                              <a:latin typeface="+mn-lt"/>
                            </a:rPr>
                            <a:t>머신러닝 </a:t>
                          </a:r>
                          <a:r>
                            <a:rPr lang="en-US" altLang="ko-KR" sz="1200" b="1">
                              <a:solidFill>
                                <a:srgbClr val="1F1F1F"/>
                              </a:solidFill>
                              <a:effectLst/>
                              <a:latin typeface="+mn-lt"/>
                            </a:rPr>
                            <a:t>(</a:t>
                          </a:r>
                          <a:r>
                            <a:rPr lang="en-US" sz="1200" b="1">
                              <a:solidFill>
                                <a:srgbClr val="1F1F1F"/>
                              </a:solidFill>
                              <a:effectLst/>
                              <a:latin typeface="+mn-lt"/>
                            </a:rPr>
                            <a:t>Machine Learning)</a:t>
                          </a:r>
                          <a:endParaRPr lang="en-US" sz="120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100" dirty="0">
                              <a:solidFill>
                                <a:srgbClr val="1F1F1F"/>
                              </a:solidFill>
                              <a:effectLst/>
                              <a:latin typeface="+mn-lt"/>
                            </a:rPr>
                            <a:t>명시적으로 </a:t>
                          </a:r>
                          <a:r>
                            <a:rPr lang="ko-KR" altLang="en-US" sz="1100" dirty="0" err="1">
                              <a:solidFill>
                                <a:srgbClr val="1F1F1F"/>
                              </a:solidFill>
                              <a:effectLst/>
                              <a:latin typeface="+mn-lt"/>
                            </a:rPr>
                            <a:t>프로그래밍되지</a:t>
                          </a:r>
                          <a:r>
                            <a:rPr lang="ko-KR" altLang="en-US" sz="1100" dirty="0">
                              <a:solidFill>
                                <a:srgbClr val="1F1F1F"/>
                              </a:solidFill>
                              <a:effectLst/>
                              <a:latin typeface="+mn-lt"/>
                            </a:rPr>
                            <a:t> 않아도 컴퓨터가 스스로 학습할 수 있는 능력을 부여하는 연구 분야입니다</a:t>
                          </a:r>
                          <a:r>
                            <a:rPr lang="en-US" altLang="ko-KR" sz="1100" dirty="0">
                              <a:solidFill>
                                <a:srgbClr val="1F1F1F"/>
                              </a:solidFill>
                              <a:effectLst/>
                              <a:latin typeface="+mn-lt"/>
                            </a:rPr>
                            <a:t>.</a:t>
                          </a: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4575752"/>
                      </a:ext>
                    </a:extLst>
                  </a:tr>
                  <a:tr h="490277">
                    <a:tc vMerge="1">
                      <a:txBody>
                        <a:bodyPr/>
                        <a:lstStyle/>
                        <a:p>
                          <a:pPr algn="ctr" rtl="0">
                            <a:buNone/>
                          </a:pPr>
                          <a:endParaRPr lang="ko-KR" altLang="en-US" sz="1200" dirty="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200" b="1">
                              <a:solidFill>
                                <a:srgbClr val="1F1F1F"/>
                              </a:solidFill>
                              <a:effectLst/>
                              <a:latin typeface="+mn-lt"/>
                            </a:rPr>
                            <a:t>지도 학습 </a:t>
                          </a:r>
                          <a:r>
                            <a:rPr lang="en-US" altLang="ko-KR" sz="1200" b="1">
                              <a:solidFill>
                                <a:srgbClr val="1F1F1F"/>
                              </a:solidFill>
                              <a:effectLst/>
                              <a:latin typeface="+mn-lt"/>
                            </a:rPr>
                            <a:t>(</a:t>
                          </a:r>
                          <a:r>
                            <a:rPr lang="en-US" sz="1200" b="1">
                              <a:solidFill>
                                <a:srgbClr val="1F1F1F"/>
                              </a:solidFill>
                              <a:effectLst/>
                              <a:latin typeface="+mn-lt"/>
                            </a:rPr>
                            <a:t>Supervised Learning)</a:t>
                          </a:r>
                          <a:endParaRPr lang="en-US" sz="120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100">
                              <a:solidFill>
                                <a:srgbClr val="1F1F1F"/>
                              </a:solidFill>
                              <a:effectLst/>
                              <a:latin typeface="+mn-lt"/>
                            </a:rPr>
                            <a:t>정답</a:t>
                          </a:r>
                          <a:r>
                            <a:rPr lang="en-US" altLang="ko-KR" sz="1100">
                              <a:solidFill>
                                <a:srgbClr val="1F1F1F"/>
                              </a:solidFill>
                              <a:effectLst/>
                              <a:latin typeface="+mn-lt"/>
                            </a:rPr>
                            <a:t>(Label)</a:t>
                          </a:r>
                          <a:r>
                            <a:rPr lang="ko-KR" altLang="en-US" sz="1100">
                              <a:solidFill>
                                <a:srgbClr val="1F1F1F"/>
                              </a:solidFill>
                              <a:effectLst/>
                              <a:latin typeface="+mn-lt"/>
                            </a:rPr>
                            <a:t>이 포함된 예제 데이터셋</a:t>
                          </a:r>
                          <a:r>
                            <a:rPr lang="en-US" altLang="ko-KR" sz="1100">
                              <a:solidFill>
                                <a:srgbClr val="1F1F1F"/>
                              </a:solidFill>
                              <a:effectLst/>
                              <a:latin typeface="+mn-lt"/>
                            </a:rPr>
                            <a:t>(Training set)</a:t>
                          </a:r>
                          <a:r>
                            <a:rPr lang="ko-KR" altLang="en-US" sz="1100">
                              <a:solidFill>
                                <a:srgbClr val="1F1F1F"/>
                              </a:solidFill>
                              <a:effectLst/>
                              <a:latin typeface="+mn-lt"/>
                            </a:rPr>
                            <a:t>을 통해 컴퓨터를 학습시키는 방법입니다</a:t>
                          </a:r>
                          <a:r>
                            <a:rPr lang="en-US" altLang="ko-KR" sz="1100">
                              <a:solidFill>
                                <a:srgbClr val="1F1F1F"/>
                              </a:solidFill>
                              <a:effectLst/>
                              <a:latin typeface="+mn-lt"/>
                            </a:rPr>
                            <a:t>.</a:t>
                          </a: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7325140"/>
                      </a:ext>
                    </a:extLst>
                  </a:tr>
                  <a:tr h="597900">
                    <a:tc vMerge="1">
                      <a:txBody>
                        <a:bodyPr/>
                        <a:lstStyle/>
                        <a:p>
                          <a:pPr algn="ctr" rtl="0">
                            <a:buNone/>
                          </a:pPr>
                          <a:endParaRPr lang="ko-KR" altLang="en-US" sz="1200" dirty="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200" b="1">
                              <a:solidFill>
                                <a:srgbClr val="1F1F1F"/>
                              </a:solidFill>
                              <a:effectLst/>
                              <a:latin typeface="+mn-lt"/>
                            </a:rPr>
                            <a:t>비지도 학습 </a:t>
                          </a:r>
                          <a:r>
                            <a:rPr lang="en-US" altLang="ko-KR" sz="1200" b="1">
                              <a:solidFill>
                                <a:srgbClr val="1F1F1F"/>
                              </a:solidFill>
                              <a:effectLst/>
                              <a:latin typeface="+mn-lt"/>
                            </a:rPr>
                            <a:t>(</a:t>
                          </a:r>
                          <a:r>
                            <a:rPr lang="en-US" sz="1200" b="1">
                              <a:solidFill>
                                <a:srgbClr val="1F1F1F"/>
                              </a:solidFill>
                              <a:effectLst/>
                              <a:latin typeface="+mn-lt"/>
                            </a:rPr>
                            <a:t>Unsupervised Learning)</a:t>
                          </a:r>
                          <a:endParaRPr lang="en-US" sz="120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100" dirty="0">
                              <a:solidFill>
                                <a:srgbClr val="1F1F1F"/>
                              </a:solidFill>
                              <a:effectLst/>
                              <a:latin typeface="+mn-lt"/>
                            </a:rPr>
                            <a:t>정답이 없는 데이터에서 데이터 간의 그룹화나 클러스터링을 통해 스스로 구조를 파악하는 학습 방식입니다</a:t>
                          </a:r>
                          <a:r>
                            <a:rPr lang="en-US" altLang="ko-KR" sz="1100" dirty="0">
                              <a:solidFill>
                                <a:srgbClr val="1F1F1F"/>
                              </a:solidFill>
                              <a:effectLst/>
                              <a:latin typeface="+mn-lt"/>
                            </a:rPr>
                            <a:t>.</a:t>
                          </a: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2062097"/>
                      </a:ext>
                    </a:extLst>
                  </a:tr>
                  <a:tr h="490277">
                    <a:tc rowSpan="2">
                      <a:txBody>
                        <a:bodyPr/>
                        <a:lstStyle/>
                        <a:p>
                          <a:pPr algn="ctr" rtl="0">
                            <a:buNone/>
                          </a:pPr>
                          <a:r>
                            <a:rPr lang="ko-KR" altLang="en-US" sz="1200" b="1" dirty="0">
                              <a:solidFill>
                                <a:srgbClr val="1F1F1F"/>
                              </a:solidFill>
                              <a:effectLst/>
                              <a:latin typeface="+mn-lt"/>
                            </a:rPr>
                            <a:t>학습 유형</a:t>
                          </a:r>
                          <a:endParaRPr lang="ko-KR" altLang="en-US" sz="1200" dirty="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200" b="1">
                              <a:solidFill>
                                <a:srgbClr val="1F1F1F"/>
                              </a:solidFill>
                              <a:effectLst/>
                              <a:latin typeface="+mn-lt"/>
                            </a:rPr>
                            <a:t>회귀 </a:t>
                          </a:r>
                          <a:r>
                            <a:rPr lang="en-US" altLang="ko-KR" sz="1200" b="1">
                              <a:solidFill>
                                <a:srgbClr val="1F1F1F"/>
                              </a:solidFill>
                              <a:effectLst/>
                              <a:latin typeface="+mn-lt"/>
                            </a:rPr>
                            <a:t>(</a:t>
                          </a:r>
                          <a:r>
                            <a:rPr lang="en-US" sz="1200" b="1">
                              <a:solidFill>
                                <a:srgbClr val="1F1F1F"/>
                              </a:solidFill>
                              <a:effectLst/>
                              <a:latin typeface="+mn-lt"/>
                            </a:rPr>
                            <a:t>Regression)</a:t>
                          </a:r>
                          <a:endParaRPr lang="en-US" sz="120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100">
                              <a:solidFill>
                                <a:srgbClr val="1F1F1F"/>
                              </a:solidFill>
                              <a:effectLst/>
                              <a:latin typeface="+mn-lt"/>
                            </a:rPr>
                            <a:t>연속적인 수치값</a:t>
                          </a:r>
                          <a:r>
                            <a:rPr lang="en-US" altLang="ko-KR" sz="1100">
                              <a:solidFill>
                                <a:srgbClr val="1F1F1F"/>
                              </a:solidFill>
                              <a:effectLst/>
                              <a:latin typeface="+mn-lt"/>
                            </a:rPr>
                            <a:t>(</a:t>
                          </a:r>
                          <a:r>
                            <a:rPr lang="ko-KR" altLang="en-US" sz="1100">
                              <a:solidFill>
                                <a:srgbClr val="1F1F1F"/>
                              </a:solidFill>
                              <a:effectLst/>
                              <a:latin typeface="+mn-lt"/>
                            </a:rPr>
                            <a:t>예</a:t>
                          </a:r>
                          <a:r>
                            <a:rPr lang="en-US" altLang="ko-KR" sz="1100">
                              <a:solidFill>
                                <a:srgbClr val="1F1F1F"/>
                              </a:solidFill>
                              <a:effectLst/>
                              <a:latin typeface="+mn-lt"/>
                            </a:rPr>
                            <a:t>: </a:t>
                          </a:r>
                          <a:r>
                            <a:rPr lang="ko-KR" altLang="en-US" sz="1100">
                              <a:solidFill>
                                <a:srgbClr val="1F1F1F"/>
                              </a:solidFill>
                              <a:effectLst/>
                              <a:latin typeface="+mn-lt"/>
                            </a:rPr>
                            <a:t>시험 점수</a:t>
                          </a:r>
                          <a:r>
                            <a:rPr lang="en-US" altLang="ko-KR" sz="1100">
                              <a:solidFill>
                                <a:srgbClr val="1F1F1F"/>
                              </a:solidFill>
                              <a:effectLst/>
                              <a:latin typeface="+mn-lt"/>
                            </a:rPr>
                            <a:t>)</a:t>
                          </a:r>
                          <a:r>
                            <a:rPr lang="ko-KR" altLang="en-US" sz="1100">
                              <a:solidFill>
                                <a:srgbClr val="1F1F1F"/>
                              </a:solidFill>
                              <a:effectLst/>
                              <a:latin typeface="+mn-lt"/>
                            </a:rPr>
                            <a:t>을 예측하는 지도 학습의 한 종류입니다</a:t>
                          </a:r>
                          <a:r>
                            <a:rPr lang="en-US" altLang="ko-KR" sz="1100">
                              <a:solidFill>
                                <a:srgbClr val="1F1F1F"/>
                              </a:solidFill>
                              <a:effectLst/>
                              <a:latin typeface="+mn-lt"/>
                            </a:rPr>
                            <a:t>.</a:t>
                          </a: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4247232"/>
                      </a:ext>
                    </a:extLst>
                  </a:tr>
                  <a:tr h="490277">
                    <a:tc vMerge="1">
                      <a:txBody>
                        <a:bodyPr/>
                        <a:lstStyle/>
                        <a:p>
                          <a:pPr algn="ctr" rtl="0">
                            <a:buNone/>
                          </a:pPr>
                          <a:endParaRPr lang="ko-KR" altLang="en-US" sz="1200" dirty="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200" b="1">
                              <a:solidFill>
                                <a:srgbClr val="1F1F1F"/>
                              </a:solidFill>
                              <a:effectLst/>
                              <a:latin typeface="+mn-lt"/>
                            </a:rPr>
                            <a:t>분류 </a:t>
                          </a:r>
                          <a:r>
                            <a:rPr lang="en-US" altLang="ko-KR" sz="1200" b="1">
                              <a:solidFill>
                                <a:srgbClr val="1F1F1F"/>
                              </a:solidFill>
                              <a:effectLst/>
                              <a:latin typeface="+mn-lt"/>
                            </a:rPr>
                            <a:t>(</a:t>
                          </a:r>
                          <a:r>
                            <a:rPr lang="en-US" sz="1200" b="1">
                              <a:solidFill>
                                <a:srgbClr val="1F1F1F"/>
                              </a:solidFill>
                              <a:effectLst/>
                              <a:latin typeface="+mn-lt"/>
                            </a:rPr>
                            <a:t>Classification)</a:t>
                          </a:r>
                          <a:endParaRPr lang="en-US" sz="120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100" dirty="0">
                              <a:solidFill>
                                <a:srgbClr val="1F1F1F"/>
                              </a:solidFill>
                              <a:effectLst/>
                              <a:latin typeface="+mn-lt"/>
                            </a:rPr>
                            <a:t>데이터를 정해진 범주</a:t>
                          </a:r>
                          <a:r>
                            <a:rPr lang="en-US" altLang="ko-KR" sz="1100" dirty="0">
                              <a:solidFill>
                                <a:srgbClr val="1F1F1F"/>
                              </a:solidFill>
                              <a:effectLst/>
                              <a:latin typeface="+mn-lt"/>
                            </a:rPr>
                            <a:t>(</a:t>
                          </a:r>
                          <a:r>
                            <a:rPr lang="ko-KR" altLang="en-US" sz="1100" dirty="0">
                              <a:solidFill>
                                <a:srgbClr val="1F1F1F"/>
                              </a:solidFill>
                              <a:effectLst/>
                              <a:latin typeface="+mn-lt"/>
                            </a:rPr>
                            <a:t>예</a:t>
                          </a:r>
                          <a:r>
                            <a:rPr lang="en-US" altLang="ko-KR" sz="1100" dirty="0">
                              <a:solidFill>
                                <a:srgbClr val="1F1F1F"/>
                              </a:solidFill>
                              <a:effectLst/>
                              <a:latin typeface="+mn-lt"/>
                            </a:rPr>
                            <a:t>: </a:t>
                          </a:r>
                          <a:r>
                            <a:rPr lang="ko-KR" altLang="en-US" sz="1100" dirty="0">
                              <a:solidFill>
                                <a:srgbClr val="1F1F1F"/>
                              </a:solidFill>
                              <a:effectLst/>
                              <a:latin typeface="+mn-lt"/>
                            </a:rPr>
                            <a:t>합격</a:t>
                          </a:r>
                          <a:r>
                            <a:rPr lang="en-US" altLang="ko-KR" sz="1100" dirty="0">
                              <a:solidFill>
                                <a:srgbClr val="1F1F1F"/>
                              </a:solidFill>
                              <a:effectLst/>
                              <a:latin typeface="+mn-lt"/>
                            </a:rPr>
                            <a:t>/</a:t>
                          </a:r>
                          <a:r>
                            <a:rPr lang="ko-KR" altLang="en-US" sz="1100" dirty="0">
                              <a:solidFill>
                                <a:srgbClr val="1F1F1F"/>
                              </a:solidFill>
                              <a:effectLst/>
                              <a:latin typeface="+mn-lt"/>
                            </a:rPr>
                            <a:t>불합격</a:t>
                          </a:r>
                          <a:r>
                            <a:rPr lang="en-US" altLang="ko-KR" sz="1100" dirty="0">
                              <a:solidFill>
                                <a:srgbClr val="1F1F1F"/>
                              </a:solidFill>
                              <a:effectLst/>
                              <a:latin typeface="+mn-lt"/>
                            </a:rPr>
                            <a:t>, </a:t>
                          </a:r>
                          <a:r>
                            <a:rPr lang="ko-KR" altLang="en-US" sz="1100" dirty="0">
                              <a:solidFill>
                                <a:srgbClr val="1F1F1F"/>
                              </a:solidFill>
                              <a:effectLst/>
                              <a:latin typeface="+mn-lt"/>
                            </a:rPr>
                            <a:t>성적 등급</a:t>
                          </a:r>
                          <a:r>
                            <a:rPr lang="en-US" altLang="ko-KR" sz="1100" dirty="0">
                              <a:solidFill>
                                <a:srgbClr val="1F1F1F"/>
                              </a:solidFill>
                              <a:effectLst/>
                              <a:latin typeface="+mn-lt"/>
                            </a:rPr>
                            <a:t>)</a:t>
                          </a:r>
                          <a:r>
                            <a:rPr lang="ko-KR" altLang="en-US" sz="1100" dirty="0">
                              <a:solidFill>
                                <a:srgbClr val="1F1F1F"/>
                              </a:solidFill>
                              <a:effectLst/>
                              <a:latin typeface="+mn-lt"/>
                            </a:rPr>
                            <a:t>로 나누는 학습 방식입니다</a:t>
                          </a:r>
                          <a:r>
                            <a:rPr lang="en-US" altLang="ko-KR" sz="1100" dirty="0">
                              <a:solidFill>
                                <a:srgbClr val="1F1F1F"/>
                              </a:solidFill>
                              <a:effectLst/>
                              <a:latin typeface="+mn-lt"/>
                            </a:rPr>
                            <a:t>.</a:t>
                          </a: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1817073"/>
                      </a:ext>
                    </a:extLst>
                  </a:tr>
                  <a:tr h="490277">
                    <a:tc rowSpan="3">
                      <a:txBody>
                        <a:bodyPr/>
                        <a:lstStyle/>
                        <a:p>
                          <a:pPr algn="ctr" rtl="0">
                            <a:buNone/>
                          </a:pPr>
                          <a:r>
                            <a:rPr lang="ko-KR" altLang="en-US" sz="1200" b="1" dirty="0">
                              <a:solidFill>
                                <a:srgbClr val="1F1F1F"/>
                              </a:solidFill>
                              <a:effectLst/>
                              <a:latin typeface="+mn-lt"/>
                            </a:rPr>
                            <a:t>모델 구성</a:t>
                          </a:r>
                          <a:endParaRPr lang="ko-KR" altLang="en-US" sz="1200" dirty="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ko-K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44150" t="-603704" r="-261589" b="-520988"/>
                          </a:stretch>
                        </a:blipFill>
                      </a:tcPr>
                    </a:tc>
                    <a:tc>
                      <a:txBody>
                        <a:bodyPr/>
                        <a:lstStyle/>
                        <a:p>
                          <a:endParaRPr lang="ko-K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55199" t="-603704" r="-169" b="-520988"/>
                          </a:stretch>
                        </a:blipFill>
                      </a:tcPr>
                    </a:tc>
                    <a:extLst>
                      <a:ext uri="{0D108BD9-81ED-4DB2-BD59-A6C34878D82A}">
                        <a16:rowId xmlns:a16="http://schemas.microsoft.com/office/drawing/2014/main" val="3437769377"/>
                      </a:ext>
                    </a:extLst>
                  </a:tr>
                  <a:tr h="597900">
                    <a:tc vMerge="1">
                      <a:txBody>
                        <a:bodyPr/>
                        <a:lstStyle/>
                        <a:p>
                          <a:pPr algn="ctr" rtl="0">
                            <a:buNone/>
                          </a:pPr>
                          <a:endParaRPr lang="ko-KR" altLang="en-US" sz="1200" dirty="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200" b="1" dirty="0">
                              <a:solidFill>
                                <a:srgbClr val="FF0000"/>
                              </a:solidFill>
                              <a:effectLst/>
                              <a:latin typeface="+mn-lt"/>
                            </a:rPr>
                            <a:t>비용 함수 </a:t>
                          </a:r>
                          <a:r>
                            <a:rPr lang="en-US" altLang="ko-KR" sz="1200" b="1" dirty="0">
                              <a:solidFill>
                                <a:srgbClr val="FF0000"/>
                              </a:solidFill>
                              <a:effectLst/>
                              <a:latin typeface="+mn-lt"/>
                            </a:rPr>
                            <a:t>(</a:t>
                          </a:r>
                          <a:r>
                            <a:rPr lang="en-US" sz="1200" b="1" dirty="0">
                              <a:solidFill>
                                <a:srgbClr val="FF0000"/>
                              </a:solidFill>
                              <a:effectLst/>
                              <a:latin typeface="+mn-lt"/>
                            </a:rPr>
                            <a:t>Cost Function)</a:t>
                          </a:r>
                          <a:endParaRPr lang="en-US" sz="1200" dirty="0">
                            <a:solidFill>
                              <a:srgbClr val="FF0000"/>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100" dirty="0">
                              <a:solidFill>
                                <a:srgbClr val="1F1F1F"/>
                              </a:solidFill>
                              <a:effectLst/>
                              <a:latin typeface="+mn-lt"/>
                            </a:rPr>
                            <a:t>가설이 실제 데이터와 얼마나 차이가 나는지 계산하는 함수로</a:t>
                          </a:r>
                          <a:r>
                            <a:rPr lang="en-US" altLang="ko-KR" sz="1100" dirty="0">
                              <a:solidFill>
                                <a:srgbClr val="1F1F1F"/>
                              </a:solidFill>
                              <a:effectLst/>
                              <a:latin typeface="+mn-lt"/>
                            </a:rPr>
                            <a:t>, </a:t>
                          </a:r>
                          <a:r>
                            <a:rPr lang="ko-KR" altLang="en-US" sz="1100" dirty="0">
                              <a:solidFill>
                                <a:srgbClr val="1F1F1F"/>
                              </a:solidFill>
                              <a:effectLst/>
                              <a:latin typeface="+mn-lt"/>
                            </a:rPr>
                            <a:t>모델의 성능을 평가하는 지표입니다</a:t>
                          </a:r>
                          <a:r>
                            <a:rPr lang="en-US" altLang="ko-KR" sz="1100" dirty="0">
                              <a:solidFill>
                                <a:srgbClr val="1F1F1F"/>
                              </a:solidFill>
                              <a:effectLst/>
                              <a:latin typeface="+mn-lt"/>
                            </a:rPr>
                            <a:t>.</a:t>
                          </a: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400034"/>
                      </a:ext>
                    </a:extLst>
                  </a:tr>
                  <a:tr h="490277">
                    <a:tc vMerge="1">
                      <a:txBody>
                        <a:bodyPr/>
                        <a:lstStyle/>
                        <a:p>
                          <a:pPr algn="ctr" rtl="0">
                            <a:buNone/>
                          </a:pPr>
                          <a:endParaRPr lang="ko-KR" altLang="en-US" sz="1200" dirty="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200" b="1" dirty="0">
                              <a:solidFill>
                                <a:srgbClr val="FF0000"/>
                              </a:solidFill>
                              <a:effectLst/>
                              <a:latin typeface="+mn-lt"/>
                            </a:rPr>
                            <a:t>가중치</a:t>
                          </a:r>
                          <a:r>
                            <a:rPr lang="en-US" altLang="ko-KR" sz="1200" b="1" dirty="0">
                              <a:solidFill>
                                <a:srgbClr val="FF0000"/>
                              </a:solidFill>
                              <a:effectLst/>
                              <a:latin typeface="+mn-lt"/>
                            </a:rPr>
                            <a:t>(W)</a:t>
                          </a:r>
                          <a:r>
                            <a:rPr lang="ko-KR" altLang="en-US" sz="1200" b="1" dirty="0">
                              <a:solidFill>
                                <a:srgbClr val="FF0000"/>
                              </a:solidFill>
                              <a:effectLst/>
                              <a:latin typeface="+mn-lt"/>
                            </a:rPr>
                            <a:t>와 편향</a:t>
                          </a:r>
                          <a:r>
                            <a:rPr lang="en-US" altLang="ko-KR" sz="1200" b="1" dirty="0">
                              <a:solidFill>
                                <a:srgbClr val="FF0000"/>
                              </a:solidFill>
                              <a:effectLst/>
                              <a:latin typeface="+mn-lt"/>
                            </a:rPr>
                            <a:t>(b)</a:t>
                          </a:r>
                          <a:endParaRPr lang="ko-KR" altLang="en-US" sz="1200" dirty="0">
                            <a:solidFill>
                              <a:srgbClr val="FF0000"/>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100">
                              <a:solidFill>
                                <a:srgbClr val="1F1F1F"/>
                              </a:solidFill>
                              <a:effectLst/>
                              <a:latin typeface="+mn-lt"/>
                            </a:rPr>
                            <a:t>모델이 학습을 통해 업데이트하며 최적의 값을 찾아야 하는 변수들입니다</a:t>
                          </a:r>
                          <a:r>
                            <a:rPr lang="en-US" altLang="ko-KR" sz="1100">
                              <a:solidFill>
                                <a:srgbClr val="1F1F1F"/>
                              </a:solidFill>
                              <a:effectLst/>
                              <a:latin typeface="+mn-lt"/>
                            </a:rPr>
                            <a:t>.</a:t>
                          </a: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3958948"/>
                      </a:ext>
                    </a:extLst>
                  </a:tr>
                  <a:tr h="490277">
                    <a:tc rowSpan="3">
                      <a:txBody>
                        <a:bodyPr/>
                        <a:lstStyle/>
                        <a:p>
                          <a:pPr algn="ctr" rtl="0">
                            <a:buNone/>
                          </a:pPr>
                          <a:r>
                            <a:rPr lang="ko-KR" altLang="en-US" sz="1200" b="1" dirty="0">
                              <a:solidFill>
                                <a:srgbClr val="1F1F1F"/>
                              </a:solidFill>
                              <a:effectLst/>
                              <a:latin typeface="+mn-lt"/>
                            </a:rPr>
                            <a:t>데이터 구조</a:t>
                          </a:r>
                          <a:endParaRPr lang="ko-KR" altLang="en-US" sz="1200" dirty="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200" b="1" dirty="0" err="1">
                              <a:solidFill>
                                <a:srgbClr val="FF0000"/>
                              </a:solidFill>
                              <a:effectLst/>
                              <a:latin typeface="+mn-lt"/>
                            </a:rPr>
                            <a:t>텐서</a:t>
                          </a:r>
                          <a:r>
                            <a:rPr lang="ko-KR" altLang="en-US" sz="1200" b="1" dirty="0">
                              <a:solidFill>
                                <a:srgbClr val="FF0000"/>
                              </a:solidFill>
                              <a:effectLst/>
                              <a:latin typeface="+mn-lt"/>
                            </a:rPr>
                            <a:t> </a:t>
                          </a:r>
                          <a:r>
                            <a:rPr lang="en-US" altLang="ko-KR" sz="1200" b="1" dirty="0">
                              <a:solidFill>
                                <a:srgbClr val="FF0000"/>
                              </a:solidFill>
                              <a:effectLst/>
                              <a:latin typeface="+mn-lt"/>
                            </a:rPr>
                            <a:t>(</a:t>
                          </a:r>
                          <a:r>
                            <a:rPr lang="en-US" sz="1200" b="1" dirty="0">
                              <a:solidFill>
                                <a:srgbClr val="FF0000"/>
                              </a:solidFill>
                              <a:effectLst/>
                              <a:latin typeface="+mn-lt"/>
                            </a:rPr>
                            <a:t>Tensor)</a:t>
                          </a:r>
                          <a:endParaRPr lang="en-US" sz="1200" dirty="0">
                            <a:solidFill>
                              <a:srgbClr val="FF0000"/>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en-US" altLang="ko-KR" sz="1100" dirty="0">
                              <a:solidFill>
                                <a:srgbClr val="1F1F1F"/>
                              </a:solidFill>
                              <a:effectLst/>
                              <a:latin typeface="+mn-lt"/>
                            </a:rPr>
                            <a:t>TensorFlow</a:t>
                          </a:r>
                          <a:r>
                            <a:rPr lang="ko-KR" altLang="en-US" sz="1100" dirty="0">
                              <a:solidFill>
                                <a:srgbClr val="1F1F1F"/>
                              </a:solidFill>
                              <a:effectLst/>
                              <a:latin typeface="+mn-lt"/>
                            </a:rPr>
                            <a:t>에서 사용되는 가장 기본적인 데이터 구조로</a:t>
                          </a:r>
                          <a:r>
                            <a:rPr lang="en-US" altLang="ko-KR" sz="1100" dirty="0">
                              <a:solidFill>
                                <a:srgbClr val="1F1F1F"/>
                              </a:solidFill>
                              <a:effectLst/>
                              <a:latin typeface="+mn-lt"/>
                            </a:rPr>
                            <a:t>, </a:t>
                          </a:r>
                          <a:r>
                            <a:rPr lang="ko-KR" altLang="en-US" sz="1100" dirty="0">
                              <a:solidFill>
                                <a:srgbClr val="1F1F1F"/>
                              </a:solidFill>
                              <a:effectLst/>
                              <a:latin typeface="+mn-lt"/>
                            </a:rPr>
                            <a:t>다차원 배열 형태를 가집니다</a:t>
                          </a:r>
                          <a:r>
                            <a:rPr lang="en-US" altLang="ko-KR" sz="1100" dirty="0">
                              <a:solidFill>
                                <a:srgbClr val="1F1F1F"/>
                              </a:solidFill>
                              <a:effectLst/>
                              <a:latin typeface="+mn-lt"/>
                            </a:rPr>
                            <a:t>.</a:t>
                          </a: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7221491"/>
                      </a:ext>
                    </a:extLst>
                  </a:tr>
                  <a:tr h="490277">
                    <a:tc vMerge="1">
                      <a:txBody>
                        <a:bodyPr/>
                        <a:lstStyle/>
                        <a:p>
                          <a:pPr algn="ctr" rtl="0">
                            <a:buNone/>
                          </a:pPr>
                          <a:endParaRPr lang="ko-KR" altLang="en-US" sz="1200" dirty="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200" b="1" dirty="0">
                              <a:solidFill>
                                <a:srgbClr val="1F1F1F"/>
                              </a:solidFill>
                              <a:effectLst/>
                              <a:latin typeface="+mn-lt"/>
                            </a:rPr>
                            <a:t>랭크 </a:t>
                          </a:r>
                          <a:r>
                            <a:rPr lang="en-US" altLang="ko-KR" sz="1200" b="1" dirty="0">
                              <a:solidFill>
                                <a:srgbClr val="1F1F1F"/>
                              </a:solidFill>
                              <a:effectLst/>
                              <a:latin typeface="+mn-lt"/>
                            </a:rPr>
                            <a:t>(</a:t>
                          </a:r>
                          <a:r>
                            <a:rPr lang="en-US" sz="1200" b="1" dirty="0">
                              <a:solidFill>
                                <a:srgbClr val="1F1F1F"/>
                              </a:solidFill>
                              <a:effectLst/>
                              <a:latin typeface="+mn-lt"/>
                            </a:rPr>
                            <a:t>Rank)</a:t>
                          </a:r>
                          <a:endParaRPr lang="en-US" sz="1200" dirty="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100" dirty="0" err="1">
                              <a:solidFill>
                                <a:srgbClr val="1F1F1F"/>
                              </a:solidFill>
                              <a:effectLst/>
                              <a:latin typeface="+mn-lt"/>
                            </a:rPr>
                            <a:t>텐서가</a:t>
                          </a:r>
                          <a:r>
                            <a:rPr lang="ko-KR" altLang="en-US" sz="1100" dirty="0">
                              <a:solidFill>
                                <a:srgbClr val="1F1F1F"/>
                              </a:solidFill>
                              <a:effectLst/>
                              <a:latin typeface="+mn-lt"/>
                            </a:rPr>
                            <a:t> 몇 차원인지를 나타내며</a:t>
                          </a:r>
                          <a:r>
                            <a:rPr lang="en-US" altLang="ko-KR" sz="1100" dirty="0">
                              <a:solidFill>
                                <a:srgbClr val="1F1F1F"/>
                              </a:solidFill>
                              <a:effectLst/>
                              <a:latin typeface="+mn-lt"/>
                            </a:rPr>
                            <a:t>, </a:t>
                          </a:r>
                          <a:r>
                            <a:rPr lang="ko-KR" altLang="en-US" sz="1100" dirty="0">
                              <a:solidFill>
                                <a:srgbClr val="1F1F1F"/>
                              </a:solidFill>
                              <a:effectLst/>
                              <a:latin typeface="+mn-lt"/>
                            </a:rPr>
                            <a:t>스칼라는 </a:t>
                          </a:r>
                          <a:r>
                            <a:rPr lang="en-US" altLang="ko-KR" sz="1100" dirty="0">
                              <a:solidFill>
                                <a:srgbClr val="1F1F1F"/>
                              </a:solidFill>
                              <a:effectLst/>
                              <a:latin typeface="+mn-lt"/>
                            </a:rPr>
                            <a:t>0, </a:t>
                          </a:r>
                          <a:r>
                            <a:rPr lang="ko-KR" altLang="en-US" sz="1100" dirty="0">
                              <a:solidFill>
                                <a:srgbClr val="1F1F1F"/>
                              </a:solidFill>
                              <a:effectLst/>
                              <a:latin typeface="+mn-lt"/>
                            </a:rPr>
                            <a:t>벡터는 </a:t>
                          </a:r>
                          <a:r>
                            <a:rPr lang="en-US" altLang="ko-KR" sz="1100" dirty="0">
                              <a:solidFill>
                                <a:srgbClr val="1F1F1F"/>
                              </a:solidFill>
                              <a:effectLst/>
                              <a:latin typeface="+mn-lt"/>
                            </a:rPr>
                            <a:t>1, </a:t>
                          </a:r>
                          <a:r>
                            <a:rPr lang="ko-KR" altLang="en-US" sz="1100" dirty="0">
                              <a:solidFill>
                                <a:srgbClr val="1F1F1F"/>
                              </a:solidFill>
                              <a:effectLst/>
                              <a:latin typeface="+mn-lt"/>
                            </a:rPr>
                            <a:t>행렬은 </a:t>
                          </a:r>
                          <a:r>
                            <a:rPr lang="en-US" altLang="ko-KR" sz="1100" dirty="0">
                              <a:solidFill>
                                <a:srgbClr val="1F1F1F"/>
                              </a:solidFill>
                              <a:effectLst/>
                              <a:latin typeface="+mn-lt"/>
                            </a:rPr>
                            <a:t>2</a:t>
                          </a:r>
                          <a:r>
                            <a:rPr lang="ko-KR" altLang="en-US" sz="1100" dirty="0">
                              <a:solidFill>
                                <a:srgbClr val="1F1F1F"/>
                              </a:solidFill>
                              <a:effectLst/>
                              <a:latin typeface="+mn-lt"/>
                            </a:rPr>
                            <a:t>의 값을 가집니다</a:t>
                          </a:r>
                          <a:r>
                            <a:rPr lang="en-US" altLang="ko-KR" sz="1100" dirty="0">
                              <a:solidFill>
                                <a:srgbClr val="1F1F1F"/>
                              </a:solidFill>
                              <a:effectLst/>
                              <a:latin typeface="+mn-lt"/>
                            </a:rPr>
                            <a:t>.</a:t>
                          </a: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045523"/>
                      </a:ext>
                    </a:extLst>
                  </a:tr>
                  <a:tr h="490277">
                    <a:tc vMerge="1">
                      <a:txBody>
                        <a:bodyPr/>
                        <a:lstStyle/>
                        <a:p>
                          <a:pPr algn="ctr" rtl="0">
                            <a:buNone/>
                          </a:pPr>
                          <a:endParaRPr lang="ko-KR" altLang="en-US" sz="1200" dirty="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200" b="1" dirty="0" err="1">
                              <a:solidFill>
                                <a:srgbClr val="1F1F1F"/>
                              </a:solidFill>
                              <a:effectLst/>
                              <a:latin typeface="+mn-lt"/>
                            </a:rPr>
                            <a:t>쉐이프</a:t>
                          </a:r>
                          <a:r>
                            <a:rPr lang="ko-KR" altLang="en-US" sz="1200" b="1" dirty="0">
                              <a:solidFill>
                                <a:srgbClr val="1F1F1F"/>
                              </a:solidFill>
                              <a:effectLst/>
                              <a:latin typeface="+mn-lt"/>
                            </a:rPr>
                            <a:t> </a:t>
                          </a:r>
                          <a:r>
                            <a:rPr lang="en-US" altLang="ko-KR" sz="1200" b="1" dirty="0">
                              <a:solidFill>
                                <a:srgbClr val="1F1F1F"/>
                              </a:solidFill>
                              <a:effectLst/>
                              <a:latin typeface="+mn-lt"/>
                            </a:rPr>
                            <a:t>(</a:t>
                          </a:r>
                          <a:r>
                            <a:rPr lang="en-US" sz="1200" b="1" dirty="0">
                              <a:solidFill>
                                <a:srgbClr val="1F1F1F"/>
                              </a:solidFill>
                              <a:effectLst/>
                              <a:latin typeface="+mn-lt"/>
                            </a:rPr>
                            <a:t>Shape)</a:t>
                          </a:r>
                          <a:endParaRPr lang="en-US" sz="1200" dirty="0">
                            <a:solidFill>
                              <a:srgbClr val="1F1F1F"/>
                            </a:solidFill>
                            <a:effectLst/>
                            <a:latin typeface="+mn-lt"/>
                          </a:endParaRP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r>
                            <a:rPr lang="ko-KR" altLang="en-US" sz="1100" dirty="0" err="1">
                              <a:solidFill>
                                <a:srgbClr val="1F1F1F"/>
                              </a:solidFill>
                              <a:effectLst/>
                              <a:latin typeface="+mn-lt"/>
                            </a:rPr>
                            <a:t>텐서의</a:t>
                          </a:r>
                          <a:r>
                            <a:rPr lang="ko-KR" altLang="en-US" sz="1100" dirty="0">
                              <a:solidFill>
                                <a:srgbClr val="1F1F1F"/>
                              </a:solidFill>
                              <a:effectLst/>
                              <a:latin typeface="+mn-lt"/>
                            </a:rPr>
                            <a:t> 각 차원에 데이터가 몇 개씩 들어있는지 그 구조를 나타내는 정보입니다</a:t>
                          </a:r>
                          <a:r>
                            <a:rPr lang="en-US" altLang="ko-KR" sz="1100" dirty="0">
                              <a:solidFill>
                                <a:srgbClr val="1F1F1F"/>
                              </a:solidFill>
                              <a:effectLst/>
                              <a:latin typeface="+mn-lt"/>
                            </a:rPr>
                            <a:t>.</a:t>
                          </a:r>
                        </a:p>
                      </a:txBody>
                      <a:tcPr marL="33166" marR="33166" marT="22110" marB="221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7696600"/>
                      </a:ext>
                    </a:extLst>
                  </a:tr>
                </a:tbl>
              </a:graphicData>
            </a:graphic>
          </p:graphicFrame>
        </mc:Fallback>
      </mc:AlternateContent>
    </p:spTree>
    <p:extLst>
      <p:ext uri="{BB962C8B-B14F-4D97-AF65-F5344CB8AC3E}">
        <p14:creationId xmlns:p14="http://schemas.microsoft.com/office/powerpoint/2010/main" val="2946447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713AA-8EF8-157B-D6D0-DB57E3341B4D}"/>
            </a:ext>
          </a:extLst>
        </p:cNvPr>
        <p:cNvGrpSpPr/>
        <p:nvPr/>
      </p:nvGrpSpPr>
      <p:grpSpPr>
        <a:xfrm>
          <a:off x="0" y="0"/>
          <a:ext cx="0" cy="0"/>
          <a:chOff x="0" y="0"/>
          <a:chExt cx="0" cy="0"/>
        </a:xfrm>
      </p:grpSpPr>
      <p:pic>
        <p:nvPicPr>
          <p:cNvPr id="3" name="그림 2">
            <a:extLst>
              <a:ext uri="{FF2B5EF4-FFF2-40B4-BE49-F238E27FC236}">
                <a16:creationId xmlns:a16="http://schemas.microsoft.com/office/drawing/2014/main" id="{C0DFE2DB-A372-E11D-7399-715132D4ECC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325490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F3A919E-FFDF-FD43-3C28-0A47AE03F79E}"/>
              </a:ext>
            </a:extLst>
          </p:cNvPr>
          <p:cNvSpPr txBox="1"/>
          <p:nvPr/>
        </p:nvSpPr>
        <p:spPr>
          <a:xfrm>
            <a:off x="361950" y="2120900"/>
            <a:ext cx="11245850" cy="2092881"/>
          </a:xfrm>
          <a:prstGeom prst="rect">
            <a:avLst/>
          </a:prstGeom>
          <a:noFill/>
        </p:spPr>
        <p:txBody>
          <a:bodyPr wrap="square" rtlCol="0">
            <a:spAutoFit/>
          </a:bodyPr>
          <a:lstStyle/>
          <a:p>
            <a:pPr algn="ctr"/>
            <a:r>
              <a:rPr lang="en-US" altLang="ko-KR" sz="5000" dirty="0"/>
              <a:t>TF </a:t>
            </a:r>
            <a:r>
              <a:rPr lang="ko-KR" altLang="en-US" sz="5000" dirty="0"/>
              <a:t>버전 차이에 따른</a:t>
            </a:r>
            <a:endParaRPr lang="en-US" altLang="ko-KR" sz="5000" dirty="0"/>
          </a:p>
          <a:p>
            <a:pPr algn="ctr"/>
            <a:r>
              <a:rPr lang="ko-KR" altLang="en-US" sz="5000" dirty="0"/>
              <a:t>오류 수정</a:t>
            </a:r>
            <a:br>
              <a:rPr lang="en-US" altLang="ko-KR" sz="5000" dirty="0"/>
            </a:br>
            <a:r>
              <a:rPr lang="en-US" altLang="ko-KR" sz="3000" dirty="0"/>
              <a:t>(</a:t>
            </a:r>
            <a:r>
              <a:rPr lang="ko-KR" altLang="en-US" sz="3000" dirty="0"/>
              <a:t>강의 영상</a:t>
            </a:r>
            <a:r>
              <a:rPr lang="en-US" altLang="ko-KR" sz="3000" dirty="0"/>
              <a:t>: TF 1.x </a:t>
            </a:r>
            <a:r>
              <a:rPr lang="ko-KR" altLang="en-US" sz="3000" dirty="0"/>
              <a:t>버전 </a:t>
            </a:r>
            <a:r>
              <a:rPr lang="en-US" altLang="ko-KR" sz="3000" dirty="0"/>
              <a:t>/ </a:t>
            </a:r>
            <a:r>
              <a:rPr lang="ko-KR" altLang="en-US" sz="3000" dirty="0"/>
              <a:t>현재 </a:t>
            </a:r>
            <a:r>
              <a:rPr lang="en-US" altLang="ko-KR" sz="3000" dirty="0"/>
              <a:t>TF 2.x </a:t>
            </a:r>
            <a:r>
              <a:rPr lang="ko-KR" altLang="en-US" sz="3000" dirty="0"/>
              <a:t>버전</a:t>
            </a:r>
            <a:r>
              <a:rPr lang="en-US" altLang="ko-KR" sz="3000" dirty="0"/>
              <a:t>)</a:t>
            </a:r>
            <a:endParaRPr lang="ko-KR" altLang="en-US" sz="3000" dirty="0"/>
          </a:p>
        </p:txBody>
      </p:sp>
    </p:spTree>
    <p:extLst>
      <p:ext uri="{BB962C8B-B14F-4D97-AF65-F5344CB8AC3E}">
        <p14:creationId xmlns:p14="http://schemas.microsoft.com/office/powerpoint/2010/main" val="2397436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45"/>
          <p:cNvSpPr txBox="1">
            <a:spLocks noGrp="1"/>
          </p:cNvSpPr>
          <p:nvPr>
            <p:ph type="title"/>
          </p:nvPr>
        </p:nvSpPr>
        <p:spPr>
          <a:xfrm>
            <a:off x="2416968" y="178593"/>
            <a:ext cx="7358000" cy="1714400"/>
          </a:xfrm>
          <a:prstGeom prst="rect">
            <a:avLst/>
          </a:prstGeom>
          <a:noFill/>
          <a:ln>
            <a:noFill/>
          </a:ln>
        </p:spPr>
        <p:txBody>
          <a:bodyPr spcFirstLastPara="1" vert="horz" wrap="square" lIns="35700" tIns="35700" rIns="35700" bIns="35700" rtlCol="0" anchor="ctr" anchorCtr="0">
            <a:noAutofit/>
          </a:bodyPr>
          <a:lstStyle/>
          <a:p>
            <a:r>
              <a:rPr lang="en-US" dirty="0">
                <a:latin typeface="+mn-lt"/>
              </a:rPr>
              <a:t>Session</a:t>
            </a:r>
            <a:r>
              <a:rPr lang="ko-KR" altLang="en-US" dirty="0">
                <a:latin typeface="+mn-lt"/>
              </a:rPr>
              <a:t> 사용 안함</a:t>
            </a:r>
            <a:endParaRPr dirty="0">
              <a:latin typeface="+mn-lt"/>
            </a:endParaRPr>
          </a:p>
        </p:txBody>
      </p:sp>
      <p:pic>
        <p:nvPicPr>
          <p:cNvPr id="230" name="Google Shape;230;p45"/>
          <p:cNvPicPr preferRelativeResize="0"/>
          <p:nvPr/>
        </p:nvPicPr>
        <p:blipFill>
          <a:blip r:embed="rId3">
            <a:alphaModFix/>
          </a:blip>
          <a:stretch>
            <a:fillRect/>
          </a:stretch>
        </p:blipFill>
        <p:spPr>
          <a:xfrm>
            <a:off x="76201" y="1969295"/>
            <a:ext cx="12039599" cy="3378771"/>
          </a:xfrm>
          <a:prstGeom prst="rect">
            <a:avLst/>
          </a:prstGeom>
          <a:noFill/>
          <a:ln>
            <a:noFill/>
          </a:ln>
        </p:spPr>
      </p:pic>
      <p:sp>
        <p:nvSpPr>
          <p:cNvPr id="231" name="Google Shape;231;p45"/>
          <p:cNvSpPr txBox="1"/>
          <p:nvPr/>
        </p:nvSpPr>
        <p:spPr>
          <a:xfrm>
            <a:off x="1185933" y="5525933"/>
            <a:ext cx="10562000" cy="577600"/>
          </a:xfrm>
          <a:prstGeom prst="rect">
            <a:avLst/>
          </a:prstGeom>
          <a:noFill/>
          <a:ln>
            <a:noFill/>
          </a:ln>
        </p:spPr>
        <p:txBody>
          <a:bodyPr spcFirstLastPara="1" wrap="square" lIns="121900" tIns="121900" rIns="121900" bIns="121900" anchor="t" anchorCtr="0">
            <a:noAutofit/>
          </a:bodyPr>
          <a:lstStyle/>
          <a:p>
            <a:r>
              <a:rPr lang="en" sz="2133" dirty="0"/>
              <a:t>b’String’  ‘</a:t>
            </a:r>
            <a:r>
              <a:rPr lang="en" sz="2133" b="1" dirty="0"/>
              <a:t>b</a:t>
            </a:r>
            <a:r>
              <a:rPr lang="en" sz="2133" dirty="0"/>
              <a:t>’ indicates </a:t>
            </a:r>
            <a:r>
              <a:rPr lang="en" sz="2133" i="1" dirty="0"/>
              <a:t>Bytes literals</a:t>
            </a:r>
            <a:r>
              <a:rPr lang="en" sz="2133" dirty="0"/>
              <a:t>.  http://stackoverflow.com/questions/6269765/</a:t>
            </a:r>
            <a:endParaRPr sz="2133" dirty="0"/>
          </a:p>
        </p:txBody>
      </p:sp>
      <p:sp>
        <p:nvSpPr>
          <p:cNvPr id="2" name="곱하기 기호 1">
            <a:extLst>
              <a:ext uri="{FF2B5EF4-FFF2-40B4-BE49-F238E27FC236}">
                <a16:creationId xmlns:a16="http://schemas.microsoft.com/office/drawing/2014/main" id="{102105DA-14E6-68B3-33CF-26E8EE215188}"/>
              </a:ext>
            </a:extLst>
          </p:cNvPr>
          <p:cNvSpPr/>
          <p:nvPr/>
        </p:nvSpPr>
        <p:spPr>
          <a:xfrm>
            <a:off x="484908" y="3497791"/>
            <a:ext cx="3864121" cy="1514375"/>
          </a:xfrm>
          <a:prstGeom prst="mathMultiply">
            <a:avLst/>
          </a:prstGeom>
          <a:solidFill>
            <a:srgbClr val="FF000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3" name="TextBox 2">
            <a:extLst>
              <a:ext uri="{FF2B5EF4-FFF2-40B4-BE49-F238E27FC236}">
                <a16:creationId xmlns:a16="http://schemas.microsoft.com/office/drawing/2014/main" id="{BA5CBB4C-2D60-61D4-9F76-511E6451CF04}"/>
              </a:ext>
            </a:extLst>
          </p:cNvPr>
          <p:cNvSpPr txBox="1"/>
          <p:nvPr/>
        </p:nvSpPr>
        <p:spPr>
          <a:xfrm>
            <a:off x="4101951" y="3716271"/>
            <a:ext cx="7605143" cy="830997"/>
          </a:xfrm>
          <a:prstGeom prst="rect">
            <a:avLst/>
          </a:prstGeom>
          <a:noFill/>
        </p:spPr>
        <p:txBody>
          <a:bodyPr wrap="square" rtlCol="0">
            <a:spAutoFit/>
          </a:bodyPr>
          <a:lstStyle/>
          <a:p>
            <a:pPr marL="228594" indent="-228594">
              <a:buFont typeface="Wingdings" panose="05000000000000000000" pitchFamily="2" charset="2"/>
              <a:buChar char="è"/>
            </a:pPr>
            <a:r>
              <a:rPr lang="en-US" altLang="ko-KR" sz="1600" dirty="0"/>
              <a:t>TF 2.x</a:t>
            </a:r>
            <a:r>
              <a:rPr lang="ko-KR" altLang="en-US" sz="1600" dirty="0"/>
              <a:t> 버전에서는 </a:t>
            </a:r>
            <a:r>
              <a:rPr lang="en-US" altLang="ko-KR" sz="1600" dirty="0"/>
              <a:t>Session</a:t>
            </a:r>
            <a:r>
              <a:rPr lang="ko-KR" altLang="en-US" sz="1600" dirty="0"/>
              <a:t>을 사용하지 않는 </a:t>
            </a:r>
            <a:r>
              <a:rPr lang="en-US" altLang="ko-KR" sz="1600" dirty="0"/>
              <a:t>eager execution </a:t>
            </a:r>
            <a:r>
              <a:rPr lang="ko-KR" altLang="en-US" sz="1600" dirty="0"/>
              <a:t>방식으로 변경</a:t>
            </a:r>
            <a:endParaRPr lang="en-US" altLang="ko-KR" sz="1600" dirty="0"/>
          </a:p>
          <a:p>
            <a:pPr marL="228594" indent="-228594">
              <a:buFont typeface="Wingdings" panose="05000000000000000000" pitchFamily="2" charset="2"/>
              <a:buChar char="è"/>
            </a:pPr>
            <a:endParaRPr lang="en-US" altLang="ko-KR" sz="1600" dirty="0"/>
          </a:p>
          <a:p>
            <a:pPr marL="228594" indent="-228594">
              <a:buFont typeface="Wingdings" panose="05000000000000000000" pitchFamily="2" charset="2"/>
              <a:buChar char="è"/>
            </a:pPr>
            <a:r>
              <a:rPr lang="en-US" altLang="ko-KR" sz="1600" dirty="0"/>
              <a:t>print(hello.</a:t>
            </a:r>
            <a:r>
              <a:rPr lang="en-US" altLang="ko-KR" sz="1600" b="1" dirty="0">
                <a:solidFill>
                  <a:srgbClr val="FF0000"/>
                </a:solidFill>
              </a:rPr>
              <a:t>numpy()</a:t>
            </a:r>
            <a:r>
              <a:rPr lang="en-US" altLang="ko-KR" sz="1600" dirty="0"/>
              <a:t>)  # </a:t>
            </a:r>
            <a:r>
              <a:rPr lang="en-US" altLang="ko-KR" sz="1600" dirty="0" err="1"/>
              <a:t>node.numpy</a:t>
            </a:r>
            <a:r>
              <a:rPr lang="en-US" altLang="ko-KR" sz="1600" dirty="0"/>
              <a:t>() </a:t>
            </a:r>
            <a:r>
              <a:rPr lang="ko-KR" altLang="en-US" sz="1600" dirty="0"/>
              <a:t>로 </a:t>
            </a:r>
            <a:r>
              <a:rPr lang="en-US" altLang="ko-KR" sz="1600" dirty="0"/>
              <a:t>node</a:t>
            </a:r>
            <a:r>
              <a:rPr lang="ko-KR" altLang="en-US" sz="1600" dirty="0"/>
              <a:t> 수행</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49"/>
          <p:cNvSpPr txBox="1">
            <a:spLocks noGrp="1"/>
          </p:cNvSpPr>
          <p:nvPr>
            <p:ph type="title"/>
          </p:nvPr>
        </p:nvSpPr>
        <p:spPr>
          <a:xfrm>
            <a:off x="2416968" y="178593"/>
            <a:ext cx="7358000" cy="1714400"/>
          </a:xfrm>
          <a:prstGeom prst="rect">
            <a:avLst/>
          </a:prstGeom>
        </p:spPr>
        <p:txBody>
          <a:bodyPr spcFirstLastPara="1" vert="horz" wrap="square" lIns="45700" tIns="45700" rIns="45700" bIns="45700" rtlCol="0" anchor="ctr" anchorCtr="0">
            <a:noAutofit/>
          </a:bodyPr>
          <a:lstStyle/>
          <a:p>
            <a:r>
              <a:rPr lang="en" dirty="0"/>
              <a:t>Placeholder </a:t>
            </a:r>
            <a:r>
              <a:rPr lang="ko-KR" altLang="en-US" dirty="0"/>
              <a:t>개념 삭제</a:t>
            </a:r>
            <a:endParaRPr dirty="0"/>
          </a:p>
        </p:txBody>
      </p:sp>
      <p:pic>
        <p:nvPicPr>
          <p:cNvPr id="273" name="Google Shape;273;p49"/>
          <p:cNvPicPr preferRelativeResize="0"/>
          <p:nvPr/>
        </p:nvPicPr>
        <p:blipFill>
          <a:blip r:embed="rId3">
            <a:alphaModFix/>
          </a:blip>
          <a:stretch>
            <a:fillRect/>
          </a:stretch>
        </p:blipFill>
        <p:spPr>
          <a:xfrm>
            <a:off x="76200" y="2855119"/>
            <a:ext cx="12039605" cy="2302997"/>
          </a:xfrm>
          <a:prstGeom prst="rect">
            <a:avLst/>
          </a:prstGeom>
          <a:noFill/>
          <a:ln>
            <a:noFill/>
          </a:ln>
        </p:spPr>
      </p:pic>
      <p:sp>
        <p:nvSpPr>
          <p:cNvPr id="2" name="곱하기 기호 1">
            <a:extLst>
              <a:ext uri="{FF2B5EF4-FFF2-40B4-BE49-F238E27FC236}">
                <a16:creationId xmlns:a16="http://schemas.microsoft.com/office/drawing/2014/main" id="{795932F4-7754-4CED-AAC3-FBE3D765C405}"/>
              </a:ext>
            </a:extLst>
          </p:cNvPr>
          <p:cNvSpPr/>
          <p:nvPr/>
        </p:nvSpPr>
        <p:spPr>
          <a:xfrm>
            <a:off x="-655735" y="1892993"/>
            <a:ext cx="9290060" cy="3640837"/>
          </a:xfrm>
          <a:prstGeom prst="mathMultiply">
            <a:avLst/>
          </a:prstGeom>
          <a:solidFill>
            <a:srgbClr val="FF000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1">
          <a:extLst>
            <a:ext uri="{FF2B5EF4-FFF2-40B4-BE49-F238E27FC236}">
              <a16:creationId xmlns:a16="http://schemas.microsoft.com/office/drawing/2014/main" id="{467C6B7A-8753-5355-7815-3A5CE6544B3A}"/>
            </a:ext>
          </a:extLst>
        </p:cNvPr>
        <p:cNvGrpSpPr/>
        <p:nvPr/>
      </p:nvGrpSpPr>
      <p:grpSpPr>
        <a:xfrm>
          <a:off x="0" y="0"/>
          <a:ext cx="0" cy="0"/>
          <a:chOff x="0" y="0"/>
          <a:chExt cx="0" cy="0"/>
        </a:xfrm>
      </p:grpSpPr>
      <p:sp>
        <p:nvSpPr>
          <p:cNvPr id="272" name="Google Shape;272;p49">
            <a:extLst>
              <a:ext uri="{FF2B5EF4-FFF2-40B4-BE49-F238E27FC236}">
                <a16:creationId xmlns:a16="http://schemas.microsoft.com/office/drawing/2014/main" id="{83FA496C-2320-2D0B-9BBD-8DE316AFF9D8}"/>
              </a:ext>
            </a:extLst>
          </p:cNvPr>
          <p:cNvSpPr txBox="1">
            <a:spLocks noGrp="1"/>
          </p:cNvSpPr>
          <p:nvPr>
            <p:ph type="title"/>
          </p:nvPr>
        </p:nvSpPr>
        <p:spPr>
          <a:xfrm>
            <a:off x="2086402" y="178593"/>
            <a:ext cx="8019132" cy="1714400"/>
          </a:xfrm>
          <a:prstGeom prst="rect">
            <a:avLst/>
          </a:prstGeom>
        </p:spPr>
        <p:txBody>
          <a:bodyPr spcFirstLastPara="1" vert="horz" wrap="square" lIns="45700" tIns="45700" rIns="45700" bIns="45700" rtlCol="0" anchor="ctr" anchorCtr="0">
            <a:noAutofit/>
          </a:bodyPr>
          <a:lstStyle/>
          <a:p>
            <a:r>
              <a:rPr lang="en" dirty="0"/>
              <a:t>Placeholder </a:t>
            </a:r>
            <a:r>
              <a:rPr lang="ko-KR" altLang="en-US" dirty="0"/>
              <a:t>대신</a:t>
            </a:r>
            <a:br>
              <a:rPr lang="en-US" altLang="ko-KR" dirty="0"/>
            </a:br>
            <a:r>
              <a:rPr lang="ko-KR" altLang="en-US" b="1" dirty="0"/>
              <a:t>일반적인 </a:t>
            </a:r>
            <a:r>
              <a:rPr lang="en-US" altLang="ko-KR" b="1" dirty="0"/>
              <a:t>Python </a:t>
            </a:r>
            <a:r>
              <a:rPr lang="ko-KR" altLang="en-US" b="1" dirty="0"/>
              <a:t>함수 사용</a:t>
            </a:r>
            <a:endParaRPr b="1" dirty="0"/>
          </a:p>
        </p:txBody>
      </p:sp>
      <p:pic>
        <p:nvPicPr>
          <p:cNvPr id="6" name="그림 5" descr="텍스트, 스크린샷, 폰트이(가) 표시된 사진&#10;&#10;AI 생성 콘텐츠는 정확하지 않을 수 있습니다.">
            <a:extLst>
              <a:ext uri="{FF2B5EF4-FFF2-40B4-BE49-F238E27FC236}">
                <a16:creationId xmlns:a16="http://schemas.microsoft.com/office/drawing/2014/main" id="{91183D9C-D282-8D35-0923-B375BF14033A}"/>
              </a:ext>
            </a:extLst>
          </p:cNvPr>
          <p:cNvPicPr>
            <a:picLocks noChangeAspect="1"/>
          </p:cNvPicPr>
          <p:nvPr/>
        </p:nvPicPr>
        <p:blipFill>
          <a:blip r:embed="rId3"/>
          <a:stretch>
            <a:fillRect/>
          </a:stretch>
        </p:blipFill>
        <p:spPr>
          <a:xfrm>
            <a:off x="2445234" y="2466409"/>
            <a:ext cx="7747849" cy="3162108"/>
          </a:xfrm>
          <a:prstGeom prst="rect">
            <a:avLst/>
          </a:prstGeom>
        </p:spPr>
      </p:pic>
    </p:spTree>
    <p:extLst>
      <p:ext uri="{BB962C8B-B14F-4D97-AF65-F5344CB8AC3E}">
        <p14:creationId xmlns:p14="http://schemas.microsoft.com/office/powerpoint/2010/main" val="1668205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8">
          <a:extLst>
            <a:ext uri="{FF2B5EF4-FFF2-40B4-BE49-F238E27FC236}">
              <a16:creationId xmlns:a16="http://schemas.microsoft.com/office/drawing/2014/main" id="{5A81B2E0-D8FF-E122-8F20-F23DB2F942FA}"/>
            </a:ext>
          </a:extLst>
        </p:cNvPr>
        <p:cNvGrpSpPr/>
        <p:nvPr/>
      </p:nvGrpSpPr>
      <p:grpSpPr>
        <a:xfrm>
          <a:off x="0" y="0"/>
          <a:ext cx="0" cy="0"/>
          <a:chOff x="0" y="0"/>
          <a:chExt cx="0" cy="0"/>
        </a:xfrm>
      </p:grpSpPr>
      <p:pic>
        <p:nvPicPr>
          <p:cNvPr id="9" name="그림 8" descr="텍스트, 스크린샷, 소프트웨어이(가) 표시된 사진&#10;&#10;AI 생성 콘텐츠는 정확하지 않을 수 있습니다.">
            <a:extLst>
              <a:ext uri="{FF2B5EF4-FFF2-40B4-BE49-F238E27FC236}">
                <a16:creationId xmlns:a16="http://schemas.microsoft.com/office/drawing/2014/main" id="{8A008717-79A0-8946-1377-3AFE8D3287E5}"/>
              </a:ext>
            </a:extLst>
          </p:cNvPr>
          <p:cNvPicPr>
            <a:picLocks noChangeAspect="1"/>
          </p:cNvPicPr>
          <p:nvPr/>
        </p:nvPicPr>
        <p:blipFill>
          <a:blip r:embed="rId5"/>
          <a:stretch>
            <a:fillRect/>
          </a:stretch>
        </p:blipFill>
        <p:spPr>
          <a:xfrm>
            <a:off x="574154" y="1276350"/>
            <a:ext cx="5521846" cy="5200650"/>
          </a:xfrm>
          <a:prstGeom prst="rect">
            <a:avLst/>
          </a:prstGeom>
        </p:spPr>
      </p:pic>
      <p:pic>
        <p:nvPicPr>
          <p:cNvPr id="10" name="20260115-1558-05.2219933">
            <a:hlinkClick r:id="" action="ppaction://media"/>
            <a:extLst>
              <a:ext uri="{FF2B5EF4-FFF2-40B4-BE49-F238E27FC236}">
                <a16:creationId xmlns:a16="http://schemas.microsoft.com/office/drawing/2014/main" id="{85174739-A1CD-93DC-9CF7-A36ADE9A5A63}"/>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175896" y="1533525"/>
            <a:ext cx="5686425" cy="3790950"/>
          </a:xfrm>
          <a:prstGeom prst="rect">
            <a:avLst/>
          </a:prstGeom>
        </p:spPr>
      </p:pic>
      <p:sp>
        <p:nvSpPr>
          <p:cNvPr id="11" name="Google Shape;272;p49">
            <a:extLst>
              <a:ext uri="{FF2B5EF4-FFF2-40B4-BE49-F238E27FC236}">
                <a16:creationId xmlns:a16="http://schemas.microsoft.com/office/drawing/2014/main" id="{90550C3B-ABAA-AD75-CD1D-06A983492F8B}"/>
              </a:ext>
            </a:extLst>
          </p:cNvPr>
          <p:cNvSpPr txBox="1">
            <a:spLocks noGrp="1"/>
          </p:cNvSpPr>
          <p:nvPr>
            <p:ph type="title"/>
          </p:nvPr>
        </p:nvSpPr>
        <p:spPr>
          <a:xfrm>
            <a:off x="-243840" y="259080"/>
            <a:ext cx="7307580" cy="937160"/>
          </a:xfrm>
          <a:prstGeom prst="rect">
            <a:avLst/>
          </a:prstGeom>
        </p:spPr>
        <p:txBody>
          <a:bodyPr spcFirstLastPara="1" vert="horz" wrap="square" lIns="45700" tIns="45700" rIns="45700" bIns="45700" rtlCol="0" anchor="ctr" anchorCtr="0">
            <a:noAutofit/>
          </a:bodyPr>
          <a:lstStyle/>
          <a:p>
            <a:r>
              <a:rPr lang="en-US" sz="4000" b="1" dirty="0">
                <a:latin typeface="+mn-lt"/>
              </a:rPr>
              <a:t>Linear Regression Lab </a:t>
            </a:r>
            <a:r>
              <a:rPr lang="ko-KR" altLang="en-US" sz="4000" b="1" dirty="0">
                <a:latin typeface="+mn-lt"/>
              </a:rPr>
              <a:t>코드</a:t>
            </a:r>
            <a:endParaRPr sz="4000" b="1" dirty="0">
              <a:latin typeface="+mn-lt"/>
            </a:endParaRPr>
          </a:p>
        </p:txBody>
      </p:sp>
      <p:sp>
        <p:nvSpPr>
          <p:cNvPr id="12" name="Google Shape;272;p49">
            <a:extLst>
              <a:ext uri="{FF2B5EF4-FFF2-40B4-BE49-F238E27FC236}">
                <a16:creationId xmlns:a16="http://schemas.microsoft.com/office/drawing/2014/main" id="{214A3AE5-EF31-E15E-132E-C10B71B7FC8A}"/>
              </a:ext>
            </a:extLst>
          </p:cNvPr>
          <p:cNvSpPr txBox="1">
            <a:spLocks/>
          </p:cNvSpPr>
          <p:nvPr/>
        </p:nvSpPr>
        <p:spPr>
          <a:xfrm>
            <a:off x="5892844" y="5324475"/>
            <a:ext cx="6252528" cy="937160"/>
          </a:xfrm>
          <a:prstGeom prst="rect">
            <a:avLst/>
          </a:prstGeom>
          <a:noFill/>
          <a:ln>
            <a:noFill/>
          </a:ln>
        </p:spPr>
        <p:txBody>
          <a:bodyPr spcFirstLastPara="1" vert="horz" wrap="square" lIns="45700" tIns="45700" rIns="45700" bIns="45700" rtlCol="0" anchor="ctr" anchorCtr="0">
            <a:noAutofit/>
          </a:bodyPr>
          <a:lstStyle>
            <a:lvl1pPr marL="0" marR="0" lvl="0" indent="0" algn="ctr" defTabSz="914400" rtl="0" eaLnBrk="1" latinLnBrk="1" hangingPunct="1">
              <a:lnSpc>
                <a:spcPct val="100000"/>
              </a:lnSpc>
              <a:spcBef>
                <a:spcPts val="0"/>
              </a:spcBef>
              <a:spcAft>
                <a:spcPts val="0"/>
              </a:spcAft>
              <a:buClr>
                <a:srgbClr val="000000"/>
              </a:buClr>
              <a:buSzPts val="500"/>
              <a:buFont typeface="Gill Sans"/>
              <a:buNone/>
              <a:defRPr sz="4533" b="0" i="0" u="none" strike="noStrike" kern="1200" cap="none">
                <a:solidFill>
                  <a:srgbClr val="000000"/>
                </a:solidFill>
                <a:latin typeface="Gill Sans"/>
                <a:ea typeface="Gill Sans"/>
                <a:cs typeface="Gill Sans"/>
                <a:sym typeface="Gill Sans"/>
              </a:defRPr>
            </a:lvl1pPr>
            <a:lvl2pPr marL="0" marR="0" lvl="1"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2pPr>
            <a:lvl3pPr marL="0" marR="0" lvl="2"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3pPr>
            <a:lvl4pPr marL="0" marR="0" lvl="3"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4pPr>
            <a:lvl5pPr marL="0" marR="0" lvl="4"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5pPr>
            <a:lvl6pPr marL="0" marR="0" lvl="5"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6pPr>
            <a:lvl7pPr marL="0" marR="0" lvl="6"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7pPr>
            <a:lvl8pPr marL="0" marR="0" lvl="7"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8pPr>
            <a:lvl9pPr marL="0" marR="0" lvl="8" indent="0" algn="l" rtl="0">
              <a:lnSpc>
                <a:spcPct val="90000"/>
              </a:lnSpc>
              <a:spcBef>
                <a:spcPts val="0"/>
              </a:spcBef>
              <a:spcAft>
                <a:spcPts val="0"/>
              </a:spcAft>
              <a:buClr>
                <a:srgbClr val="535353"/>
              </a:buClr>
              <a:buSzPts val="500"/>
              <a:buFont typeface="Arial"/>
              <a:buNone/>
              <a:defRPr sz="4000" b="1" i="0" u="none" strike="noStrike" cap="none">
                <a:solidFill>
                  <a:srgbClr val="535353"/>
                </a:solidFill>
                <a:latin typeface="Arial"/>
                <a:ea typeface="Arial"/>
                <a:cs typeface="Arial"/>
                <a:sym typeface="Arial"/>
              </a:defRPr>
            </a:lvl9pPr>
          </a:lstStyle>
          <a:p>
            <a:r>
              <a:rPr lang="en-US" altLang="ko-KR" sz="4000" b="1">
                <a:latin typeface="+mn-lt"/>
              </a:rPr>
              <a:t>Cost minimization </a:t>
            </a:r>
            <a:r>
              <a:rPr lang="ko-KR" altLang="en-US" sz="4000" b="1" dirty="0">
                <a:latin typeface="+mn-lt"/>
              </a:rPr>
              <a:t>과정</a:t>
            </a:r>
          </a:p>
        </p:txBody>
      </p:sp>
    </p:spTree>
    <p:extLst>
      <p:ext uri="{BB962C8B-B14F-4D97-AF65-F5344CB8AC3E}">
        <p14:creationId xmlns:p14="http://schemas.microsoft.com/office/powerpoint/2010/main" val="209269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562"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TotalTime>
  <Words>583</Words>
  <Application>Microsoft Office PowerPoint</Application>
  <PresentationFormat>와이드스크린</PresentationFormat>
  <Paragraphs>55</Paragraphs>
  <Slides>8</Slides>
  <Notes>4</Notes>
  <HiddenSlides>0</HiddenSlides>
  <MMClips>1</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8</vt:i4>
      </vt:variant>
    </vt:vector>
  </HeadingPairs>
  <TitlesOfParts>
    <vt:vector size="16" baseType="lpstr">
      <vt:lpstr>Gill Sans</vt:lpstr>
      <vt:lpstr>Noto Sans Symbols</vt:lpstr>
      <vt:lpstr>맑은 고딕</vt:lpstr>
      <vt:lpstr>Arial</vt:lpstr>
      <vt:lpstr>Calibri</vt:lpstr>
      <vt:lpstr>Cambria Math</vt:lpstr>
      <vt:lpstr>Wingdings</vt:lpstr>
      <vt:lpstr>Office 테마</vt:lpstr>
      <vt:lpstr>PowerPoint 프레젠테이션</vt:lpstr>
      <vt:lpstr>PowerPoint 프레젠테이션</vt:lpstr>
      <vt:lpstr>PowerPoint 프레젠테이션</vt:lpstr>
      <vt:lpstr>PowerPoint 프레젠테이션</vt:lpstr>
      <vt:lpstr>Session 사용 안함</vt:lpstr>
      <vt:lpstr>Placeholder 개념 삭제</vt:lpstr>
      <vt:lpstr>Placeholder 대신 일반적인 Python 함수 사용</vt:lpstr>
      <vt:lpstr>Linear Regression Lab 코드</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Felix</dc:creator>
  <cp:lastModifiedBy>Felix</cp:lastModifiedBy>
  <cp:revision>5</cp:revision>
  <dcterms:created xsi:type="dcterms:W3CDTF">2026-01-15T14:54:24Z</dcterms:created>
  <dcterms:modified xsi:type="dcterms:W3CDTF">2026-01-15T16:15:29Z</dcterms:modified>
</cp:coreProperties>
</file>