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77" r:id="rId2"/>
    <p:sldId id="279" r:id="rId3"/>
    <p:sldId id="283" r:id="rId4"/>
    <p:sldId id="284" r:id="rId5"/>
    <p:sldId id="285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77695" autoAdjust="0"/>
  </p:normalViewPr>
  <p:slideViewPr>
    <p:cSldViewPr snapToGrid="0">
      <p:cViewPr varScale="1">
        <p:scale>
          <a:sx n="123" d="100"/>
          <a:sy n="123" d="100"/>
        </p:scale>
        <p:origin x="166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77ED4A-AF2B-41B0-84A2-228B7EA4A9A6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A7A587-B29F-4E85-AF0D-45ADD318CD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97250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그 외의 </a:t>
            </a:r>
            <a:r>
              <a:rPr lang="en-US" altLang="ko-KR" dirty="0"/>
              <a:t>Cost function</a:t>
            </a:r>
          </a:p>
          <a:p>
            <a:r>
              <a:rPr lang="en-US" altLang="ko-KR" dirty="0"/>
              <a:t>MAE (Mean Absolute Error, </a:t>
            </a:r>
            <a:r>
              <a:rPr lang="ko-KR" altLang="en-US" dirty="0"/>
              <a:t>평균 절대 오차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RMSE (Root Mean Squared Error, </a:t>
            </a:r>
            <a:r>
              <a:rPr lang="ko-KR" altLang="en-US" dirty="0"/>
              <a:t>평균 제곱근 오차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Huber Loss: </a:t>
            </a:r>
            <a:r>
              <a:rPr lang="ko-KR" altLang="en-US" dirty="0"/>
              <a:t>오차가 작을 때는 </a:t>
            </a:r>
            <a:r>
              <a:rPr lang="en-US" altLang="ko-KR" dirty="0"/>
              <a:t>MSE</a:t>
            </a:r>
            <a:r>
              <a:rPr lang="ko-KR" altLang="en-US" dirty="0"/>
              <a:t>처럼 행동하고 오차가 클 때는 </a:t>
            </a:r>
            <a:r>
              <a:rPr lang="en-US" altLang="ko-KR" dirty="0"/>
              <a:t>MAE</a:t>
            </a:r>
            <a:r>
              <a:rPr lang="ko-KR" altLang="en-US" dirty="0"/>
              <a:t>처럼 행동하여 이상치에 대해 </a:t>
            </a:r>
            <a:r>
              <a:rPr lang="en-US" altLang="ko-KR" dirty="0" err="1"/>
              <a:t>lobust</a:t>
            </a:r>
            <a:r>
              <a:rPr lang="ko-KR" altLang="en-US" dirty="0"/>
              <a:t>하여 최적화에 좋음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A7A587-B29F-4E85-AF0D-45ADD318CD4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28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F8380-3F9B-B2B4-BB94-D99C7276B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7A9A77-312B-A08F-187B-D45C6763CE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675435-8C61-2278-D68D-CE11385BAB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1954F-CB9A-CACF-2DDA-46DBDD36B2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A7A587-B29F-4E85-AF0D-45ADD318CD4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33328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233FF-AD45-6347-76D4-60CC9423C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3A39DB-451E-D5D3-C881-BA7ECFD50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CF26A7-53BC-D490-F9C2-D3FC17DD98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143E12-DF4C-4661-D9E6-1F0C7D37C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A7A587-B29F-4E85-AF0D-45ADD318CD4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51918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1AA9C-1ACC-0DEF-47C1-1D9C3C1BE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3B7CAC-22F7-2D8A-2700-BCC6740B2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B80D40-D1BE-E1FE-FE38-9615D033D3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857974-94B3-E545-A9ED-39D79CE480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A7A587-B29F-4E85-AF0D-45ADD318CD4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65788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0A8FEE-DD91-88D5-C2B3-4937363EDB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09656A-8B11-1BED-6734-9C979CDB3A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7FC569-3E6A-CF80-1323-76D619F2E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9EB10-0283-4C0D-A8FE-1E7776CE559D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C6BC9C-A9BB-C864-E5F6-32D56A14F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83014F-5836-6AA2-546A-E619F3FA0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92E8A-E0BA-4F2D-942A-9154684D42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5868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1874FA-573B-8700-19C1-33D5C50D9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7C6AF6C-142C-1051-E476-505DA6E87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D835BA-34F2-8C81-3E1B-B2133E0B8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9EB10-0283-4C0D-A8FE-1E7776CE559D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537A16E-D2CD-2479-A4ED-D58BCE303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B2153D-C31E-3061-6554-3751DC128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92E8A-E0BA-4F2D-942A-9154684D42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581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9A3725-F554-50D9-8AB7-E5AA474B3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CCB9BA2-37C7-6169-851D-65DA16CA18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2940AA-774B-378A-CDCD-56AAE6B8B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9EB10-0283-4C0D-A8FE-1E7776CE559D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E230D69-EE8A-D991-8D9F-53C9D1303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D092E8-4421-367F-048D-E5BDAAD15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92E8A-E0BA-4F2D-942A-9154684D42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784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676376-86B7-EF66-C662-98FA9EFF7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CD0292-4210-DF69-0A1E-1E91BCFBB8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9D262F1-BFC8-5897-FE19-64AC768187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26F22D-9275-5C02-EBCF-D0365CE76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9EB10-0283-4C0D-A8FE-1E7776CE559D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AAF22CD-85A9-6040-5E14-B1A20DD60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62FEC27-920A-5550-98C4-C956A24BF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92E8A-E0BA-4F2D-942A-9154684D42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2998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29BD5-8640-E88B-7F14-82EE3C774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4463977-6252-4F4D-C6F0-512C714D98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1D10EF9-14E9-2FAB-4755-2E52294C94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F51A086-2305-6CCF-6B92-1052B597A3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4155660-425F-652E-FFD0-F98324CAEF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D7454D0-61DC-CF49-21D1-966B30450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9EB10-0283-4C0D-A8FE-1E7776CE559D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CCBA6BA-B303-FCA1-4680-F1C537556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5EE953F-4018-7621-9918-7E3C31C8A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92E8A-E0BA-4F2D-942A-9154684D42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61719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D625A4-9371-3385-725F-C6E6ABA1C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FF70D85-C200-2D0C-D304-1CDAB1F1C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9EB10-0283-4C0D-A8FE-1E7776CE559D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1E3A8C0-A54C-AC76-8E11-B540CC30D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05E888D-7E42-899A-8134-C53A7C9A8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92E8A-E0BA-4F2D-942A-9154684D42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9717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45A59B4-396C-D55B-A82C-52CFB9CDC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9EB10-0283-4C0D-A8FE-1E7776CE559D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BDD9337-0D66-C4C0-A51A-BDA4D1438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E35190-5FFB-37E0-751D-62520CE82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92E8A-E0BA-4F2D-942A-9154684D42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7760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255ED4-405D-6304-BCFB-5B5949ABC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0696697-CC7B-45C2-7A25-4CC62F68EB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4AF6C73-28E2-3091-82C1-11C5DB4822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C2F7A24-9A01-C41A-CE78-C52AAFCC9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9EB10-0283-4C0D-A8FE-1E7776CE559D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A4CDB52-CC44-3E22-AC25-26E41397F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50CCDC-7D15-7E2A-63AD-C1134BC01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92E8A-E0BA-4F2D-942A-9154684D42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73519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5CCA73-A188-6DDC-EB8B-41699C85E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E4633E6-765E-4D65-0FA9-AE7722C37E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F5B0E79-00EF-B769-9D3B-4AA46EF3CE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57A5D9B-1FB3-7331-A7EE-733EB11D5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9EB10-0283-4C0D-A8FE-1E7776CE559D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0DC4494-8012-7151-1EC6-E817FB0BA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9722B6F-7CC9-5E4E-C6E5-5B425CBD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92E8A-E0BA-4F2D-942A-9154684D42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80394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7F4F78-85B1-9791-7EB9-7857A54F9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75A9D18-AD65-5D17-2492-AC70F26438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7CF82D-5F2C-904B-EA55-056C9C59A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9EB10-0283-4C0D-A8FE-1E7776CE559D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D46A61-DB1D-A4B0-6502-57C0C880E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916EFF3-4744-499B-6FD0-C80D6A8D4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92E8A-E0BA-4F2D-942A-9154684D42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951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E6511DF-AF74-5E31-806F-3840ED817D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773896-6F22-C0C5-97B2-13C390CE99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DC0436-A7A7-C461-3951-B15CF1158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9EB10-0283-4C0D-A8FE-1E7776CE559D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49BC4F7-E791-3009-14EE-587A03398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911649-B1B4-5FEC-EB6D-18FB64190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92E8A-E0BA-4F2D-942A-9154684D42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569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66344A9-3014-1C96-E478-934004670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4E22870-F332-DAD9-C535-685E86EB34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748F37-F9FA-F077-4ACB-B7BFE4B7CB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A9EB10-0283-4C0D-A8FE-1E7776CE559D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AA1E2D-F00F-E344-CADA-1863547D66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6F39BF-EF00-F18B-44E8-4B9DBD71C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F92E8A-E0BA-4F2D-942A-9154684D42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639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F2E851C-3AD9-5D97-D124-35098AC3C350}"/>
              </a:ext>
            </a:extLst>
          </p:cNvPr>
          <p:cNvSpPr txBox="1"/>
          <p:nvPr/>
        </p:nvSpPr>
        <p:spPr>
          <a:xfrm>
            <a:off x="407670" y="2228671"/>
            <a:ext cx="11245850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dirty="0"/>
              <a:t>Minimize Cost Function</a:t>
            </a:r>
          </a:p>
          <a:p>
            <a:pPr algn="ctr"/>
            <a:r>
              <a:rPr lang="en-US" altLang="ko-KR" sz="5000" dirty="0"/>
              <a:t>&amp;</a:t>
            </a:r>
            <a:br>
              <a:rPr lang="en-US" altLang="ko-KR" sz="5000" dirty="0"/>
            </a:br>
            <a:r>
              <a:rPr lang="en-US" altLang="ko-KR" sz="5000" dirty="0"/>
              <a:t>Multi-variable Linear </a:t>
            </a:r>
            <a:r>
              <a:rPr lang="en-US" altLang="ko-KR" sz="5000" dirty="0" err="1"/>
              <a:t>Reression</a:t>
            </a:r>
            <a:endParaRPr lang="ko-KR" altLang="en-US" sz="5000" dirty="0"/>
          </a:p>
        </p:txBody>
      </p:sp>
    </p:spTree>
    <p:extLst>
      <p:ext uri="{BB962C8B-B14F-4D97-AF65-F5344CB8AC3E}">
        <p14:creationId xmlns:p14="http://schemas.microsoft.com/office/powerpoint/2010/main" val="793821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Google Shape;228;p45">
            <a:extLst>
              <a:ext uri="{FF2B5EF4-FFF2-40B4-BE49-F238E27FC236}">
                <a16:creationId xmlns:a16="http://schemas.microsoft.com/office/drawing/2014/main" id="{B6CEC7AE-D75D-031C-C28A-41A395E0F1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1480" y="991443"/>
            <a:ext cx="4443154" cy="1087819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atinLnBrk="0"/>
            <a:r>
              <a:rPr lang="ko-KR" alt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비용 함수</a:t>
            </a:r>
            <a:br>
              <a:rPr lang="en-US" altLang="ko-KR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(Cost/Loss Function</a:t>
            </a:r>
            <a:r>
              <a:rPr lang="en-US" altLang="ko-KR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)</a:t>
            </a:r>
            <a:endParaRPr lang="en-US" sz="3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49223" y="38793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1480" y="2285541"/>
            <a:ext cx="43891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FD64D6-45E7-6EF8-7843-8E44BEDDE95E}"/>
              </a:ext>
            </a:extLst>
          </p:cNvPr>
          <p:cNvSpPr txBox="1"/>
          <p:nvPr/>
        </p:nvSpPr>
        <p:spPr>
          <a:xfrm>
            <a:off x="411479" y="2303828"/>
            <a:ext cx="4920303" cy="45541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indent="-228600" latinLnBrk="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700" b="1" dirty="0"/>
              <a:t>개념</a:t>
            </a:r>
            <a:r>
              <a:rPr lang="en-US" altLang="ko-KR" sz="1700" dirty="0"/>
              <a:t>:</a:t>
            </a:r>
          </a:p>
          <a:p>
            <a:pPr marL="514350" lvl="1" indent="-285750" latinLnBrk="0">
              <a:lnSpc>
                <a:spcPct val="120000"/>
              </a:lnSpc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ko-KR" altLang="en-US" sz="1400" dirty="0"/>
              <a:t>모델이 </a:t>
            </a:r>
            <a:r>
              <a:rPr lang="ko-KR" altLang="en-US" sz="1400" b="1" dirty="0"/>
              <a:t>예측한 값</a:t>
            </a:r>
            <a:r>
              <a:rPr lang="ko-KR" altLang="en-US" sz="1400" dirty="0"/>
              <a:t>과 </a:t>
            </a:r>
            <a:r>
              <a:rPr lang="ko-KR" altLang="en-US" sz="1400" b="1" dirty="0"/>
              <a:t>실제 정답</a:t>
            </a:r>
            <a:r>
              <a:rPr lang="ko-KR" altLang="en-US" sz="1400" dirty="0"/>
              <a:t>이 얼마나 떨어져 있는지 </a:t>
            </a:r>
            <a:r>
              <a:rPr lang="en-US" altLang="ko-KR" sz="1400" b="1" dirty="0"/>
              <a:t>'</a:t>
            </a:r>
            <a:r>
              <a:rPr lang="ko-KR" altLang="en-US" sz="1400" b="1" dirty="0"/>
              <a:t>거리</a:t>
            </a:r>
            <a:r>
              <a:rPr lang="en-US" altLang="ko-KR" sz="1400" b="1" dirty="0"/>
              <a:t>’</a:t>
            </a:r>
          </a:p>
          <a:p>
            <a:pPr indent="-228600" latinLnBrk="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500" dirty="0"/>
          </a:p>
          <a:p>
            <a:pPr indent="-228600" latinLnBrk="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700" b="1" dirty="0"/>
              <a:t>핵심 지표 </a:t>
            </a:r>
            <a:r>
              <a:rPr lang="en-US" altLang="ko-KR" sz="1700" b="1" dirty="0"/>
              <a:t>(MSE: Mean Square Error):</a:t>
            </a:r>
          </a:p>
          <a:p>
            <a:pPr marL="514350" lvl="1" indent="-285750" latinLnBrk="0">
              <a:lnSpc>
                <a:spcPct val="120000"/>
              </a:lnSpc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ko-KR" altLang="en-US" sz="1400" dirty="0"/>
              <a:t>값이 </a:t>
            </a:r>
            <a:r>
              <a:rPr lang="en-US" altLang="ko-KR" sz="1400" b="1" dirty="0"/>
              <a:t>0</a:t>
            </a:r>
            <a:r>
              <a:rPr lang="ko-KR" altLang="en-US" sz="1400" b="1" dirty="0"/>
              <a:t>에 가까울수록</a:t>
            </a:r>
            <a:r>
              <a:rPr lang="en-US" altLang="ko-KR" sz="1400" dirty="0"/>
              <a:t> </a:t>
            </a:r>
            <a:r>
              <a:rPr lang="ko-KR" altLang="en-US" sz="1400" dirty="0"/>
              <a:t>모델의 예측력이 정확함을 의미</a:t>
            </a:r>
            <a:br>
              <a:rPr lang="en-US" altLang="ko-KR" sz="1500" dirty="0"/>
            </a:br>
            <a:endParaRPr lang="en-US" altLang="ko-KR" sz="1500" dirty="0"/>
          </a:p>
          <a:p>
            <a:pPr indent="-228600" latinLnBrk="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700" b="1" dirty="0"/>
              <a:t>학습 목표</a:t>
            </a:r>
            <a:r>
              <a:rPr lang="en-US" altLang="ko-KR" sz="1700" b="1" dirty="0"/>
              <a:t>:</a:t>
            </a:r>
          </a:p>
          <a:p>
            <a:pPr marL="514350" lvl="1" indent="-285750" latinLnBrk="0">
              <a:lnSpc>
                <a:spcPct val="120000"/>
              </a:lnSpc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ko-KR" altLang="en-US" sz="1400" dirty="0"/>
              <a:t>비용 함수의 값을 </a:t>
            </a:r>
            <a:r>
              <a:rPr lang="ko-KR" altLang="en-US" sz="1400" b="1" dirty="0"/>
              <a:t>최소로 만드는 최적의 파라미터</a:t>
            </a:r>
            <a:br>
              <a:rPr lang="en-US" altLang="ko-KR" sz="1400" b="1" dirty="0"/>
            </a:br>
            <a:r>
              <a:rPr lang="en-US" altLang="ko-KR" sz="1400" b="1" dirty="0"/>
              <a:t>(W, b)</a:t>
            </a:r>
            <a:r>
              <a:rPr lang="ko-KR" altLang="en-US" sz="1400" b="1" dirty="0"/>
              <a:t>를 찾는 것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C738344-9AB0-1910-24E8-3D564A6ECA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5816" y="1646307"/>
            <a:ext cx="6440424" cy="351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447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C0C256-A27E-BFD7-26CE-5567FD84D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Google Shape;228;p45">
            <a:extLst>
              <a:ext uri="{FF2B5EF4-FFF2-40B4-BE49-F238E27FC236}">
                <a16:creationId xmlns:a16="http://schemas.microsoft.com/office/drawing/2014/main" id="{9B11496B-2C70-5641-6118-29E45A0246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1480" y="991443"/>
            <a:ext cx="4443154" cy="1087819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atinLnBrk="0"/>
            <a:r>
              <a:rPr lang="ko-KR" alt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볼록 함수</a:t>
            </a:r>
            <a:br>
              <a:rPr lang="en-US" altLang="ko-KR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altLang="ko-KR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(Convex Function)</a:t>
            </a:r>
            <a:endParaRPr lang="en-US" sz="3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49223" y="38793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1480" y="2285541"/>
            <a:ext cx="43891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38B0A80-B06B-ED75-D9D2-1A8256EA38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98" r="5580"/>
          <a:stretch>
            <a:fillRect/>
          </a:stretch>
        </p:blipFill>
        <p:spPr>
          <a:xfrm>
            <a:off x="5385816" y="1646307"/>
            <a:ext cx="6440424" cy="351003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C6EB352-233A-666B-AAD5-082A6AC859BA}"/>
              </a:ext>
            </a:extLst>
          </p:cNvPr>
          <p:cNvSpPr txBox="1"/>
          <p:nvPr/>
        </p:nvSpPr>
        <p:spPr>
          <a:xfrm>
            <a:off x="411479" y="2303828"/>
            <a:ext cx="4920303" cy="45541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indent="-228600" latinLnBrk="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700" b="1" dirty="0"/>
              <a:t>개념</a:t>
            </a:r>
            <a:r>
              <a:rPr lang="en-US" altLang="ko-KR" sz="1700" dirty="0"/>
              <a:t>:</a:t>
            </a:r>
          </a:p>
          <a:p>
            <a:pPr marL="514350" lvl="1" indent="-285750" latinLnBrk="0">
              <a:lnSpc>
                <a:spcPct val="120000"/>
              </a:lnSpc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ko-KR" altLang="en-US" sz="1400" dirty="0"/>
              <a:t>어떤 지점에서 시작하더라도 경사 하강법을 통해 </a:t>
            </a:r>
            <a:r>
              <a:rPr lang="ko-KR" altLang="en-US" sz="1400" b="1" dirty="0"/>
              <a:t>전역 최솟값</a:t>
            </a:r>
            <a:r>
              <a:rPr lang="en-US" altLang="ko-KR" sz="1400" b="1" dirty="0"/>
              <a:t>(Global Minimum)</a:t>
            </a:r>
            <a:r>
              <a:rPr lang="ko-KR" altLang="en-US" sz="1400" b="1" dirty="0"/>
              <a:t>에 도달</a:t>
            </a:r>
            <a:r>
              <a:rPr lang="ko-KR" altLang="en-US" sz="1400" dirty="0"/>
              <a:t>할 수 있는 구조</a:t>
            </a:r>
            <a:endParaRPr lang="en-US" altLang="ko-KR" sz="1400" dirty="0"/>
          </a:p>
          <a:p>
            <a:pPr marL="514350" lvl="1" indent="-285750" latinLnBrk="0">
              <a:lnSpc>
                <a:spcPct val="120000"/>
              </a:lnSpc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altLang="ko-KR" sz="1500" dirty="0"/>
          </a:p>
          <a:p>
            <a:pPr indent="-228600" latinLnBrk="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700" b="1" dirty="0"/>
              <a:t>중요성</a:t>
            </a:r>
            <a:r>
              <a:rPr lang="en-US" altLang="ko-KR" sz="1700" b="1" dirty="0"/>
              <a:t>:</a:t>
            </a:r>
          </a:p>
          <a:p>
            <a:pPr marL="514350" lvl="1" indent="-285750" latinLnBrk="0">
              <a:lnSpc>
                <a:spcPct val="120000"/>
              </a:lnSpc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ko-KR" altLang="en-US" sz="1400" b="1" dirty="0"/>
              <a:t>선형 회귀의 </a:t>
            </a:r>
            <a:r>
              <a:rPr lang="en-US" altLang="ko-KR" sz="1400" b="1" dirty="0"/>
              <a:t>MSE </a:t>
            </a:r>
            <a:r>
              <a:rPr lang="ko-KR" altLang="en-US" sz="1400" b="1" dirty="0"/>
              <a:t>함수는 대표적인 볼록 함수</a:t>
            </a:r>
            <a:r>
              <a:rPr lang="ko-KR" altLang="en-US" sz="1400" dirty="0"/>
              <a:t>로</a:t>
            </a:r>
            <a:r>
              <a:rPr lang="en-US" altLang="ko-KR" sz="1400" dirty="0"/>
              <a:t> </a:t>
            </a:r>
            <a:r>
              <a:rPr lang="ko-KR" altLang="en-US" sz="1400" dirty="0"/>
              <a:t>이는 </a:t>
            </a:r>
            <a:r>
              <a:rPr lang="en-US" altLang="ko-KR" sz="1400" b="1" dirty="0">
                <a:solidFill>
                  <a:srgbClr val="FF0000"/>
                </a:solidFill>
              </a:rPr>
              <a:t>"</a:t>
            </a:r>
            <a:r>
              <a:rPr lang="ko-KR" altLang="en-US" sz="1400" b="1" dirty="0">
                <a:solidFill>
                  <a:srgbClr val="FF0000"/>
                </a:solidFill>
              </a:rPr>
              <a:t>함수 어디에서 시작하든 결국 정답</a:t>
            </a:r>
            <a:r>
              <a:rPr lang="en-US" altLang="ko-KR" sz="1400" b="1" dirty="0">
                <a:solidFill>
                  <a:srgbClr val="FF0000"/>
                </a:solidFill>
              </a:rPr>
              <a:t>(</a:t>
            </a:r>
            <a:r>
              <a:rPr lang="ko-KR" altLang="en-US" sz="1400" b="1" dirty="0">
                <a:solidFill>
                  <a:srgbClr val="FF0000"/>
                </a:solidFill>
              </a:rPr>
              <a:t>최솟값</a:t>
            </a:r>
            <a:r>
              <a:rPr lang="en-US" altLang="ko-KR" sz="1400" b="1" dirty="0">
                <a:solidFill>
                  <a:srgbClr val="FF0000"/>
                </a:solidFill>
              </a:rPr>
              <a:t>)</a:t>
            </a:r>
            <a:r>
              <a:rPr lang="ko-KR" altLang="en-US" sz="1400" b="1" dirty="0">
                <a:solidFill>
                  <a:srgbClr val="FF0000"/>
                </a:solidFill>
              </a:rPr>
              <a:t>을 찾을 수 있다</a:t>
            </a:r>
            <a:r>
              <a:rPr lang="en-US" altLang="ko-KR" sz="1400" b="1" dirty="0">
                <a:solidFill>
                  <a:srgbClr val="FF0000"/>
                </a:solidFill>
              </a:rPr>
              <a:t>"</a:t>
            </a:r>
            <a:r>
              <a:rPr lang="ko-KR" altLang="en-US" sz="1400" dirty="0"/>
              <a:t>는 수학적 보증 수표와 같음</a:t>
            </a:r>
            <a:br>
              <a:rPr lang="en-US" altLang="ko-KR" sz="1500" dirty="0"/>
            </a:br>
            <a:endParaRPr lang="en-US" altLang="ko-KR" sz="1500" dirty="0"/>
          </a:p>
          <a:p>
            <a:pPr indent="-228600" latinLnBrk="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700" b="1" dirty="0"/>
              <a:t>지역 최솟값</a:t>
            </a:r>
            <a:r>
              <a:rPr lang="en-US" altLang="ko-KR" sz="1700" b="1" dirty="0"/>
              <a:t>:</a:t>
            </a:r>
          </a:p>
          <a:p>
            <a:pPr marL="514350" lvl="1" indent="-285750" latinLnBrk="0">
              <a:lnSpc>
                <a:spcPct val="120000"/>
              </a:lnSpc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ko-KR" altLang="en-US" sz="1400" dirty="0"/>
              <a:t>인근 지역에서의 최솟값으로 학습의 목표인 전역 최솟값보다 높아 최선의 선택이 아님</a:t>
            </a: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1837904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3D6BF5-DF12-C071-F241-237472DF9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Google Shape;228;p45">
            <a:extLst>
              <a:ext uri="{FF2B5EF4-FFF2-40B4-BE49-F238E27FC236}">
                <a16:creationId xmlns:a16="http://schemas.microsoft.com/office/drawing/2014/main" id="{2D57E10D-B45E-6534-F93B-2808B3976B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1480" y="991443"/>
            <a:ext cx="4443154" cy="1087819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atinLnBrk="0"/>
            <a:r>
              <a:rPr lang="ko-KR" alt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경사 </a:t>
            </a:r>
            <a:r>
              <a:rPr lang="ko-KR" altLang="en-US" sz="3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하강법</a:t>
            </a:r>
            <a:br>
              <a:rPr lang="en-US" altLang="ko-KR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altLang="ko-KR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(Gradient Descent)</a:t>
            </a:r>
            <a:endParaRPr lang="en-US" sz="3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49223" y="38793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1480" y="2285541"/>
            <a:ext cx="43891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DCC1530-B6EB-5639-D19F-7514F69FC342}"/>
                  </a:ext>
                </a:extLst>
              </p:cNvPr>
              <p:cNvSpPr txBox="1"/>
              <p:nvPr/>
            </p:nvSpPr>
            <p:spPr>
              <a:xfrm>
                <a:off x="411479" y="2303828"/>
                <a:ext cx="6299287" cy="455417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/>
              <a:p>
                <a:pPr indent="-228600" latinLnBrk="0">
                  <a:lnSpc>
                    <a:spcPct val="120000"/>
                  </a:lnSpc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ko-KR" altLang="en-US" sz="1700" b="1" dirty="0"/>
                  <a:t>개념</a:t>
                </a:r>
                <a:r>
                  <a:rPr lang="en-US" altLang="ko-KR" sz="1700" dirty="0"/>
                  <a:t>:</a:t>
                </a:r>
              </a:p>
              <a:p>
                <a:pPr marL="514350" lvl="1" indent="-285750" latinLnBrk="0">
                  <a:lnSpc>
                    <a:spcPct val="120000"/>
                  </a:lnSpc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ko-KR" altLang="en-US" sz="1400" dirty="0"/>
                  <a:t>현재 위치에서 기울기</a:t>
                </a:r>
                <a:r>
                  <a:rPr lang="en-US" altLang="ko-KR" sz="1400" dirty="0"/>
                  <a:t>(Gradient)</a:t>
                </a:r>
                <a:r>
                  <a:rPr lang="ko-KR" altLang="en-US" sz="1400" dirty="0"/>
                  <a:t>를 구해</a:t>
                </a:r>
                <a:r>
                  <a:rPr lang="en-US" altLang="ko-KR" sz="1400" dirty="0"/>
                  <a:t>,</a:t>
                </a:r>
                <a:br>
                  <a:rPr lang="en-US" altLang="ko-KR" sz="1400" dirty="0"/>
                </a:br>
                <a:r>
                  <a:rPr lang="ko-KR" altLang="en-US" sz="1400" dirty="0"/>
                  <a:t>가장 가파른 아래 방향으로 한 걸음씩 이동하는 알고리즘</a:t>
                </a:r>
                <a:endParaRPr lang="en-US" altLang="ko-KR" sz="1400" dirty="0"/>
              </a:p>
              <a:p>
                <a:pPr marL="514350" lvl="1" indent="-285750" latinLnBrk="0">
                  <a:lnSpc>
                    <a:spcPct val="120000"/>
                  </a:lnSpc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endParaRPr lang="en-US" altLang="ko-KR" sz="1500" dirty="0"/>
              </a:p>
              <a:p>
                <a:pPr indent="-228600" latinLnBrk="0">
                  <a:lnSpc>
                    <a:spcPct val="120000"/>
                  </a:lnSpc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ko-KR" altLang="en-US" sz="1700" b="1" dirty="0" err="1"/>
                  <a:t>학습률</a:t>
                </a:r>
                <a:r>
                  <a:rPr lang="ko-KR" altLang="en-US" sz="1700" b="1" dirty="0"/>
                  <a:t> </a:t>
                </a:r>
                <a:r>
                  <a:rPr lang="en-US" altLang="ko-KR" sz="1700" b="1" dirty="0"/>
                  <a:t>(Learning Rate):</a:t>
                </a:r>
              </a:p>
              <a:p>
                <a:pPr marL="514350" lvl="1" indent="-285750" latinLnBrk="0">
                  <a:lnSpc>
                    <a:spcPct val="120000"/>
                  </a:lnSpc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ko-KR" altLang="en-US" sz="1400" dirty="0"/>
                  <a:t>한 번의 업데이트에서 얼마나 멀리 이동할지를 결정 </a:t>
                </a:r>
                <a:r>
                  <a:rPr lang="en-US" altLang="ko-KR" sz="1400" dirty="0"/>
                  <a:t>(</a:t>
                </a:r>
                <a:r>
                  <a:rPr lang="ko-KR" altLang="en-US" sz="1400" dirty="0"/>
                  <a:t>보폭</a:t>
                </a:r>
                <a:r>
                  <a:rPr lang="en-US" altLang="ko-KR" sz="1400" dirty="0"/>
                  <a:t>)</a:t>
                </a:r>
                <a:br>
                  <a:rPr lang="en-US" altLang="ko-KR" sz="1500" dirty="0"/>
                </a:br>
                <a:endParaRPr lang="en-US" altLang="ko-KR" sz="1500" dirty="0"/>
              </a:p>
              <a:p>
                <a:pPr indent="-228600" latinLnBrk="0">
                  <a:lnSpc>
                    <a:spcPct val="120000"/>
                  </a:lnSpc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ko-KR" altLang="en-US" sz="1700" b="1" dirty="0"/>
                  <a:t>계산식</a:t>
                </a:r>
                <a:r>
                  <a:rPr lang="en-US" altLang="ko-KR" sz="1700" b="1" dirty="0"/>
                  <a:t>:</a:t>
                </a:r>
              </a:p>
              <a:p>
                <a:pPr marL="514350" lvl="1" indent="-285750" latinLnBrk="0">
                  <a:lnSpc>
                    <a:spcPct val="120000"/>
                  </a:lnSpc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ko-KR" altLang="en-US" sz="1400" dirty="0"/>
                  <a:t>비용 함수를 미분한 도함수를 경사 하강법의 업데이트 규칙으로 사용</a:t>
                </a:r>
                <a:endParaRPr lang="en-US" altLang="ko-KR" sz="1400" dirty="0"/>
              </a:p>
              <a:p>
                <a:pPr marL="514350" lvl="1" indent="-285750" latinLnBrk="0">
                  <a:lnSpc>
                    <a:spcPct val="120000"/>
                  </a:lnSpc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ko-KR" altLang="en-US" sz="1400" dirty="0"/>
                  <a:t>비용 함수 수식</a:t>
                </a:r>
                <a:r>
                  <a:rPr lang="en-US" altLang="ko-KR" sz="1400" dirty="0"/>
                  <a:t>: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𝑐𝑜𝑠𝑡</m:t>
                    </m:r>
                    <m:d>
                      <m:d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d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p>
                          <m:sSup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  <m:sSup>
                              <m:sSupPr>
                                <m:ctrlP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en-US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sup>
                            </m:sSup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− </m:t>
                            </m:r>
                            <m:sSup>
                              <m:sSupPr>
                                <m:ctrlP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en-US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sup>
                            </m:sSup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altLang="ko-KR" sz="1400" dirty="0"/>
              </a:p>
              <a:p>
                <a:pPr marL="514350" lvl="1" indent="-285750" latinLnBrk="0">
                  <a:lnSpc>
                    <a:spcPct val="120000"/>
                  </a:lnSpc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ko-KR" altLang="en-US" sz="1400" dirty="0"/>
                  <a:t>경사 </a:t>
                </a:r>
                <a:r>
                  <a:rPr lang="ko-KR" altLang="en-US" sz="1400" dirty="0" err="1"/>
                  <a:t>하강법</a:t>
                </a:r>
                <a:r>
                  <a:rPr lang="ko-KR" altLang="en-US" sz="1400" dirty="0"/>
                  <a:t> 수식</a:t>
                </a:r>
                <a:r>
                  <a:rPr lang="en-US" altLang="ko-KR" sz="14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400" b="0" i="0" smtClean="0"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ko-KR" altLang="en-US" sz="1400" b="0" i="1" smtClean="0">
                        <a:latin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en-US" altLang="ko-KR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ko-KR" sz="1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𝑊</m:t>
                        </m:r>
                        <m:sSup>
                          <m:sSup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d>
                              <m:dPr>
                                <m:ctrlP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sup>
                        </m:sSup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− </m:t>
                        </m:r>
                        <m:sSup>
                          <m:sSup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d>
                              <m:dPr>
                                <m:ctrlP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sup>
                        </m:sSup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)</m:t>
                        </m:r>
                        <m:sSup>
                          <m:sSup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d>
                              <m:dPr>
                                <m:ctrlP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sup>
                        </m:sSup>
                      </m:e>
                    </m:nary>
                  </m:oMath>
                </a14:m>
                <a:endParaRPr lang="en-US" altLang="ko-KR" sz="1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DCC1530-B6EB-5639-D19F-7514F69FC3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79" y="2303828"/>
                <a:ext cx="6299287" cy="4554171"/>
              </a:xfrm>
              <a:prstGeom prst="rect">
                <a:avLst/>
              </a:prstGeom>
              <a:blipFill>
                <a:blip r:embed="rId3"/>
                <a:stretch>
                  <a:fillRect l="-387" t="-1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그룹 9">
            <a:extLst>
              <a:ext uri="{FF2B5EF4-FFF2-40B4-BE49-F238E27FC236}">
                <a16:creationId xmlns:a16="http://schemas.microsoft.com/office/drawing/2014/main" id="{41129E82-1AB9-7EF9-BEDE-559C2EF51AEB}"/>
              </a:ext>
            </a:extLst>
          </p:cNvPr>
          <p:cNvGrpSpPr/>
          <p:nvPr/>
        </p:nvGrpSpPr>
        <p:grpSpPr>
          <a:xfrm>
            <a:off x="6927742" y="215767"/>
            <a:ext cx="4637657" cy="5055045"/>
            <a:chOff x="5807118" y="880638"/>
            <a:chExt cx="5828262" cy="6352804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83B0DB93-8FA4-874A-9B36-3082494448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07119" y="880638"/>
              <a:ext cx="5828261" cy="3176402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5D22F2F7-A196-DAEA-8224-277090488B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07118" y="4057040"/>
              <a:ext cx="5828261" cy="3176402"/>
            </a:xfrm>
            <a:prstGeom prst="rect">
              <a:avLst/>
            </a:prstGeom>
          </p:spPr>
        </p:pic>
      </p:grpSp>
      <p:pic>
        <p:nvPicPr>
          <p:cNvPr id="18" name="그림 17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F1854FB-AAAA-7E68-D4C1-292B893891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0766" y="5450951"/>
            <a:ext cx="2609126" cy="96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863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B815CF-63DA-1F8D-73D5-3BD85961F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Google Shape;228;p45">
            <a:extLst>
              <a:ext uri="{FF2B5EF4-FFF2-40B4-BE49-F238E27FC236}">
                <a16:creationId xmlns:a16="http://schemas.microsoft.com/office/drawing/2014/main" id="{42EB9FB9-6BD5-B0DE-F3F5-8757366C9D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1480" y="991443"/>
            <a:ext cx="4443154" cy="1087819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 fontScale="90000"/>
          </a:bodyPr>
          <a:lstStyle/>
          <a:p>
            <a:pPr latinLnBrk="0"/>
            <a:r>
              <a:rPr lang="ko-KR" altLang="en-US" sz="3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다변수</a:t>
            </a:r>
            <a:r>
              <a:rPr lang="en-US" altLang="ko-KR" sz="3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ko-KR" altLang="en-US" sz="3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선형 회귀</a:t>
            </a:r>
            <a:br>
              <a:rPr lang="en-US" altLang="ko-KR" sz="2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altLang="ko-KR" sz="2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(Multi-variable Linear Regression)</a:t>
            </a:r>
            <a:endParaRPr lang="en-US" sz="2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49223" y="38793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1480" y="2285541"/>
            <a:ext cx="43891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78783D3-BB27-8FDD-A685-1E323D515A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121" r="15571"/>
          <a:stretch>
            <a:fillRect/>
          </a:stretch>
        </p:blipFill>
        <p:spPr>
          <a:xfrm>
            <a:off x="5385816" y="714033"/>
            <a:ext cx="6440424" cy="537457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32A4E26-FEB7-8EBA-2E84-4B0D2C169B8B}"/>
                  </a:ext>
                </a:extLst>
              </p:cNvPr>
              <p:cNvSpPr txBox="1"/>
              <p:nvPr/>
            </p:nvSpPr>
            <p:spPr>
              <a:xfrm>
                <a:off x="411479" y="2303828"/>
                <a:ext cx="4920303" cy="455417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/>
              <a:p>
                <a:pPr indent="-228600" latinLnBrk="0">
                  <a:lnSpc>
                    <a:spcPct val="120000"/>
                  </a:lnSpc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ko-KR" altLang="en-US" sz="1700" b="1" dirty="0"/>
                  <a:t>개념</a:t>
                </a:r>
                <a:r>
                  <a:rPr lang="en-US" altLang="ko-KR" sz="1700" dirty="0"/>
                  <a:t>:</a:t>
                </a:r>
              </a:p>
              <a:p>
                <a:pPr marL="514350" lvl="1" indent="-285750" latinLnBrk="0">
                  <a:lnSpc>
                    <a:spcPct val="120000"/>
                  </a:lnSpc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ko-KR" altLang="en-US" sz="1400" dirty="0"/>
                  <a:t>집값 예측을 위해 </a:t>
                </a:r>
                <a:r>
                  <a:rPr lang="en-US" altLang="ko-KR" sz="1400" dirty="0"/>
                  <a:t>'</a:t>
                </a:r>
                <a:r>
                  <a:rPr lang="ko-KR" altLang="en-US" sz="1400" dirty="0"/>
                  <a:t>면적</a:t>
                </a:r>
                <a:r>
                  <a:rPr lang="en-US" altLang="ko-KR" sz="1400" dirty="0"/>
                  <a:t>'</a:t>
                </a:r>
                <a:r>
                  <a:rPr lang="ko-KR" altLang="en-US" sz="1400" dirty="0"/>
                  <a:t>뿐만 아니라 </a:t>
                </a:r>
                <a:r>
                  <a:rPr lang="en-US" altLang="ko-KR" sz="1400" dirty="0"/>
                  <a:t>'</a:t>
                </a:r>
                <a:r>
                  <a:rPr lang="ko-KR" altLang="en-US" sz="1400" dirty="0"/>
                  <a:t>방의 개수</a:t>
                </a:r>
                <a:r>
                  <a:rPr lang="en-US" altLang="ko-KR" sz="1400" dirty="0"/>
                  <a:t>', '</a:t>
                </a:r>
                <a:r>
                  <a:rPr lang="ko-KR" altLang="en-US" sz="1400" dirty="0"/>
                  <a:t>연식</a:t>
                </a:r>
                <a:r>
                  <a:rPr lang="en-US" altLang="ko-KR" sz="1400" dirty="0"/>
                  <a:t>' </a:t>
                </a:r>
                <a:r>
                  <a:rPr lang="ko-KR" altLang="en-US" sz="1400" dirty="0"/>
                  <a:t>등 </a:t>
                </a:r>
                <a:r>
                  <a:rPr lang="ko-KR" altLang="en-US" sz="1400" b="1" dirty="0"/>
                  <a:t>여러 개의 독립 변수</a:t>
                </a:r>
                <a:r>
                  <a:rPr lang="en-US" altLang="ko-KR" sz="1400" b="1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altLang="ko-KR" sz="14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altLang="ko-KR" sz="1400" b="1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altLang="ko-KR" sz="14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altLang="ko-KR" sz="1400" b="1" dirty="0"/>
                  <a:t>, ...)</a:t>
                </a:r>
                <a:r>
                  <a:rPr lang="ko-KR" altLang="en-US" sz="1400" b="1" dirty="0"/>
                  <a:t>를 사용하는 모델</a:t>
                </a:r>
              </a:p>
              <a:p>
                <a:pPr marL="514350" lvl="1" indent="-285750" latinLnBrk="0">
                  <a:lnSpc>
                    <a:spcPct val="120000"/>
                  </a:lnSpc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endParaRPr lang="en-US" altLang="ko-KR" sz="1500" dirty="0"/>
              </a:p>
              <a:p>
                <a:pPr indent="-228600" latinLnBrk="0">
                  <a:lnSpc>
                    <a:spcPct val="120000"/>
                  </a:lnSpc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ko-KR" altLang="en-US" sz="1700" b="1" dirty="0"/>
                  <a:t>행렬 연상</a:t>
                </a:r>
                <a:r>
                  <a:rPr lang="en-US" altLang="ko-KR" sz="1700" b="1" dirty="0"/>
                  <a:t>:</a:t>
                </a:r>
              </a:p>
              <a:p>
                <a:pPr marL="514350" lvl="1" indent="-285750" latinLnBrk="0">
                  <a:lnSpc>
                    <a:spcPct val="120000"/>
                  </a:lnSpc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ko-KR" altLang="en-US" sz="1400" dirty="0"/>
                  <a:t>변수가 많아지면 수식이 복잡해지므로</a:t>
                </a:r>
                <a:r>
                  <a:rPr lang="en-US" altLang="ko-KR" sz="1400" dirty="0"/>
                  <a:t>,</a:t>
                </a:r>
                <a:br>
                  <a:rPr lang="en-US" altLang="ko-KR" sz="1400" dirty="0"/>
                </a:br>
                <a:r>
                  <a:rPr lang="en-US" altLang="ko-KR" sz="1400" b="1" dirty="0"/>
                  <a:t>Matrix(</a:t>
                </a:r>
                <a:r>
                  <a:rPr lang="ko-KR" altLang="en-US" sz="1400" b="1" dirty="0"/>
                  <a:t>행렬</a:t>
                </a:r>
                <a:r>
                  <a:rPr lang="en-US" altLang="ko-KR" sz="1400" b="1" dirty="0"/>
                  <a:t>) </a:t>
                </a:r>
                <a:r>
                  <a:rPr lang="ko-KR" altLang="en-US" sz="1400" b="1" dirty="0"/>
                  <a:t>곱</a:t>
                </a:r>
                <a:r>
                  <a:rPr lang="ko-KR" altLang="en-US" sz="1400" dirty="0"/>
                  <a:t>을 사용하여 효율적으로 계산</a:t>
                </a:r>
                <a:endParaRPr lang="en-US" altLang="ko-KR" sz="1400" dirty="0"/>
              </a:p>
              <a:p>
                <a:pPr marL="514350" lvl="1" indent="-285750" latinLnBrk="0">
                  <a:lnSpc>
                    <a:spcPct val="120000"/>
                  </a:lnSpc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ko-KR" sz="1500" b="0" i="1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altLang="ko-KR" sz="15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5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ko-KR" sz="15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500" b="0" i="1" smtClean="0">
                        <a:latin typeface="Cambria Math" panose="02040503050406030204" pitchFamily="18" charset="0"/>
                      </a:rPr>
                      <m:t>𝑋𝑊</m:t>
                    </m:r>
                  </m:oMath>
                </a14:m>
                <a:br>
                  <a:rPr lang="en-US" altLang="ko-KR" sz="1500" dirty="0"/>
                </a:br>
                <a:endParaRPr lang="en-US" altLang="ko-KR" sz="1500" dirty="0"/>
              </a:p>
              <a:p>
                <a:pPr indent="-228600" latinLnBrk="0">
                  <a:lnSpc>
                    <a:spcPct val="120000"/>
                  </a:lnSpc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ko-KR" altLang="en-US" sz="1700" b="1" dirty="0"/>
                  <a:t>계산식</a:t>
                </a:r>
                <a:r>
                  <a:rPr lang="en-US" altLang="ko-KR" sz="1700" b="1" dirty="0"/>
                  <a:t>:</a:t>
                </a:r>
              </a:p>
              <a:p>
                <a:pPr marL="514350" lvl="1" indent="-285750" latinLnBrk="0">
                  <a:lnSpc>
                    <a:spcPct val="120000"/>
                  </a:lnSpc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ko-KR" altLang="en-US" sz="1400" dirty="0"/>
                  <a:t>인근 지역에서의 최솟값으로 학습의 목표인 전역 최솟값보다 높아 최선의 선택이 아님</a:t>
                </a:r>
                <a:endParaRPr lang="ko-KR" altLang="en-US" sz="15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32A4E26-FEB7-8EBA-2E84-4B0D2C169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79" y="2303828"/>
                <a:ext cx="4920303" cy="4554171"/>
              </a:xfrm>
              <a:prstGeom prst="rect">
                <a:avLst/>
              </a:prstGeom>
              <a:blipFill>
                <a:blip r:embed="rId4"/>
                <a:stretch>
                  <a:fillRect l="-495" t="-1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5957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337</Words>
  <Application>Microsoft Office PowerPoint</Application>
  <PresentationFormat>와이드스크린</PresentationFormat>
  <Paragraphs>44</Paragraphs>
  <Slides>5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1" baseType="lpstr">
      <vt:lpstr>맑은 고딕</vt:lpstr>
      <vt:lpstr>Arial</vt:lpstr>
      <vt:lpstr>Calibri</vt:lpstr>
      <vt:lpstr>Cambria Math</vt:lpstr>
      <vt:lpstr>Wingdings</vt:lpstr>
      <vt:lpstr>Office 테마</vt:lpstr>
      <vt:lpstr>PowerPoint 프레젠테이션</vt:lpstr>
      <vt:lpstr>비용 함수 (Cost/Loss Function)</vt:lpstr>
      <vt:lpstr>볼록 함수 (Convex Function)</vt:lpstr>
      <vt:lpstr>경사 하강법 (Gradient Descent)</vt:lpstr>
      <vt:lpstr>다변수 선형 회귀 (Multi-variable Linear Regression)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</dc:creator>
  <cp:lastModifiedBy>Felix</cp:lastModifiedBy>
  <cp:revision>7</cp:revision>
  <dcterms:created xsi:type="dcterms:W3CDTF">2026-01-15T14:54:24Z</dcterms:created>
  <dcterms:modified xsi:type="dcterms:W3CDTF">2026-01-26T17:25:52Z</dcterms:modified>
</cp:coreProperties>
</file>