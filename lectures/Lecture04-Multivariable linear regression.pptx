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3716000" cx="24384000"/>
  <p:notesSz cx="6858000" cy="9144000"/>
  <p:embeddedFontLst>
    <p:embeddedFont>
      <p:font typeface="Helvetica Neue"/>
      <p:regular r:id="rId29"/>
      <p:bold r:id="rId30"/>
      <p:italic r:id="rId31"/>
      <p:boldItalic r:id="rId32"/>
    </p:embeddedFont>
    <p:embeddedFont>
      <p:font typeface="Gill Sans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D6A6A8-4D4D-441E-A535-D23A9F8C3ED4}">
  <a:tblStyle styleId="{4CD6A6A8-4D4D-441E-A535-D23A9F8C3ED4}" styleName="Table_0"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D0D1D2"/>
          </a:solidFill>
        </a:fill>
      </a:tcStyle>
    </a:wholeTbl>
    <a:band1H>
      <a:tcTxStyle/>
    </a:band1H>
    <a:band2H>
      <a:tcTxStyle b="off" i="off"/>
      <a:tcStyle>
        <a:fill>
          <a:solidFill>
            <a:srgbClr val="DEDEDF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909398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767C85"/>
          </a:solidFill>
        </a:fill>
      </a:tcStyle>
    </a:firstRow>
    <a:neCell>
      <a:tcTxStyle/>
    </a:neCell>
    <a:nwCell>
      <a:tcTxStyle/>
    </a:nwCell>
  </a:tblStyle>
  <a:tblStyle styleId="{8431576D-A772-43D7-82D2-0E7CFCB9486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italic.fntdata"/><Relationship Id="rId3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33" Type="http://schemas.openxmlformats.org/officeDocument/2006/relationships/font" Target="fonts/GillSans-regular.fntdata"/><Relationship Id="rId10" Type="http://schemas.openxmlformats.org/officeDocument/2006/relationships/slide" Target="slides/slide5.xml"/><Relationship Id="rId32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Gill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cost(W,b)=\frac{1}{m}\sum_{I=1}^{m}(H(x_1^{(i)}, x_2^{(i)}, x_3^{(i)})-y^{(i)})^2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\begin{pmatrix}x_1&amp;x_2&amp;x_3\end{pmatrix}\cdot \begin{pmatrix}w_1\\ w_2\\ w_3\end{pmatrix}=\begin{pmatrix}x_1w_1+x_2w_2+x_3w_3\end{pmatrix}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eacfa071a_0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\begin{pmatrix}x_1&amp;x_2&amp;x_3\end{pmatrix}\cdot \begin{pmatrix}w_1\\ w_2\\ w_3\end{pmatrix}=\begin{pmatrix}x_1w_1+x_2w_2+x_3w_3\end{pmatrix}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1eacfa071a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cebb2e8d3_0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\begin{pmatrix}x_1&amp;x_2&amp;x_3\end{pmatrix}\cdot \begin{pmatrix}w_1\\ w_2\\ w_3\end{pmatrix}=\begin{pmatrix}x_1w_1+x_2w_2+x_3w_3\end{pmatrix}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1cebb2e8d3_0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cebb2e8d3_0_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cebb2e8d3_0_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cebb2e8d3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\begin{pmatrix}x_1&amp;x_2&amp;x_3\end{pmatrix}\cdot \begin{pmatrix}w_1\\ w_2\\ w_3\end{pmatrix}=\begin{pmatrix}x_1w_1+x_2w_2+x_3w_3\end{pmatrix}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1cebb2e8d3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eacfa071a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\begin{pmatrix}x_1&amp;x_2&amp;x_3\end{pmatrix}\cdot \begin{pmatrix}w_1\\ w_2\\ w_3\end{pmatrix}=\begin{pmatrix}x_1w_1+x_2w_2+x_3w_3\end{pmatrix}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1eacfa071a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eacfa071a_0_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\begin{pmatrix}x_1&amp;x_2&amp;x_3\end{pmatrix}\cdot \begin{pmatrix}w_1\\ w_2\\ w_3\end{pmatrix}=\begin{pmatrix}x_1w_1+x_2w_2+x_3w_3\end{pmatrix}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1eacfa071a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eacfa071a_0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\begin{pmatrix}x_1&amp;x_2&amp;x_3\end{pmatrix}\cdot \begin{pmatrix}w_1\\ w_2\\ w_3\end{pmatrix}=\begin{pmatrix}x_1w_1+x_2w_2+x_3w_3\end{pmatrix}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1eacfa071a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eacfa071a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\begin{pmatrix}x_1&amp;x_2&amp;x_3\end{pmatrix}\cdot \begin{pmatrix}w_1\\ w_2\\ w_3\end{pmatrix}=\begin{pmatrix}x_1w_1+x_2w_2+x_3w_3\end{pmatrix}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1eacfa071a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eacfa071a_0_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\begin{pmatrix}x_1&amp;x_2&amp;x_3\end{pmatrix}\cdot \begin{pmatrix}w_1\\ w_2\\ w_3\end{pmatrix}=\begin{pmatrix}x_1w_1+x_2w_2+x_3w_3\end{pmatrix}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1eacfa071a_0_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cebb2e8d3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cebb2e8d3_0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ill Sans"/>
              <a:buNone/>
              <a:defRPr b="0" i="0" sz="1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2286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4572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6858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9144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11430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13716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16002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1828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Gill Sans"/>
              <a:buNone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Gill Sans"/>
              <a:buNone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Gill Sans"/>
              <a:buNone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Gill Sans"/>
              <a:buNone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Gill Sans"/>
              <a:buNone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952882" y="13019484"/>
            <a:ext cx="460376" cy="4984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ill Sans"/>
              <a:buNone/>
              <a:defRPr b="0" i="0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2286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4572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6858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9144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11430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13716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16002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1828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80561" y="3893343"/>
            <a:ext cx="23422877" cy="803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36676" lvl="0" marL="4572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Char char="•"/>
              <a:defRPr b="0" i="0" sz="5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771525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50"/>
              <a:buFont typeface="Gill Sans"/>
              <a:buChar char="-"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77152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50"/>
              <a:buFont typeface="Gill Sans"/>
              <a:buChar char="•"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771525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50"/>
              <a:buFont typeface="Gill Sans"/>
              <a:buChar char="•"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771525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50"/>
              <a:buFont typeface="Gill Sans"/>
              <a:buChar char="•"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952882" y="13019484"/>
            <a:ext cx="460376" cy="4984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ill Sans"/>
              <a:buNone/>
              <a:defRPr b="0" i="0" sz="9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2286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4572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6858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9144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11430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13716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16002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1828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36676" lvl="0" marL="4572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Char char="•"/>
              <a:defRPr b="0" i="0" sz="5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771525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50"/>
              <a:buFont typeface="Gill Sans"/>
              <a:buChar char="-"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77152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50"/>
              <a:buFont typeface="Gill Sans"/>
              <a:buChar char="•"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771525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50"/>
              <a:buFont typeface="Gill Sans"/>
              <a:buChar char="•"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771525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50"/>
              <a:buFont typeface="Gill Sans"/>
              <a:buChar char="•"/>
              <a:defRPr b="0" i="0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952882" y="13019484"/>
            <a:ext cx="460376" cy="4984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3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387453" y="625078"/>
            <a:ext cx="15609095" cy="3036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2286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4572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6858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9144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11430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13716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16002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1828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387453" y="3661171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66725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66725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66725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66725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66725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2286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4572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6858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9144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11430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13716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16002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1828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>
            <p:ph idx="2" type="pic"/>
          </p:nvPr>
        </p:nvSpPr>
        <p:spPr>
          <a:xfrm>
            <a:off x="5307210" y="892968"/>
            <a:ext cx="13751720" cy="83224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617361" lvl="0" marL="617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17360" lvl="1" marL="1061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17360" lvl="2" marL="1506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17360" lvl="3" marL="1950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17360" lvl="4" marL="2395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17360" lvl="5" marL="2839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17361" lvl="6" marL="3284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17361" lvl="7" marL="3728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17361" lvl="8" marL="4173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2286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4572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6858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9144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11430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13716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16002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1828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2286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4572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6858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9144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11430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13716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16002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1828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/>
          <p:nvPr>
            <p:ph idx="2" type="pic"/>
          </p:nvPr>
        </p:nvSpPr>
        <p:spPr>
          <a:xfrm>
            <a:off x="12495609" y="892968"/>
            <a:ext cx="7500938" cy="115728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617361" lvl="0" marL="617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17360" lvl="1" marL="1061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17360" lvl="2" marL="1506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17360" lvl="3" marL="1950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17360" lvl="4" marL="2395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17360" lvl="5" marL="2839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17361" lvl="6" marL="3284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17361" lvl="7" marL="3728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17361" lvl="8" marL="4173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1" name="Google Shape;41;p10"/>
          <p:cNvSpPr txBox="1"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8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2286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4572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6858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9144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11430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13716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16002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1828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4387453" y="625078"/>
            <a:ext cx="15609095" cy="3036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2286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4572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6858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9144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11430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13716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16002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1828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/>
          <p:nvPr>
            <p:ph idx="2" type="pic"/>
          </p:nvPr>
        </p:nvSpPr>
        <p:spPr>
          <a:xfrm>
            <a:off x="12495609" y="3661171"/>
            <a:ext cx="7500938" cy="88403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617361" lvl="0" marL="617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17360" lvl="1" marL="1061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17360" lvl="2" marL="1506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17360" lvl="3" marL="1950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17360" lvl="4" marL="2395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17360" lvl="5" marL="2839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17361" lvl="6" marL="3284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17361" lvl="7" marL="3728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17361" lvl="8" marL="4173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9" name="Google Shape;49;p12"/>
          <p:cNvSpPr txBox="1"/>
          <p:nvPr>
            <p:ph type="title"/>
          </p:nvPr>
        </p:nvSpPr>
        <p:spPr>
          <a:xfrm>
            <a:off x="4387453" y="625078"/>
            <a:ext cx="15609095" cy="3036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2286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4572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6858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9144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11430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13716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16002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1828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09575" lvl="0" marL="457200" marR="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Helvetica Neue"/>
              <a:buChar char="•"/>
              <a:defRPr b="0" i="0" sz="3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9575" lvl="1" marL="914400" marR="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Helvetica Neue"/>
              <a:buChar char="•"/>
              <a:defRPr b="0" i="0" sz="3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09575" lvl="2" marL="1371600" marR="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Helvetica Neue"/>
              <a:buChar char="•"/>
              <a:defRPr b="0" i="0" sz="3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09575" lvl="3" marL="1828800" marR="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Helvetica Neue"/>
              <a:buChar char="•"/>
              <a:defRPr b="0" i="0" sz="3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09575" lvl="4" marL="2286000" marR="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Helvetica Neue"/>
              <a:buChar char="•"/>
              <a:defRPr b="0" i="0" sz="3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387453" y="1785937"/>
            <a:ext cx="15609095" cy="10144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66725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66725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66725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66725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66725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>
            <p:ph idx="2" type="pic"/>
          </p:nvPr>
        </p:nvSpPr>
        <p:spPr>
          <a:xfrm>
            <a:off x="12495609" y="7161609"/>
            <a:ext cx="7500938" cy="53042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617361" lvl="0" marL="617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17360" lvl="1" marL="1061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17360" lvl="2" marL="1506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17360" lvl="3" marL="1950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17360" lvl="4" marL="2395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17360" lvl="5" marL="2839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17361" lvl="6" marL="3284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17361" lvl="7" marL="3728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17361" lvl="8" marL="4173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7" name="Google Shape;57;p14"/>
          <p:cNvSpPr/>
          <p:nvPr>
            <p:ph idx="3" type="pic"/>
          </p:nvPr>
        </p:nvSpPr>
        <p:spPr>
          <a:xfrm>
            <a:off x="12504353" y="1250156"/>
            <a:ext cx="7500939" cy="53042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617361" lvl="0" marL="617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17360" lvl="1" marL="1061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17360" lvl="2" marL="1506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17360" lvl="3" marL="1950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17360" lvl="4" marL="2395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17360" lvl="5" marL="2839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17361" lvl="6" marL="3284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17361" lvl="7" marL="3728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17361" lvl="8" marL="4173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8" name="Google Shape;58;p14"/>
          <p:cNvSpPr/>
          <p:nvPr>
            <p:ph idx="4" type="pic"/>
          </p:nvPr>
        </p:nvSpPr>
        <p:spPr>
          <a:xfrm>
            <a:off x="4387453" y="1250156"/>
            <a:ext cx="7500938" cy="112156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617361" lvl="0" marL="617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17360" lvl="1" marL="1061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17360" lvl="2" marL="1506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17360" lvl="3" marL="1950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17360" lvl="4" marL="2395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17360" lvl="5" marL="2839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17361" lvl="6" marL="3284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17361" lvl="7" marL="3728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17361" lvl="8" marL="4173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66725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66725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66725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66725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body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66725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66725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66725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66725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>
            <p:ph idx="2" type="pic"/>
          </p:nvPr>
        </p:nvSpPr>
        <p:spPr>
          <a:xfrm>
            <a:off x="3048000" y="0"/>
            <a:ext cx="18288001" cy="137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617361" lvl="0" marL="617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17360" lvl="1" marL="1061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17360" lvl="2" marL="1506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17360" lvl="3" marL="1950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17360" lvl="4" marL="2395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17360" lvl="5" marL="2839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17361" lvl="6" marL="3284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17361" lvl="7" marL="37288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17361" lvl="8" marL="417336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387453" y="625078"/>
            <a:ext cx="15609095" cy="3036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2286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4572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6858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9144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11430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13716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16002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1828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387453" y="3661171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66725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66725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66725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66725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66725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66725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6725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6725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6725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Helvetica Neue"/>
              <a:buChar char="•"/>
              <a:defRPr b="0" i="0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hunkim.github.io/ml/" TargetMode="External"/><Relationship Id="rId4" Type="http://schemas.openxmlformats.org/officeDocument/2006/relationships/hyperlink" Target="https://youtu.be/kPxpJY6fRkY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1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Lecture 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-US" sz="7200"/>
              <a:t>Multivariable</a:t>
            </a:r>
            <a:r>
              <a:rPr b="0" i="0" lang="en-US" sz="7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linear regression </a:t>
            </a:r>
            <a:endParaRPr/>
          </a:p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4833937" y="8501062"/>
            <a:ext cx="14716126" cy="1589485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Sung Kim &lt;hunkim+m</a:t>
            </a:r>
            <a:r>
              <a:rPr lang="en-US"/>
              <a:t>l</a:t>
            </a:r>
            <a:r>
              <a:rPr b="0" i="0" lang="en-US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@gmail.com&gt;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50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http://hunkim.github.io/ml/</a:t>
            </a:r>
            <a:endParaRPr b="0" i="0" sz="5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-US"/>
              <a:t>Video (Korean):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https://youtu.be/kPxpJY6fRkY</a:t>
            </a:r>
            <a:r>
              <a:rPr lang="en-US"/>
              <a:t> </a:t>
            </a:r>
            <a:endParaRPr/>
          </a:p>
        </p:txBody>
      </p:sp>
      <p:pic>
        <p:nvPicPr>
          <p:cNvPr id="73" name="Google Shape;7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23575" y="11365072"/>
            <a:ext cx="3810000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Recap</a:t>
            </a:r>
            <a:endParaRPr/>
          </a:p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4351734" y="2677441"/>
            <a:ext cx="14716126" cy="6752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-711199" lvl="0" marL="1092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</a:t>
            </a:r>
            <a:endParaRPr/>
          </a:p>
          <a:p>
            <a:pPr indent="-103123" lvl="0" marL="10922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None/>
            </a:pPr>
            <a:r>
              <a:t/>
            </a:r>
            <a:endParaRPr b="0" i="0" sz="5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711200" lvl="0" marL="10922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Cost function</a:t>
            </a:r>
            <a:endParaRPr/>
          </a:p>
          <a:p>
            <a:pPr indent="-103123" lvl="0" marL="10922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None/>
            </a:pPr>
            <a:r>
              <a:t/>
            </a:r>
            <a:endParaRPr b="0" i="0" sz="5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711199" lvl="0" marL="10922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Gradient descent algorithm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Recap</a:t>
            </a:r>
            <a:endParaRPr/>
          </a:p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4351734" y="2677441"/>
            <a:ext cx="14716126" cy="6752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-711199" lvl="0" marL="1092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</a:t>
            </a:r>
            <a:endParaRPr/>
          </a:p>
          <a:p>
            <a:pPr indent="-103123" lvl="0" marL="10922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None/>
            </a:pPr>
            <a:r>
              <a:t/>
            </a:r>
            <a:endParaRPr b="0" i="0" sz="5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711199" lvl="0" marL="10922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Cost function</a:t>
            </a:r>
            <a:endParaRPr/>
          </a:p>
          <a:p>
            <a:pPr indent="-103123" lvl="0" marL="10922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None/>
            </a:pPr>
            <a:r>
              <a:t/>
            </a:r>
            <a:endParaRPr b="0" i="0" sz="5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711199" lvl="0" marL="10922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Gill Sans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Gradient descent algorithm</a:t>
            </a:r>
            <a:endParaRPr/>
          </a:p>
        </p:txBody>
      </p:sp>
      <p:pic>
        <p:nvPicPr>
          <p:cNvPr id="86" name="Google Shape;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9478" y="4203087"/>
            <a:ext cx="4568872" cy="687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4460" y="6447053"/>
            <a:ext cx="9876300" cy="17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Predicting exam score: </a:t>
            </a:r>
            <a:endParaRPr b="0" i="0" sz="9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regression using one input (x)</a:t>
            </a:r>
            <a:endParaRPr/>
          </a:p>
        </p:txBody>
      </p:sp>
      <p:graphicFrame>
        <p:nvGraphicFramePr>
          <p:cNvPr id="93" name="Google Shape;93;p20"/>
          <p:cNvGraphicFramePr/>
          <p:nvPr/>
        </p:nvGraphicFramePr>
        <p:xfrm>
          <a:off x="9311582" y="4784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{4CD6A6A8-4D4D-441E-A535-D23A9F8C3ED4}</a:tableStyleId>
              </a:tblPr>
              <a:tblGrid>
                <a:gridCol w="2883000"/>
                <a:gridCol w="2883000"/>
              </a:tblGrid>
              <a:tr h="114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x (hours)</a:t>
                      </a:r>
                      <a:endParaRPr/>
                    </a:p>
                  </a:txBody>
                  <a:tcPr marT="50800" marB="50800" marR="50800" marL="50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y (score)</a:t>
                      </a:r>
                      <a:endParaRPr/>
                    </a:p>
                  </a:txBody>
                  <a:tcPr marT="50800" marB="50800" marR="50800" marL="50800" anchor="ctr">
                    <a:noFill/>
                  </a:tcPr>
                </a:tc>
              </a:tr>
              <a:tr h="114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10</a:t>
                      </a:r>
                      <a:endParaRPr/>
                    </a:p>
                  </a:txBody>
                  <a:tcPr marT="50800" marB="50800" marR="50800" marL="50800" anchor="ctr"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90</a:t>
                      </a:r>
                      <a:endParaRPr/>
                    </a:p>
                  </a:txBody>
                  <a:tcPr marT="50800" marB="50800" marR="50800" marL="50800" anchor="ctr">
                    <a:solidFill>
                      <a:srgbClr val="DCDEE0"/>
                    </a:solidFill>
                  </a:tcPr>
                </a:tc>
              </a:tr>
              <a:tr h="114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9</a:t>
                      </a:r>
                      <a:endParaRPr/>
                    </a:p>
                  </a:txBody>
                  <a:tcPr marT="50800" marB="50800" marR="50800" marL="50800" anchor="ctr"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80</a:t>
                      </a:r>
                      <a:endParaRPr/>
                    </a:p>
                  </a:txBody>
                  <a:tcPr marT="50800" marB="50800" marR="50800" marL="50800" anchor="ctr">
                    <a:solidFill>
                      <a:srgbClr val="DCDEE0"/>
                    </a:solidFill>
                  </a:tcPr>
                </a:tc>
              </a:tr>
              <a:tr h="114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3</a:t>
                      </a:r>
                      <a:endParaRPr/>
                    </a:p>
                  </a:txBody>
                  <a:tcPr marT="50800" marB="50800" marR="50800" marL="50800" anchor="ctr"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50</a:t>
                      </a:r>
                      <a:endParaRPr/>
                    </a:p>
                  </a:txBody>
                  <a:tcPr marT="50800" marB="50800" marR="50800" marL="50800" anchor="ctr">
                    <a:solidFill>
                      <a:srgbClr val="DCDEE0"/>
                    </a:solidFill>
                  </a:tcPr>
                </a:tc>
              </a:tr>
              <a:tr h="114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2</a:t>
                      </a:r>
                      <a:endParaRPr/>
                    </a:p>
                  </a:txBody>
                  <a:tcPr marT="50800" marB="50800" marR="50800" marL="50800" anchor="ctr"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60</a:t>
                      </a:r>
                      <a:endParaRPr/>
                    </a:p>
                  </a:txBody>
                  <a:tcPr marT="50800" marB="50800" marR="50800" marL="50800" anchor="ctr">
                    <a:solidFill>
                      <a:srgbClr val="DCDEE0"/>
                    </a:solidFill>
                  </a:tcPr>
                </a:tc>
              </a:tr>
              <a:tr h="114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11</a:t>
                      </a:r>
                      <a:endParaRPr/>
                    </a:p>
                  </a:txBody>
                  <a:tcPr marT="50800" marB="50800" marR="50800" marL="50800" anchor="ctr"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Helvetica Neue"/>
                        <a:buNone/>
                      </a:pPr>
                      <a:r>
                        <a:rPr lang="en-US" sz="3600" u="none" cap="none" strike="noStrike"/>
                        <a:t>40</a:t>
                      </a:r>
                      <a:endParaRPr/>
                    </a:p>
                  </a:txBody>
                  <a:tcPr marT="50800" marB="50800" marR="50800" marL="50800" anchor="ctr">
                    <a:solidFill>
                      <a:srgbClr val="DCDEE0"/>
                    </a:solidFill>
                  </a:tcPr>
                </a:tc>
              </a:tr>
            </a:tbl>
          </a:graphicData>
        </a:graphic>
      </p:graphicFrame>
      <p:sp>
        <p:nvSpPr>
          <p:cNvPr id="94" name="Google Shape;94;p20"/>
          <p:cNvSpPr/>
          <p:nvPr/>
        </p:nvSpPr>
        <p:spPr>
          <a:xfrm>
            <a:off x="3421459" y="6346031"/>
            <a:ext cx="3860801" cy="166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one-variable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one-feature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Predicting exam score: </a:t>
            </a:r>
            <a:endParaRPr b="0" i="0" sz="9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regression using </a:t>
            </a:r>
            <a:r>
              <a:rPr lang="en-US" sz="7200"/>
              <a:t>three</a:t>
            </a:r>
            <a:r>
              <a:rPr b="0" i="0" lang="en-US" sz="7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inputs (x1, x2, x3)</a:t>
            </a:r>
            <a:endParaRPr/>
          </a:p>
        </p:txBody>
      </p:sp>
      <p:sp>
        <p:nvSpPr>
          <p:cNvPr id="100" name="Google Shape;100;p21"/>
          <p:cNvSpPr/>
          <p:nvPr/>
        </p:nvSpPr>
        <p:spPr>
          <a:xfrm>
            <a:off x="7540476" y="4486325"/>
            <a:ext cx="82299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multi-variable/feature</a:t>
            </a:r>
            <a:endParaRPr/>
          </a:p>
        </p:txBody>
      </p:sp>
      <p:graphicFrame>
        <p:nvGraphicFramePr>
          <p:cNvPr id="101" name="Google Shape;101;p21"/>
          <p:cNvGraphicFramePr/>
          <p:nvPr/>
        </p:nvGraphicFramePr>
        <p:xfrm>
          <a:off x="3553575" y="548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{8431576D-A772-43D7-82D2-0E7CFCB94867}</a:tableStyleId>
              </a:tblPr>
              <a:tblGrid>
                <a:gridCol w="4532000"/>
                <a:gridCol w="4532000"/>
                <a:gridCol w="4532000"/>
                <a:gridCol w="4532000"/>
              </a:tblGrid>
              <a:tr h="11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1  </a:t>
                      </a:r>
                      <a:r>
                        <a:rPr b="1" lang="en-US" sz="5000">
                          <a:solidFill>
                            <a:schemeClr val="dk1"/>
                          </a:solidFill>
                        </a:rPr>
                        <a:t>(quiz 1)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2  </a:t>
                      </a:r>
                      <a:r>
                        <a:rPr b="1" lang="en-US" sz="5000">
                          <a:solidFill>
                            <a:schemeClr val="dk1"/>
                          </a:solidFill>
                        </a:rPr>
                        <a:t>(quiz 2)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3  </a:t>
                      </a:r>
                      <a:r>
                        <a:rPr b="1" lang="en-US" sz="5000">
                          <a:solidFill>
                            <a:schemeClr val="dk1"/>
                          </a:solidFill>
                        </a:rPr>
                        <a:t>(midterm 1)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Y (final)</a:t>
                      </a:r>
                      <a:endParaRPr b="1"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75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152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88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185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89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91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180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96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98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100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196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66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142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21"/>
          <p:cNvSpPr txBox="1"/>
          <p:nvPr/>
        </p:nvSpPr>
        <p:spPr>
          <a:xfrm>
            <a:off x="8461650" y="11062650"/>
            <a:ext cx="89796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highlight>
                  <a:srgbClr val="FFFFFF"/>
                </a:highlight>
              </a:rPr>
              <a:t>Test Scores for General Psychology</a:t>
            </a:r>
            <a:endParaRPr sz="36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</a:t>
            </a:r>
            <a:endParaRPr/>
          </a:p>
        </p:txBody>
      </p:sp>
      <p:pic>
        <p:nvPicPr>
          <p:cNvPr id="108" name="Google Shape;1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7564" y="4514155"/>
            <a:ext cx="4568872" cy="687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</a:t>
            </a:r>
            <a:endParaRPr/>
          </a:p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7564" y="4514155"/>
            <a:ext cx="4568872" cy="687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6975" y="6630576"/>
            <a:ext cx="14653801" cy="8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Cost function</a:t>
            </a:r>
            <a:endParaRPr/>
          </a:p>
        </p:txBody>
      </p:sp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6975" y="4954176"/>
            <a:ext cx="14653801" cy="85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2125" y="8083976"/>
            <a:ext cx="132397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Multi-variable</a:t>
            </a:r>
            <a:endParaRPr/>
          </a:p>
        </p:txBody>
      </p:sp>
      <p:pic>
        <p:nvPicPr>
          <p:cNvPr id="128" name="Google Shape;1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2750" y="7895125"/>
            <a:ext cx="19438500" cy="76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6975" y="4801776"/>
            <a:ext cx="14653801" cy="8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Matrix</a:t>
            </a:r>
            <a:endParaRPr/>
          </a:p>
        </p:txBody>
      </p:sp>
      <p:pic>
        <p:nvPicPr>
          <p:cNvPr id="135" name="Google Shape;1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0258" y="4054705"/>
            <a:ext cx="9322595" cy="48220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/>
          <p:nvPr/>
        </p:nvSpPr>
        <p:spPr>
          <a:xfrm>
            <a:off x="18424920" y="7018734"/>
            <a:ext cx="1785939" cy="17859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Matrix multiplication</a:t>
            </a:r>
            <a:endParaRPr/>
          </a:p>
        </p:txBody>
      </p:sp>
      <p:pic>
        <p:nvPicPr>
          <p:cNvPr id="142" name="Google Shape;1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281" y="4507678"/>
            <a:ext cx="9707438" cy="33482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/>
          <p:nvPr/>
        </p:nvSpPr>
        <p:spPr>
          <a:xfrm>
            <a:off x="4813325" y="12370600"/>
            <a:ext cx="185205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https://www.mathsisfun.com/algebra/matrix-multiplying.html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-21835" y="357187"/>
            <a:ext cx="24427671" cy="342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using </a:t>
            </a:r>
            <a:r>
              <a:rPr lang="en-US"/>
              <a:t>matrix</a:t>
            </a:r>
            <a:endParaRPr/>
          </a:p>
        </p:txBody>
      </p:sp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425" y="5420714"/>
            <a:ext cx="16318671" cy="2874563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" name="Google Shape;15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7983" y="3304105"/>
            <a:ext cx="9322500" cy="48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4198" y="9929799"/>
            <a:ext cx="7655600" cy="134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-21835" y="357187"/>
            <a:ext cx="24427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using </a:t>
            </a:r>
            <a:r>
              <a:rPr lang="en-US"/>
              <a:t>matrix</a:t>
            </a:r>
            <a:endParaRPr/>
          </a:p>
        </p:txBody>
      </p:sp>
      <p:sp>
        <p:nvSpPr>
          <p:cNvPr id="157" name="Google Shape;157;p29"/>
          <p:cNvSpPr txBox="1"/>
          <p:nvPr/>
        </p:nvSpPr>
        <p:spPr>
          <a:xfrm>
            <a:off x="15083475" y="12594250"/>
            <a:ext cx="93225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https://www.symbolab.com/solver/matrix-calculator</a:t>
            </a:r>
            <a:endParaRPr sz="3200"/>
          </a:p>
        </p:txBody>
      </p:sp>
      <p:graphicFrame>
        <p:nvGraphicFramePr>
          <p:cNvPr id="158" name="Google Shape;158;p29"/>
          <p:cNvGraphicFramePr/>
          <p:nvPr/>
        </p:nvGraphicFramePr>
        <p:xfrm>
          <a:off x="508550" y="438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{8431576D-A772-43D7-82D2-0E7CFCB94867}</a:tableStyleId>
              </a:tblPr>
              <a:tblGrid>
                <a:gridCol w="1698875"/>
                <a:gridCol w="1698875"/>
                <a:gridCol w="1698875"/>
                <a:gridCol w="1698875"/>
              </a:tblGrid>
              <a:tr h="11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1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2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3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Y</a:t>
                      </a:r>
                      <a:endParaRPr b="1"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75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152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88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185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89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91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180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96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98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100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196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66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142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29"/>
          <p:cNvSpPr txBox="1"/>
          <p:nvPr/>
        </p:nvSpPr>
        <p:spPr>
          <a:xfrm>
            <a:off x="175950" y="9917375"/>
            <a:ext cx="81663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highlight>
                  <a:srgbClr val="FFFFFF"/>
                </a:highlight>
              </a:rPr>
              <a:t>Test Scores for General Psychology</a:t>
            </a:r>
            <a:endParaRPr sz="36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28250" y="3081337"/>
            <a:ext cx="10839450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-21835" y="357187"/>
            <a:ext cx="24427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using </a:t>
            </a:r>
            <a:r>
              <a:rPr lang="en-US"/>
              <a:t>matrix</a:t>
            </a:r>
            <a:endParaRPr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6650" y="5989389"/>
            <a:ext cx="16318671" cy="2874563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7" name="Google Shape;16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68186" y="9884299"/>
            <a:ext cx="7655600" cy="13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0"/>
          <p:cNvSpPr txBox="1"/>
          <p:nvPr/>
        </p:nvSpPr>
        <p:spPr>
          <a:xfrm>
            <a:off x="15083475" y="12594250"/>
            <a:ext cx="93225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https://www.symbolab.com/solver/matrix-calculator</a:t>
            </a:r>
            <a:endParaRPr sz="3200"/>
          </a:p>
        </p:txBody>
      </p:sp>
      <p:graphicFrame>
        <p:nvGraphicFramePr>
          <p:cNvPr id="169" name="Google Shape;169;p30"/>
          <p:cNvGraphicFramePr/>
          <p:nvPr/>
        </p:nvGraphicFramePr>
        <p:xfrm>
          <a:off x="508550" y="438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{8431576D-A772-43D7-82D2-0E7CFCB94867}</a:tableStyleId>
              </a:tblPr>
              <a:tblGrid>
                <a:gridCol w="1698875"/>
                <a:gridCol w="1698875"/>
                <a:gridCol w="1698875"/>
                <a:gridCol w="1698875"/>
              </a:tblGrid>
              <a:tr h="11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1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2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3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Y</a:t>
                      </a:r>
                      <a:endParaRPr b="1"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75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152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88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185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89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91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180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96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98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100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196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66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142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30"/>
          <p:cNvSpPr txBox="1"/>
          <p:nvPr/>
        </p:nvSpPr>
        <p:spPr>
          <a:xfrm>
            <a:off x="175950" y="9917375"/>
            <a:ext cx="82167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highlight>
                  <a:srgbClr val="FFFFFF"/>
                </a:highlight>
              </a:rPr>
              <a:t>Test Scores for General Psychology</a:t>
            </a:r>
            <a:endParaRPr sz="36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28275" y="3081337"/>
            <a:ext cx="10839450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-21835" y="357187"/>
            <a:ext cx="24427800" cy="3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Many x instances</a:t>
            </a:r>
            <a:endParaRPr/>
          </a:p>
        </p:txBody>
      </p:sp>
      <p:graphicFrame>
        <p:nvGraphicFramePr>
          <p:cNvPr id="177" name="Google Shape;177;p31"/>
          <p:cNvGraphicFramePr/>
          <p:nvPr/>
        </p:nvGraphicFramePr>
        <p:xfrm>
          <a:off x="3473650" y="403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{8431576D-A772-43D7-82D2-0E7CFCB94867}</a:tableStyleId>
              </a:tblPr>
              <a:tblGrid>
                <a:gridCol w="1698875"/>
                <a:gridCol w="1698875"/>
                <a:gridCol w="1698875"/>
                <a:gridCol w="1698875"/>
              </a:tblGrid>
              <a:tr h="11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1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2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x</a:t>
                      </a:r>
                      <a:r>
                        <a:rPr b="1" baseline="-25000" lang="en-US" sz="5000"/>
                        <a:t>3</a:t>
                      </a:r>
                      <a:endParaRPr b="1" baseline="-25000"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/>
                        <a:t>Y</a:t>
                      </a:r>
                      <a:endParaRPr b="1"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75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152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88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185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89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91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180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96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98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100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196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97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73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66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70</a:t>
                      </a:r>
                      <a:endParaRPr sz="5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0"/>
                        <a:t>142</a:t>
                      </a:r>
                      <a:endParaRPr sz="5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31"/>
          <p:cNvSpPr txBox="1"/>
          <p:nvPr/>
        </p:nvSpPr>
        <p:spPr>
          <a:xfrm>
            <a:off x="2643500" y="9621913"/>
            <a:ext cx="107547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highlight>
                  <a:srgbClr val="FFFFFF"/>
                </a:highlight>
              </a:rPr>
              <a:t>Test Scores for General Psychology</a:t>
            </a:r>
            <a:endParaRPr sz="36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7574500" y="12806275"/>
            <a:ext cx="172188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highlight>
                  <a:srgbClr val="FFFFFF"/>
                </a:highlight>
              </a:rPr>
              <a:t>http://college.cengage.com/mathematics/brase/understandable_statistics/7e/students/datasets/mlr/frames/frame.html</a:t>
            </a:r>
            <a:endParaRPr sz="25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8649" y="6191147"/>
            <a:ext cx="11729698" cy="20662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-21835" y="357187"/>
            <a:ext cx="24427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using </a:t>
            </a:r>
            <a:r>
              <a:rPr lang="en-US"/>
              <a:t>matrix</a:t>
            </a:r>
            <a:endParaRPr/>
          </a:p>
        </p:txBody>
      </p:sp>
      <p:pic>
        <p:nvPicPr>
          <p:cNvPr id="186" name="Google Shape;1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7983" y="3304105"/>
            <a:ext cx="9322500" cy="48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4198" y="9929799"/>
            <a:ext cx="7655600" cy="13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7225" y="4800600"/>
            <a:ext cx="166497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2"/>
          <p:cNvSpPr txBox="1"/>
          <p:nvPr/>
        </p:nvSpPr>
        <p:spPr>
          <a:xfrm>
            <a:off x="15083475" y="12594250"/>
            <a:ext cx="93225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https://www.symbolab.com/solver/matrix-calculator</a:t>
            </a:r>
            <a:endParaRPr sz="3200"/>
          </a:p>
        </p:txBody>
      </p:sp>
      <p:graphicFrame>
        <p:nvGraphicFramePr>
          <p:cNvPr id="190" name="Google Shape;190;p32"/>
          <p:cNvGraphicFramePr/>
          <p:nvPr/>
        </p:nvGraphicFramePr>
        <p:xfrm>
          <a:off x="376950" y="27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{8431576D-A772-43D7-82D2-0E7CFCB94867}</a:tableStyleId>
              </a:tblPr>
              <a:tblGrid>
                <a:gridCol w="986425"/>
                <a:gridCol w="986425"/>
                <a:gridCol w="986425"/>
                <a:gridCol w="986425"/>
              </a:tblGrid>
              <a:tr h="59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x</a:t>
                      </a:r>
                      <a:r>
                        <a:rPr b="1" baseline="-25000" lang="en-US" sz="3000"/>
                        <a:t>1</a:t>
                      </a:r>
                      <a:endParaRPr b="1" baseline="-25000"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x</a:t>
                      </a:r>
                      <a:r>
                        <a:rPr b="1" baseline="-25000" lang="en-US" sz="3000"/>
                        <a:t>2</a:t>
                      </a:r>
                      <a:endParaRPr b="1" baseline="-25000"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x</a:t>
                      </a:r>
                      <a:r>
                        <a:rPr b="1" baseline="-25000" lang="en-US" sz="3000"/>
                        <a:t>3</a:t>
                      </a:r>
                      <a:endParaRPr b="1" baseline="-25000"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Y</a:t>
                      </a:r>
                      <a:endParaRPr b="1" sz="3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59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73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80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75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152</a:t>
                      </a:r>
                      <a:endParaRPr sz="3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59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93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88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93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185</a:t>
                      </a:r>
                      <a:endParaRPr sz="3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59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89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91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90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180</a:t>
                      </a:r>
                      <a:endParaRPr sz="3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59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96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98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100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196</a:t>
                      </a:r>
                      <a:endParaRPr sz="3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59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73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66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70</a:t>
                      </a:r>
                      <a:endParaRPr sz="3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142</a:t>
                      </a:r>
                      <a:endParaRPr sz="3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-21835" y="357187"/>
            <a:ext cx="24427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using </a:t>
            </a:r>
            <a:r>
              <a:rPr lang="en-US"/>
              <a:t>matrix</a:t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873" y="11251824"/>
            <a:ext cx="7655600" cy="13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7225" y="4800600"/>
            <a:ext cx="166497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3"/>
          <p:cNvSpPr txBox="1"/>
          <p:nvPr/>
        </p:nvSpPr>
        <p:spPr>
          <a:xfrm>
            <a:off x="15083475" y="12594250"/>
            <a:ext cx="93225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https://www.symbolab.com/solver/matrix-calculator</a:t>
            </a:r>
            <a:endParaRPr sz="3200"/>
          </a:p>
        </p:txBody>
      </p:sp>
      <p:sp>
        <p:nvSpPr>
          <p:cNvPr id="199" name="Google Shape;199;p33"/>
          <p:cNvSpPr txBox="1"/>
          <p:nvPr/>
        </p:nvSpPr>
        <p:spPr>
          <a:xfrm>
            <a:off x="5241163" y="9705825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onsolas"/>
                <a:ea typeface="Consolas"/>
                <a:cs typeface="Consolas"/>
                <a:sym typeface="Consolas"/>
              </a:rPr>
              <a:t>[5, 3]</a:t>
            </a:r>
            <a:endParaRPr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" name="Google Shape;200;p33"/>
          <p:cNvSpPr txBox="1"/>
          <p:nvPr/>
        </p:nvSpPr>
        <p:spPr>
          <a:xfrm>
            <a:off x="15558188" y="9705825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onsolas"/>
                <a:ea typeface="Consolas"/>
                <a:cs typeface="Consolas"/>
                <a:sym typeface="Consolas"/>
              </a:rPr>
              <a:t>[5, 1]</a:t>
            </a:r>
            <a:endParaRPr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9532713" y="9705825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latin typeface="Consolas"/>
                <a:ea typeface="Consolas"/>
                <a:cs typeface="Consolas"/>
                <a:sym typeface="Consolas"/>
              </a:rPr>
              <a:t>[3, 1]</a:t>
            </a:r>
            <a:endParaRPr b="1" sz="5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-21835" y="357187"/>
            <a:ext cx="24427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using </a:t>
            </a:r>
            <a:r>
              <a:rPr lang="en-US"/>
              <a:t>matrix</a:t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4198" y="9929799"/>
            <a:ext cx="7655600" cy="13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800" y="3938548"/>
            <a:ext cx="14924399" cy="40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4"/>
          <p:cNvSpPr txBox="1"/>
          <p:nvPr/>
        </p:nvSpPr>
        <p:spPr>
          <a:xfrm>
            <a:off x="5520800" y="8159075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onsolas"/>
                <a:ea typeface="Consolas"/>
                <a:cs typeface="Consolas"/>
                <a:sym typeface="Consolas"/>
              </a:rPr>
              <a:t>[5, 3]</a:t>
            </a:r>
            <a:endParaRPr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" name="Google Shape;210;p34"/>
          <p:cNvSpPr txBox="1"/>
          <p:nvPr/>
        </p:nvSpPr>
        <p:spPr>
          <a:xfrm>
            <a:off x="16133525" y="8159075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onsolas"/>
                <a:ea typeface="Consolas"/>
                <a:cs typeface="Consolas"/>
                <a:sym typeface="Consolas"/>
              </a:rPr>
              <a:t>[5, 1]</a:t>
            </a:r>
            <a:endParaRPr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" name="Google Shape;211;p34"/>
          <p:cNvSpPr txBox="1"/>
          <p:nvPr/>
        </p:nvSpPr>
        <p:spPr>
          <a:xfrm>
            <a:off x="10607325" y="8159075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onsolas"/>
                <a:ea typeface="Consolas"/>
                <a:cs typeface="Consolas"/>
                <a:sym typeface="Consolas"/>
              </a:rPr>
              <a:t>[?, ?]</a:t>
            </a:r>
            <a:endParaRPr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" name="Google Shape;212;p34"/>
          <p:cNvSpPr txBox="1"/>
          <p:nvPr/>
        </p:nvSpPr>
        <p:spPr>
          <a:xfrm>
            <a:off x="6236425" y="4995525"/>
            <a:ext cx="1790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0"/>
              <a:t>X</a:t>
            </a:r>
            <a:endParaRPr b="1" sz="12000"/>
          </a:p>
        </p:txBody>
      </p:sp>
      <p:sp>
        <p:nvSpPr>
          <p:cNvPr id="213" name="Google Shape;213;p34"/>
          <p:cNvSpPr txBox="1"/>
          <p:nvPr/>
        </p:nvSpPr>
        <p:spPr>
          <a:xfrm>
            <a:off x="11057625" y="4995525"/>
            <a:ext cx="1790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0"/>
              <a:t>W</a:t>
            </a:r>
            <a:endParaRPr b="1" sz="12000"/>
          </a:p>
        </p:txBody>
      </p:sp>
      <p:sp>
        <p:nvSpPr>
          <p:cNvPr id="214" name="Google Shape;214;p34"/>
          <p:cNvSpPr txBox="1"/>
          <p:nvPr/>
        </p:nvSpPr>
        <p:spPr>
          <a:xfrm>
            <a:off x="15802625" y="4919325"/>
            <a:ext cx="37050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/>
              <a:t>H</a:t>
            </a:r>
            <a:r>
              <a:rPr lang="en-US" sz="11000"/>
              <a:t>(X)</a:t>
            </a:r>
            <a:endParaRPr sz="1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-21835" y="357187"/>
            <a:ext cx="24427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using </a:t>
            </a:r>
            <a:r>
              <a:rPr lang="en-US"/>
              <a:t>matrix</a:t>
            </a:r>
            <a:endParaRPr/>
          </a:p>
        </p:txBody>
      </p:sp>
      <p:pic>
        <p:nvPicPr>
          <p:cNvPr id="220" name="Google Shape;22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873" y="11251824"/>
            <a:ext cx="7655600" cy="13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7225" y="4800600"/>
            <a:ext cx="166497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/>
          <p:nvPr/>
        </p:nvSpPr>
        <p:spPr>
          <a:xfrm>
            <a:off x="15083475" y="12594250"/>
            <a:ext cx="93225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https://www.symbolab.com/solver/matrix-calculator</a:t>
            </a:r>
            <a:endParaRPr sz="3200"/>
          </a:p>
        </p:txBody>
      </p:sp>
      <p:sp>
        <p:nvSpPr>
          <p:cNvPr id="223" name="Google Shape;223;p35"/>
          <p:cNvSpPr txBox="1"/>
          <p:nvPr/>
        </p:nvSpPr>
        <p:spPr>
          <a:xfrm>
            <a:off x="5241163" y="9705825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onsolas"/>
                <a:ea typeface="Consolas"/>
                <a:cs typeface="Consolas"/>
                <a:sym typeface="Consolas"/>
              </a:rPr>
              <a:t>[n, 3]</a:t>
            </a:r>
            <a:endParaRPr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" name="Google Shape;224;p35"/>
          <p:cNvSpPr txBox="1"/>
          <p:nvPr/>
        </p:nvSpPr>
        <p:spPr>
          <a:xfrm>
            <a:off x="15558188" y="9705825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onsolas"/>
                <a:ea typeface="Consolas"/>
                <a:cs typeface="Consolas"/>
                <a:sym typeface="Consolas"/>
              </a:rPr>
              <a:t>[n, 1]</a:t>
            </a:r>
            <a:endParaRPr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" name="Google Shape;225;p35"/>
          <p:cNvSpPr txBox="1"/>
          <p:nvPr/>
        </p:nvSpPr>
        <p:spPr>
          <a:xfrm>
            <a:off x="9532713" y="9705825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latin typeface="Consolas"/>
                <a:ea typeface="Consolas"/>
                <a:cs typeface="Consolas"/>
                <a:sym typeface="Consolas"/>
              </a:rPr>
              <a:t>[3, 1]</a:t>
            </a:r>
            <a:endParaRPr b="1" sz="5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-21835" y="357187"/>
            <a:ext cx="24427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using </a:t>
            </a:r>
            <a:r>
              <a:rPr lang="en-US"/>
              <a:t>matrix (n output)</a:t>
            </a:r>
            <a:endParaRPr/>
          </a:p>
        </p:txBody>
      </p:sp>
      <p:pic>
        <p:nvPicPr>
          <p:cNvPr id="231" name="Google Shape;2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4198" y="9929799"/>
            <a:ext cx="7655600" cy="13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8238" y="3892424"/>
            <a:ext cx="18612025" cy="393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6"/>
          <p:cNvSpPr txBox="1"/>
          <p:nvPr/>
        </p:nvSpPr>
        <p:spPr>
          <a:xfrm>
            <a:off x="15083475" y="12594250"/>
            <a:ext cx="93225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https://www.symbolab.com/solver/matrix-calculator</a:t>
            </a:r>
            <a:endParaRPr sz="3200"/>
          </a:p>
        </p:txBody>
      </p:sp>
      <p:sp>
        <p:nvSpPr>
          <p:cNvPr id="234" name="Google Shape;234;p36"/>
          <p:cNvSpPr txBox="1"/>
          <p:nvPr/>
        </p:nvSpPr>
        <p:spPr>
          <a:xfrm>
            <a:off x="4399563" y="8090850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onsolas"/>
                <a:ea typeface="Consolas"/>
                <a:cs typeface="Consolas"/>
                <a:sym typeface="Consolas"/>
              </a:rPr>
              <a:t>[n, 3]</a:t>
            </a:r>
            <a:endParaRPr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14716588" y="8090850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onsolas"/>
                <a:ea typeface="Consolas"/>
                <a:cs typeface="Consolas"/>
                <a:sym typeface="Consolas"/>
              </a:rPr>
              <a:t>[n, 2]</a:t>
            </a:r>
            <a:endParaRPr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7476463" y="8090850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latin typeface="Consolas"/>
                <a:ea typeface="Consolas"/>
                <a:cs typeface="Consolas"/>
                <a:sym typeface="Consolas"/>
              </a:rPr>
              <a:t>[?, ?]</a:t>
            </a:r>
            <a:endParaRPr b="1"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" name="Google Shape;237;p36"/>
          <p:cNvSpPr/>
          <p:nvPr/>
        </p:nvSpPr>
        <p:spPr>
          <a:xfrm>
            <a:off x="7242975" y="4435525"/>
            <a:ext cx="2583600" cy="294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6"/>
          <p:cNvSpPr txBox="1"/>
          <p:nvPr/>
        </p:nvSpPr>
        <p:spPr>
          <a:xfrm>
            <a:off x="7869775" y="4299038"/>
            <a:ext cx="2056800" cy="1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0">
                <a:latin typeface="Consolas"/>
                <a:ea typeface="Consolas"/>
                <a:cs typeface="Consolas"/>
                <a:sym typeface="Consolas"/>
              </a:rPr>
              <a:t>?</a:t>
            </a:r>
            <a:endParaRPr b="1" sz="20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type="title"/>
          </p:nvPr>
        </p:nvSpPr>
        <p:spPr>
          <a:xfrm>
            <a:off x="-21835" y="357187"/>
            <a:ext cx="24427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using </a:t>
            </a:r>
            <a:r>
              <a:rPr lang="en-US"/>
              <a:t>matrix (n output)</a:t>
            </a:r>
            <a:endParaRPr/>
          </a:p>
        </p:txBody>
      </p:sp>
      <p:pic>
        <p:nvPicPr>
          <p:cNvPr id="244" name="Google Shape;24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4198" y="9929799"/>
            <a:ext cx="7655600" cy="13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8238" y="3892424"/>
            <a:ext cx="18612025" cy="393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7"/>
          <p:cNvSpPr txBox="1"/>
          <p:nvPr/>
        </p:nvSpPr>
        <p:spPr>
          <a:xfrm>
            <a:off x="15083475" y="12594250"/>
            <a:ext cx="93225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https://www.symbolab.com/solver/matrix-calculator</a:t>
            </a:r>
            <a:endParaRPr sz="3200"/>
          </a:p>
        </p:txBody>
      </p:sp>
      <p:sp>
        <p:nvSpPr>
          <p:cNvPr id="247" name="Google Shape;247;p37"/>
          <p:cNvSpPr txBox="1"/>
          <p:nvPr/>
        </p:nvSpPr>
        <p:spPr>
          <a:xfrm>
            <a:off x="4399563" y="8090850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onsolas"/>
                <a:ea typeface="Consolas"/>
                <a:cs typeface="Consolas"/>
                <a:sym typeface="Consolas"/>
              </a:rPr>
              <a:t>[n, 3]</a:t>
            </a:r>
            <a:endParaRPr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14716588" y="8090850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onsolas"/>
                <a:ea typeface="Consolas"/>
                <a:cs typeface="Consolas"/>
                <a:sym typeface="Consolas"/>
              </a:rPr>
              <a:t>[n, 2]</a:t>
            </a:r>
            <a:endParaRPr sz="5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7476463" y="8090850"/>
            <a:ext cx="28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latin typeface="Consolas"/>
                <a:ea typeface="Consolas"/>
                <a:cs typeface="Consolas"/>
                <a:sym typeface="Consolas"/>
              </a:rPr>
              <a:t>[3, 2]</a:t>
            </a:r>
            <a:endParaRPr b="1" sz="5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-21835" y="357187"/>
            <a:ext cx="24427800" cy="3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WX vs </a:t>
            </a:r>
            <a:r>
              <a:rPr b="1" lang="en-US"/>
              <a:t>XW</a:t>
            </a:r>
            <a:endParaRPr b="1"/>
          </a:p>
        </p:txBody>
      </p:sp>
      <p:sp>
        <p:nvSpPr>
          <p:cNvPr id="255" name="Google Shape;255;p38"/>
          <p:cNvSpPr txBox="1"/>
          <p:nvPr>
            <p:ph idx="1" type="body"/>
          </p:nvPr>
        </p:nvSpPr>
        <p:spPr>
          <a:xfrm>
            <a:off x="2260845" y="2597950"/>
            <a:ext cx="9666300" cy="80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36676" lvl="0" marL="457200" rtl="0" algn="l">
              <a:spcBef>
                <a:spcPts val="3300"/>
              </a:spcBef>
              <a:spcAft>
                <a:spcPts val="0"/>
              </a:spcAft>
              <a:buSzPts val="9576"/>
              <a:buChar char="•"/>
            </a:pPr>
            <a:r>
              <a:rPr lang="en-US"/>
              <a:t>Lecture (theory): </a:t>
            </a:r>
            <a:endParaRPr/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836676" lvl="0" marL="457200" rtl="0" algn="l">
              <a:spcBef>
                <a:spcPts val="3300"/>
              </a:spcBef>
              <a:spcAft>
                <a:spcPts val="0"/>
              </a:spcAft>
              <a:buSzPts val="9576"/>
              <a:buChar char="•"/>
            </a:pPr>
            <a:r>
              <a:rPr lang="en-US"/>
              <a:t>Implementation (TensorFlow)</a:t>
            </a:r>
            <a:endParaRPr/>
          </a:p>
        </p:txBody>
      </p:sp>
      <p:pic>
        <p:nvPicPr>
          <p:cNvPr id="256" name="Google Shape;25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9484" y="6272646"/>
            <a:ext cx="8924100" cy="134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9473" y="10101624"/>
            <a:ext cx="7655600" cy="134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6343" y="0"/>
            <a:ext cx="21931314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9"/>
          <p:cNvSpPr/>
          <p:nvPr/>
        </p:nvSpPr>
        <p:spPr>
          <a:xfrm>
            <a:off x="3405187" y="1107281"/>
            <a:ext cx="8393907" cy="3679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Gill Sans"/>
              <a:buNone/>
            </a:pPr>
            <a:r>
              <a:t/>
            </a:r>
            <a:endParaRPr b="0" i="0" sz="56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4" name="Google Shape;264;p39"/>
          <p:cNvSpPr/>
          <p:nvPr/>
        </p:nvSpPr>
        <p:spPr>
          <a:xfrm rot="-970540">
            <a:off x="2841078" y="625156"/>
            <a:ext cx="10787063" cy="4196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Next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1" lang="en-US" sz="9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Logistic Regression (Classification)</a:t>
            </a:r>
            <a:endParaRPr/>
          </a:p>
        </p:txBody>
      </p:sp>
      <p:sp>
        <p:nvSpPr>
          <p:cNvPr id="265" name="Google Shape;265;p39"/>
          <p:cNvSpPr/>
          <p:nvPr/>
        </p:nvSpPr>
        <p:spPr>
          <a:xfrm>
            <a:off x="-101975" y="-152975"/>
            <a:ext cx="3773100" cy="141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9"/>
          <p:cNvSpPr/>
          <p:nvPr/>
        </p:nvSpPr>
        <p:spPr>
          <a:xfrm>
            <a:off x="21108825" y="-204000"/>
            <a:ext cx="3773100" cy="141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