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  <p:sldMasterId id="214748367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  <p:embeddedFont>
      <p:font typeface="Gill Sans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GillSans-regular.fntdata"/><Relationship Id="rId25" Type="http://schemas.openxmlformats.org/officeDocument/2006/relationships/font" Target="fonts/HelveticaNeue-boldItalic.fntdata"/><Relationship Id="rId27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d11dcbc39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1d11dcbc3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eddaeb251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eddaeb251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11d4d889d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211d4d889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d11dcbc39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d11dcbc39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d11dcbc39_0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1d11dcbc39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d11dcbc39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d11dcbc39_0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d11dcbc39_0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d11dcbc39_0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d11dcbc39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d11dcbc39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d11dcbc39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d11dcbc39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d11dcbc39_0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d11dcbc39_0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d11dcbc39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1d11dcbc39_0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1d11dcbc39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1d11dcbc39_0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d11dcbc39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d11dcbc39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1d4d889d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11d4d889d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d11dcbc39_0_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d11dcbc39_0_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d11dcbc39_0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1d11dcbc39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-8188" y="133945"/>
            <a:ext cx="9160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80210" y="1460004"/>
            <a:ext cx="87834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3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1645295" y="1372939"/>
            <a:ext cx="58533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 4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Gill Sans"/>
              <a:buNone/>
              <a:defRPr b="0" i="0" sz="3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1812726" y="1460004"/>
            <a:ext cx="55185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4572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Noto Sans Symbols"/>
              <a:buChar char="●"/>
              <a:defRPr b="0" i="0" sz="21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•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4482331" y="4882307"/>
            <a:ext cx="1728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  <a:defRPr b="0" i="0" sz="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1"/>
          <p:cNvSpPr txBox="1"/>
          <p:nvPr>
            <p:ph idx="1" type="body"/>
          </p:nvPr>
        </p:nvSpPr>
        <p:spPr>
          <a:xfrm>
            <a:off x="1812726" y="2652117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/>
          <p:nvPr>
            <p:ph idx="2" type="pic"/>
          </p:nvPr>
        </p:nvSpPr>
        <p:spPr>
          <a:xfrm>
            <a:off x="1990204" y="334863"/>
            <a:ext cx="51570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type="title"/>
          </p:nvPr>
        </p:nvSpPr>
        <p:spPr>
          <a:xfrm>
            <a:off x="1812726" y="3542854"/>
            <a:ext cx="5518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1812726" y="4319736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4475930" y="4875609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1812726" y="1701105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/>
          <p:nvPr>
            <p:ph idx="2" type="pic"/>
          </p:nvPr>
        </p:nvSpPr>
        <p:spPr>
          <a:xfrm>
            <a:off x="4685854" y="334863"/>
            <a:ext cx="28128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4"/>
          <p:cNvSpPr txBox="1"/>
          <p:nvPr>
            <p:ph type="title"/>
          </p:nvPr>
        </p:nvSpPr>
        <p:spPr>
          <a:xfrm>
            <a:off x="1645295" y="334863"/>
            <a:ext cx="2812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3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1645295" y="2511474"/>
            <a:ext cx="2812800" cy="21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7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4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5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/>
          <p:nvPr>
            <p:ph idx="2" type="pic"/>
          </p:nvPr>
        </p:nvSpPr>
        <p:spPr>
          <a:xfrm>
            <a:off x="4685854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type="title"/>
          </p:nvPr>
        </p:nvSpPr>
        <p:spPr>
          <a:xfrm>
            <a:off x="1645295" y="234404"/>
            <a:ext cx="58533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Helvetica Neue"/>
              <a:buNone/>
              <a:defRPr b="0" i="0" sz="4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1" type="body"/>
          </p:nvPr>
        </p:nvSpPr>
        <p:spPr>
          <a:xfrm>
            <a:off x="1645295" y="1372939"/>
            <a:ext cx="2812800" cy="331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●"/>
              <a:defRPr b="0" i="0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26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idx="1" type="body"/>
          </p:nvPr>
        </p:nvSpPr>
        <p:spPr>
          <a:xfrm>
            <a:off x="1645295" y="669726"/>
            <a:ext cx="58533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●"/>
              <a:defRPr b="0" i="0" sz="1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/>
          <p:nvPr>
            <p:ph idx="2" type="pic"/>
          </p:nvPr>
        </p:nvSpPr>
        <p:spPr>
          <a:xfrm>
            <a:off x="4685854" y="2685604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8"/>
          <p:cNvSpPr/>
          <p:nvPr>
            <p:ph idx="3" type="pic"/>
          </p:nvPr>
        </p:nvSpPr>
        <p:spPr>
          <a:xfrm>
            <a:off x="4689132" y="468808"/>
            <a:ext cx="28128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8"/>
          <p:cNvSpPr/>
          <p:nvPr>
            <p:ph idx="4" type="pic"/>
          </p:nvPr>
        </p:nvSpPr>
        <p:spPr>
          <a:xfrm>
            <a:off x="1645295" y="468808"/>
            <a:ext cx="2812800" cy="4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8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/>
          <p:nvPr>
            <p:ph idx="1" type="body"/>
          </p:nvPr>
        </p:nvSpPr>
        <p:spPr>
          <a:xfrm>
            <a:off x="1812726" y="3355330"/>
            <a:ext cx="5518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1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9"/>
          <p:cNvSpPr txBox="1"/>
          <p:nvPr>
            <p:ph idx="2" type="body"/>
          </p:nvPr>
        </p:nvSpPr>
        <p:spPr>
          <a:xfrm>
            <a:off x="1812726" y="2250132"/>
            <a:ext cx="5518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  <a:defRPr b="0" i="0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29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0"/>
          <p:cNvSpPr/>
          <p:nvPr>
            <p:ph idx="2" type="pic"/>
          </p:nvPr>
        </p:nvSpPr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177800" lvl="0" marL="177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190500" lvl="1" marL="368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571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66700" lvl="3" marL="787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965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1168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13335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15113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1676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4475930" y="4878958"/>
            <a:ext cx="1854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  <a:defRPr b="0" i="0" sz="9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49746" y="229118"/>
            <a:ext cx="82419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"/>
              <a:buFont typeface="Arial"/>
              <a:buNone/>
              <a:defRPr b="1" i="0" sz="3000" u="none" cap="none" strike="noStrike">
                <a:solidFill>
                  <a:srgbClr val="53535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9150"/>
            <a:ext cx="2133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Calibri"/>
              <a:buNone/>
              <a:def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hunkim+ml@gmail.com" TargetMode="External"/><Relationship Id="rId4" Type="http://schemas.openxmlformats.org/officeDocument/2006/relationships/hyperlink" Target="https://github.com/hunkim/DeepLearningZeroToAll/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goo.gl/jPtWN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hunkim+ml@gmail.com" TargetMode="External"/><Relationship Id="rId4" Type="http://schemas.openxmlformats.org/officeDocument/2006/relationships/hyperlink" Target="https://github.com/hunkim/DeepLearningZeroToAll/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hunkim/DeepLearningZeroToAll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hyperlink" Target="https://github.com/hunkim/DeepLearningZeroToAll/blob/master/lab-01-basics.ipynb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1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Linear Regression</a:t>
            </a:r>
            <a:endParaRPr/>
          </a:p>
        </p:txBody>
      </p:sp>
      <p:sp>
        <p:nvSpPr>
          <p:cNvPr id="124" name="Google Shape;124;p31"/>
          <p:cNvSpPr txBox="1"/>
          <p:nvPr>
            <p:ph idx="1" type="body"/>
          </p:nvPr>
        </p:nvSpPr>
        <p:spPr>
          <a:xfrm>
            <a:off x="1392525" y="3197950"/>
            <a:ext cx="69063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hunkim+ml@gmail.com</a:t>
            </a: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Symbols"/>
              <a:buNone/>
            </a:pPr>
            <a:r>
              <a:rPr lang="en">
                <a:solidFill>
                  <a:schemeClr val="dk1"/>
                </a:solidFill>
              </a:rPr>
              <a:t>Code: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https://github.com/hunkim/DeepLearningZeroToAll/</a:t>
            </a:r>
            <a:endParaRPr/>
          </a:p>
        </p:txBody>
      </p:sp>
      <p:pic>
        <p:nvPicPr>
          <p:cNvPr id="125" name="Google Shape;12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31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127" name="Google Shape;12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31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2442" y="1538300"/>
            <a:ext cx="6008308" cy="33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2"/>
          <p:cNvSpPr txBox="1"/>
          <p:nvPr>
            <p:ph type="title"/>
          </p:nvPr>
        </p:nvSpPr>
        <p:spPr>
          <a:xfrm>
            <a:off x="0" y="286350"/>
            <a:ext cx="9073200" cy="1285800"/>
          </a:xfrm>
          <a:prstGeom prst="rect">
            <a:avLst/>
          </a:prstGeom>
        </p:spPr>
        <p:txBody>
          <a:bodyPr anchorCtr="0" anchor="b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for comments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Please feel free to add comments directly on these slides</a:t>
            </a:r>
            <a:endParaRPr sz="2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Other slide</a:t>
            </a:r>
            <a:r>
              <a:rPr lang="en" sz="2800"/>
              <a:t>s: </a:t>
            </a:r>
            <a:r>
              <a:rPr lang="en" sz="2800" u="sng">
                <a:solidFill>
                  <a:schemeClr val="hlink"/>
                </a:solidFill>
                <a:hlinkClick r:id="rId4"/>
              </a:rPr>
              <a:t>https://goo.gl/jPtWNt</a:t>
            </a:r>
            <a:r>
              <a:rPr lang="en" sz="2800"/>
              <a:t>      </a:t>
            </a:r>
            <a:endParaRPr sz="2800"/>
          </a:p>
        </p:txBody>
      </p:sp>
      <p:sp>
        <p:nvSpPr>
          <p:cNvPr id="135" name="Google Shape;135;p32"/>
          <p:cNvSpPr txBox="1"/>
          <p:nvPr/>
        </p:nvSpPr>
        <p:spPr>
          <a:xfrm>
            <a:off x="5446800" y="4728475"/>
            <a:ext cx="4064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Picture from http://www.tssablog.org/archives/3280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Linear Regression</a:t>
            </a:r>
            <a:endParaRPr/>
          </a:p>
        </p:txBody>
      </p:sp>
      <p:sp>
        <p:nvSpPr>
          <p:cNvPr id="141" name="Google Shape;141;p33"/>
          <p:cNvSpPr txBox="1"/>
          <p:nvPr>
            <p:ph idx="1" type="body"/>
          </p:nvPr>
        </p:nvSpPr>
        <p:spPr>
          <a:xfrm>
            <a:off x="1392525" y="3197950"/>
            <a:ext cx="69063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Sung Kim &lt;</a:t>
            </a:r>
            <a:r>
              <a:rPr b="0" i="0" lang="en" sz="1900" u="sng" cap="none" strike="noStrike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3"/>
              </a:rPr>
              <a:t>hunkim+ml@gmail.com</a:t>
            </a: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Symbols"/>
              <a:buNone/>
            </a:pPr>
            <a:r>
              <a:rPr lang="en">
                <a:solidFill>
                  <a:schemeClr val="dk1"/>
                </a:solidFill>
              </a:rPr>
              <a:t>Code: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https://github.com/hunkim/DeepLearningZeroToAll/</a:t>
            </a:r>
            <a:endParaRPr/>
          </a:p>
        </p:txBody>
      </p:sp>
      <p:pic>
        <p:nvPicPr>
          <p:cNvPr id="142" name="Google Shape;14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6341" y="4261902"/>
            <a:ext cx="1428750" cy="7750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33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144" name="Google Shape;144;p3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33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/>
          <p:nvPr>
            <p:ph type="title"/>
          </p:nvPr>
        </p:nvSpPr>
        <p:spPr>
          <a:xfrm>
            <a:off x="225375" y="133950"/>
            <a:ext cx="88131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u="sng">
                <a:solidFill>
                  <a:schemeClr val="hlink"/>
                </a:solidFill>
                <a:hlinkClick r:id="rId3"/>
              </a:rPr>
              <a:t>https://github.com/hunkim/DeepLearningZeroToAll/</a:t>
            </a:r>
            <a:r>
              <a:rPr lang="en" sz="3000"/>
              <a:t> </a:t>
            </a:r>
            <a:endParaRPr sz="3000"/>
          </a:p>
        </p:txBody>
      </p:sp>
      <p:pic>
        <p:nvPicPr>
          <p:cNvPr id="151" name="Google Shape;15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72150"/>
            <a:ext cx="4555950" cy="19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100" y="1572150"/>
            <a:ext cx="4130851" cy="2630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3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Hypothesis and cost function</a:t>
            </a:r>
            <a:endParaRPr/>
          </a:p>
        </p:txBody>
      </p:sp>
      <p:pic>
        <p:nvPicPr>
          <p:cNvPr id="158" name="Google Shape;15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8615" y="1546771"/>
            <a:ext cx="1992000" cy="2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0206" y="2446071"/>
            <a:ext cx="3703500" cy="66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6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TensorFlow Mechanics </a:t>
            </a:r>
            <a:endParaRPr/>
          </a:p>
        </p:txBody>
      </p:sp>
      <p:sp>
        <p:nvSpPr>
          <p:cNvPr id="165" name="Google Shape;165;p36"/>
          <p:cNvSpPr txBox="1"/>
          <p:nvPr/>
        </p:nvSpPr>
        <p:spPr>
          <a:xfrm>
            <a:off x="1318525" y="1297450"/>
            <a:ext cx="3384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feed data and run graph (operation)</a:t>
            </a:r>
            <a:br>
              <a:rPr lang="en" sz="1400"/>
            </a:br>
            <a:r>
              <a:rPr b="1" i="1" lang="en" sz="1400"/>
              <a:t>sess.run (op, feed_dict={x: x_data}) </a:t>
            </a:r>
            <a:endParaRPr b="1"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66" name="Google Shape;166;p36"/>
          <p:cNvSpPr txBox="1"/>
          <p:nvPr/>
        </p:nvSpPr>
        <p:spPr>
          <a:xfrm>
            <a:off x="7158250" y="3622131"/>
            <a:ext cx="3384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update variables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 the graph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(and return values)</a:t>
            </a:r>
            <a:r>
              <a:rPr b="1" lang="en" sz="1400"/>
              <a:t> 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167" name="Google Shape;167;p36"/>
          <p:cNvGrpSpPr/>
          <p:nvPr/>
        </p:nvGrpSpPr>
        <p:grpSpPr>
          <a:xfrm>
            <a:off x="2947675" y="1773824"/>
            <a:ext cx="4345525" cy="3285000"/>
            <a:chOff x="2322525" y="1302249"/>
            <a:chExt cx="4345525" cy="3285000"/>
          </a:xfrm>
        </p:grpSpPr>
        <p:pic>
          <p:nvPicPr>
            <p:cNvPr id="168" name="Google Shape;168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22525" y="1302249"/>
              <a:ext cx="4345525" cy="328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56025" y="2044163"/>
              <a:ext cx="1431725" cy="1765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0" name="Google Shape;17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3075" y="3023400"/>
            <a:ext cx="1290879" cy="86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9125" y="1467137"/>
            <a:ext cx="357425" cy="35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00825" y="3834150"/>
            <a:ext cx="357425" cy="35488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6"/>
          <p:cNvSpPr txBox="1"/>
          <p:nvPr/>
        </p:nvSpPr>
        <p:spPr>
          <a:xfrm>
            <a:off x="902050" y="3157225"/>
            <a:ext cx="239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Build graph using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TensorFlow operations</a:t>
            </a:r>
            <a:endParaRPr sz="1400"/>
          </a:p>
        </p:txBody>
      </p:sp>
      <p:pic>
        <p:nvPicPr>
          <p:cNvPr id="174" name="Google Shape;174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625" y="3331150"/>
            <a:ext cx="357425" cy="35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7"/>
          <p:cNvSpPr txBox="1"/>
          <p:nvPr>
            <p:ph type="title"/>
          </p:nvPr>
        </p:nvSpPr>
        <p:spPr>
          <a:xfrm>
            <a:off x="304800" y="133941"/>
            <a:ext cx="8572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graph using TF operations</a:t>
            </a:r>
            <a:endParaRPr/>
          </a:p>
        </p:txBody>
      </p:sp>
      <p:pic>
        <p:nvPicPr>
          <p:cNvPr id="180" name="Google Shape;18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253" y="548878"/>
            <a:ext cx="524559" cy="520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240" y="1270546"/>
            <a:ext cx="1992000" cy="2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46" y="3746234"/>
            <a:ext cx="3703500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7"/>
          <p:cNvSpPr txBox="1"/>
          <p:nvPr/>
        </p:nvSpPr>
        <p:spPr>
          <a:xfrm>
            <a:off x="814400" y="1685925"/>
            <a:ext cx="7691400" cy="20262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X and Y data</a:t>
            </a:r>
            <a:endParaRPr i="1" sz="14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 = [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y_train = [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4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4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4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4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XW+b</a:t>
            </a:r>
            <a:endParaRPr i="1" sz="14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x_train * W + b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4" name="Google Shape;184;p37"/>
          <p:cNvSpPr txBox="1"/>
          <p:nvPr/>
        </p:nvSpPr>
        <p:spPr>
          <a:xfrm>
            <a:off x="814388" y="4443413"/>
            <a:ext cx="7691400" cy="5964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4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y_train))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type="title"/>
          </p:nvPr>
        </p:nvSpPr>
        <p:spPr>
          <a:xfrm>
            <a:off x="304800" y="133941"/>
            <a:ext cx="8572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graph using TF operations</a:t>
            </a:r>
            <a:endParaRPr/>
          </a:p>
        </p:txBody>
      </p:sp>
      <p:pic>
        <p:nvPicPr>
          <p:cNvPr id="190" name="Google Shape;19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253" y="548878"/>
            <a:ext cx="524559" cy="520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534" y="1403084"/>
            <a:ext cx="3703500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8"/>
          <p:cNvSpPr txBox="1"/>
          <p:nvPr/>
        </p:nvSpPr>
        <p:spPr>
          <a:xfrm>
            <a:off x="778669" y="3550444"/>
            <a:ext cx="7691400" cy="10644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14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4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4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38"/>
          <p:cNvSpPr txBox="1"/>
          <p:nvPr/>
        </p:nvSpPr>
        <p:spPr>
          <a:xfrm>
            <a:off x="771525" y="2128838"/>
            <a:ext cx="7691400" cy="5964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4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4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othesis - y_train))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" name="Google Shape;194;p38"/>
          <p:cNvSpPr txBox="1"/>
          <p:nvPr/>
        </p:nvSpPr>
        <p:spPr>
          <a:xfrm>
            <a:off x="483394" y="3078956"/>
            <a:ext cx="27819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GradientDescent</a:t>
            </a:r>
            <a:endParaRPr sz="2300"/>
          </a:p>
        </p:txBody>
      </p:sp>
      <p:sp>
        <p:nvSpPr>
          <p:cNvPr id="195" name="Google Shape;195;p38"/>
          <p:cNvSpPr txBox="1"/>
          <p:nvPr/>
        </p:nvSpPr>
        <p:spPr>
          <a:xfrm>
            <a:off x="4186025" y="4644025"/>
            <a:ext cx="5037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https://www.tensorflow.org/api_docs/python/tf/reduce_mean</a:t>
            </a:r>
            <a:endParaRPr/>
          </a:p>
        </p:txBody>
      </p:sp>
      <p:pic>
        <p:nvPicPr>
          <p:cNvPr id="196" name="Google Shape;19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9300" y="1332500"/>
            <a:ext cx="3573624" cy="5204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790575" y="133941"/>
            <a:ext cx="75867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Run/update graph and get results</a:t>
            </a:r>
            <a:endParaRPr/>
          </a:p>
        </p:txBody>
      </p:sp>
      <p:sp>
        <p:nvSpPr>
          <p:cNvPr id="202" name="Google Shape;202;p39"/>
          <p:cNvSpPr txBox="1"/>
          <p:nvPr/>
        </p:nvSpPr>
        <p:spPr>
          <a:xfrm>
            <a:off x="340519" y="1485900"/>
            <a:ext cx="8665200" cy="343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8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8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Fit the line</a:t>
            </a:r>
            <a:endParaRPr i="1" sz="18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sess.run(train)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 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8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8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sess.run(cost), sess.run(W), sess.run(b))</a:t>
            </a:r>
            <a:endParaRPr i="1" sz="18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3" name="Google Shape;20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3416" y="342225"/>
            <a:ext cx="454378" cy="451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3415" y="814027"/>
            <a:ext cx="454378" cy="451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/>
        </p:nvSpPr>
        <p:spPr>
          <a:xfrm>
            <a:off x="34248" y="24150"/>
            <a:ext cx="52284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X and Y data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 = [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y_train = [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9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9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9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9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XW+b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x_train * W + b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y_train))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9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Fit the line</a:t>
            </a:r>
            <a:endParaRPr i="1" sz="9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sess.run(train)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 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9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9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9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sess.run(cost), sess.run(W), sess.run(b))</a:t>
            </a:r>
            <a:endParaRPr sz="9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5095200" y="3066775"/>
            <a:ext cx="3929700" cy="19125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'''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 2.82329 [ 2.12867713] [-0.85235667]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 0.190351 [ 1.53392804] [-1.05059612]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40 0.151357 [ 1.45725465] [-1.02391243]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1920 1.77484e-05 [ 1.00489295] [-0.01112291]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1940 1.61197e-05 [ 1.00466311] [-0.01060018]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1960 1.46397e-05 [ 1.004444] [-0.01010205]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1980 1.32962e-05 [ 1.00423515] [-0.00962736]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2000 1.20761e-05 [ 1.00403607] [-0.00917497]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'''</a:t>
            </a:r>
            <a:endParaRPr b="1" sz="10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3753300" y="35925"/>
            <a:ext cx="5314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Full code</a:t>
            </a:r>
            <a:r>
              <a:rPr lang="en" sz="3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(less than 20 lines)</a:t>
            </a:r>
            <a:endParaRPr sz="3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Placeholders </a:t>
            </a:r>
            <a:endParaRPr/>
          </a:p>
        </p:txBody>
      </p:sp>
      <p:pic>
        <p:nvPicPr>
          <p:cNvPr id="217" name="Google Shape;21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2141339"/>
            <a:ext cx="9029704" cy="172724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1"/>
          <p:cNvSpPr/>
          <p:nvPr/>
        </p:nvSpPr>
        <p:spPr>
          <a:xfrm>
            <a:off x="1097756" y="4781700"/>
            <a:ext cx="81837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Helvetica Neue"/>
              <a:buNone/>
            </a:pPr>
            <a:r>
              <a:rPr lang="en" sz="18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https://github.com/hunkim/DeepLearningZeroToAll/blob/master/lab-01-basics.ipynb</a:t>
            </a:r>
            <a:r>
              <a:rPr lang="en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2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Placeholders </a:t>
            </a:r>
            <a:endParaRPr/>
          </a:p>
        </p:txBody>
      </p:sp>
      <p:sp>
        <p:nvSpPr>
          <p:cNvPr id="224" name="Google Shape;224;p42"/>
          <p:cNvSpPr txBox="1"/>
          <p:nvPr/>
        </p:nvSpPr>
        <p:spPr>
          <a:xfrm>
            <a:off x="157175" y="935824"/>
            <a:ext cx="9020100" cy="42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X and Y data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x_train = [1, 2, 3]</a:t>
            </a:r>
            <a:endParaRPr>
              <a:solidFill>
                <a:srgbClr val="9999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99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y_train = [1, 2, 3]</a:t>
            </a:r>
            <a:endParaRPr>
              <a:solidFill>
                <a:srgbClr val="999999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Now we can use X and Y in place of x_data and y_data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# placeholders for a tensor that will be always fed using feed_dict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See http://stackoverflow.com/questions/36693740/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Fit the line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Fit the line</a:t>
            </a:r>
            <a:endParaRPr i="1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W_val, b_val, _ = \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sess.run([cost, W, b, train],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Y: [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 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cost_val, W_val, b_val)</a:t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29210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3"/>
          <p:cNvSpPr txBox="1"/>
          <p:nvPr/>
        </p:nvSpPr>
        <p:spPr>
          <a:xfrm>
            <a:off x="57675" y="0"/>
            <a:ext cx="5945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XW+b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 + b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Fit the line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W_val, b_val, _ = sess.run([cost, W, b, train],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Y: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cost_val, W_val, b_val)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0" name="Google Shape;230;p43"/>
          <p:cNvSpPr txBox="1"/>
          <p:nvPr/>
        </p:nvSpPr>
        <p:spPr>
          <a:xfrm>
            <a:off x="5109875" y="1506075"/>
            <a:ext cx="3957900" cy="33972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1980 1.32962e-05 [ 1.00423515] [-0.00962736]</a:t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2000 1.20761e-05 [ 1.00403607] [-0.00917497]</a:t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Testing our model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(sess.run(hypothesis,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5]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(sess.run(hypothesis,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2.5]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(sess.run(</a:t>
            </a:r>
            <a:r>
              <a:rPr lang="en" sz="1100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hypothesis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1.5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3.5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[ 5.0110054]</a:t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[ 2.50091505]</a:t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[ 1.49687922  3.50495124]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" name="Google Shape;231;p43"/>
          <p:cNvSpPr txBox="1"/>
          <p:nvPr/>
        </p:nvSpPr>
        <p:spPr>
          <a:xfrm>
            <a:off x="3753300" y="35925"/>
            <a:ext cx="5314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Full code with placeholders</a:t>
            </a:r>
            <a:endParaRPr sz="3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/>
          <p:nvPr/>
        </p:nvSpPr>
        <p:spPr>
          <a:xfrm>
            <a:off x="57675" y="0"/>
            <a:ext cx="59451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tensorflow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tf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W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'weight'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 = tf.Variable(tf.random_normal([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1" lang="en" sz="1100">
                <a:solidFill>
                  <a:srgbClr val="0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'bias'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X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Y = tf.placeholder(tf.float32,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shape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=[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Our hypothesis XW+b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hypothesis = X * W + b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cost/loss function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cost = tf.reduce_mean(tf.square(hypothesis - Y))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Minimize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optimizer = tf.train.GradientDescentOptimizer(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learning_rate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train = optimizer.minimize(cost)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Launch the graph in a session.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 = tf.Session()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Initializes global variables in the graph.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sess.run(tf.global_variables_initializer())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Fit the line with new training data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for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range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cost_val, W_val, b_val, _ = sess.run([cost, W, b, train],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" sz="13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eed_dict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Y: [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]})</a:t>
            </a:r>
            <a:endParaRPr b="1" i="1" sz="13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step %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20 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(step, cost_val, W_val, b_val)</a:t>
            </a:r>
            <a:endParaRPr b="1" sz="1100">
              <a:solidFill>
                <a:srgbClr val="000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7" name="Google Shape;237;p44"/>
          <p:cNvSpPr txBox="1"/>
          <p:nvPr/>
        </p:nvSpPr>
        <p:spPr>
          <a:xfrm>
            <a:off x="5109875" y="1506075"/>
            <a:ext cx="3957900" cy="33972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…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1960 3.32396e-07 [ 1.00037301] [ 1.09865296]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1980 2.90429e-07 [ 1.00034881] [ 1.09874094]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2000 2.5373e-07 [ 1.00032604] [ 1.09882331]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808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Testing our model</a:t>
            </a:r>
            <a:endParaRPr i="1" sz="1100">
              <a:solidFill>
                <a:srgbClr val="8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(sess.run(hypothesis,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5]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(sess.run(hypothesis, </a:t>
            </a: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2.5]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8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(sess.run(</a:t>
            </a:r>
            <a:r>
              <a:rPr lang="en" sz="1100">
                <a:solidFill>
                  <a:schemeClr val="dk1"/>
                </a:solidFill>
                <a:highlight>
                  <a:srgbClr val="E4E4FF"/>
                </a:highlight>
                <a:latin typeface="Consolas"/>
                <a:ea typeface="Consolas"/>
                <a:cs typeface="Consolas"/>
                <a:sym typeface="Consolas"/>
              </a:rPr>
              <a:t>hypothesis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feed_dict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1.5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1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3.5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]}))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[ 6.10045338]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[ 3.59963846]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008080"/>
                </a:solidFill>
                <a:highlight>
                  <a:srgbClr val="FFFFFF"/>
                </a:highlight>
              </a:rPr>
              <a:t>[ 2.59931231  4.59996414]</a:t>
            </a:r>
            <a:endParaRPr b="1" sz="1150">
              <a:solidFill>
                <a:srgbClr val="00808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808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8" name="Google Shape;238;p44"/>
          <p:cNvSpPr txBox="1"/>
          <p:nvPr/>
        </p:nvSpPr>
        <p:spPr>
          <a:xfrm>
            <a:off x="3753300" y="35925"/>
            <a:ext cx="53145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Full code with placeholders</a:t>
            </a:r>
            <a:endParaRPr sz="3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1812726" y="133945"/>
            <a:ext cx="5518500" cy="12858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TensorFlow Mechanics </a:t>
            </a:r>
            <a:endParaRPr/>
          </a:p>
        </p:txBody>
      </p:sp>
      <p:sp>
        <p:nvSpPr>
          <p:cNvPr id="244" name="Google Shape;244;p45"/>
          <p:cNvSpPr txBox="1"/>
          <p:nvPr/>
        </p:nvSpPr>
        <p:spPr>
          <a:xfrm>
            <a:off x="1318525" y="1297450"/>
            <a:ext cx="3384000" cy="6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feed data and run graph (operation)</a:t>
            </a:r>
            <a:br>
              <a:rPr lang="en" sz="1400"/>
            </a:br>
            <a:r>
              <a:rPr b="1" i="1" lang="en" sz="1400"/>
              <a:t>sess.run (op, feed_dict={x: x_data}) </a:t>
            </a:r>
            <a:endParaRPr b="1"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45" name="Google Shape;245;p45"/>
          <p:cNvSpPr txBox="1"/>
          <p:nvPr/>
        </p:nvSpPr>
        <p:spPr>
          <a:xfrm>
            <a:off x="7158250" y="3622131"/>
            <a:ext cx="3384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update variables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 the graph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(and return values)</a:t>
            </a:r>
            <a:r>
              <a:rPr b="1" lang="en" sz="1400"/>
              <a:t> 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grpSp>
        <p:nvGrpSpPr>
          <p:cNvPr id="246" name="Google Shape;246;p45"/>
          <p:cNvGrpSpPr/>
          <p:nvPr/>
        </p:nvGrpSpPr>
        <p:grpSpPr>
          <a:xfrm>
            <a:off x="2947675" y="1773824"/>
            <a:ext cx="4345525" cy="3285000"/>
            <a:chOff x="2322525" y="1302249"/>
            <a:chExt cx="4345525" cy="3285000"/>
          </a:xfrm>
        </p:grpSpPr>
        <p:pic>
          <p:nvPicPr>
            <p:cNvPr id="247" name="Google Shape;247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22525" y="1302249"/>
              <a:ext cx="4345525" cy="3285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56025" y="2044163"/>
              <a:ext cx="1431725" cy="17652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9" name="Google Shape;249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3075" y="3023400"/>
            <a:ext cx="1290879" cy="86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9125" y="1467137"/>
            <a:ext cx="357425" cy="354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00825" y="3834150"/>
            <a:ext cx="357425" cy="35488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5"/>
          <p:cNvSpPr txBox="1"/>
          <p:nvPr/>
        </p:nvSpPr>
        <p:spPr>
          <a:xfrm>
            <a:off x="902050" y="3157225"/>
            <a:ext cx="239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Build graph using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TensorFlow operations</a:t>
            </a:r>
            <a:endParaRPr sz="1400"/>
          </a:p>
        </p:txBody>
      </p:sp>
      <p:pic>
        <p:nvPicPr>
          <p:cNvPr id="253" name="Google Shape;253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4625" y="3331150"/>
            <a:ext cx="357425" cy="35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9150" y="3937263"/>
            <a:ext cx="1738500" cy="2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4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500" y="4265113"/>
            <a:ext cx="2947800" cy="52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5"/>
          <p:cNvSpPr txBox="1"/>
          <p:nvPr/>
        </p:nvSpPr>
        <p:spPr>
          <a:xfrm>
            <a:off x="268950" y="1297450"/>
            <a:ext cx="3238200" cy="17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en" sz="1300">
                <a:solidFill>
                  <a:srgbClr val="660099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eed_dict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={X: [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</a:t>
            </a:r>
            <a:endParaRPr b="1" sz="13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Y: [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4.1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5.1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 sz="13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6.1</a:t>
            </a:r>
            <a:r>
              <a:rPr b="1" lang="en" sz="13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 txBox="1"/>
          <p:nvPr>
            <p:ph type="title"/>
          </p:nvPr>
        </p:nvSpPr>
        <p:spPr>
          <a:xfrm>
            <a:off x="1812726" y="863947"/>
            <a:ext cx="5518500" cy="17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Lab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Gill Sans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Minimizing Cost</a:t>
            </a:r>
            <a:endParaRPr/>
          </a:p>
        </p:txBody>
      </p:sp>
      <p:sp>
        <p:nvSpPr>
          <p:cNvPr id="262" name="Google Shape;262;p46"/>
          <p:cNvSpPr txBox="1"/>
          <p:nvPr>
            <p:ph idx="1" type="body"/>
          </p:nvPr>
        </p:nvSpPr>
        <p:spPr>
          <a:xfrm>
            <a:off x="1812726" y="3197944"/>
            <a:ext cx="55185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Noto Sans Symbols"/>
              <a:buNone/>
            </a:pPr>
            <a:r>
              <a:rPr b="0" i="0" lang="en" sz="19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Sung Kim &lt;hunkim+ml@gmail.com&gt;</a:t>
            </a:r>
            <a:endParaRPr/>
          </a:p>
        </p:txBody>
      </p:sp>
      <p:grpSp>
        <p:nvGrpSpPr>
          <p:cNvPr id="263" name="Google Shape;263;p46"/>
          <p:cNvGrpSpPr/>
          <p:nvPr/>
        </p:nvGrpSpPr>
        <p:grpSpPr>
          <a:xfrm>
            <a:off x="-348127" y="87975"/>
            <a:ext cx="2543803" cy="1589522"/>
            <a:chOff x="-928337" y="234600"/>
            <a:chExt cx="6783474" cy="4238725"/>
          </a:xfrm>
        </p:grpSpPr>
        <p:pic>
          <p:nvPicPr>
            <p:cNvPr id="264" name="Google Shape;264;p4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928337" y="656925"/>
              <a:ext cx="6783474" cy="381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46"/>
            <p:cNvSpPr txBox="1"/>
            <p:nvPr/>
          </p:nvSpPr>
          <p:spPr>
            <a:xfrm>
              <a:off x="672550" y="234600"/>
              <a:ext cx="3581700" cy="105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With TF 1.0!</a:t>
              </a:r>
              <a:endParaRPr sz="18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