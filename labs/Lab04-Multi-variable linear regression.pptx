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  <p:sldMasterId id="2147483692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  <p:embeddedFont>
      <p:font typeface="Gill Sans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EC8244-C235-4A41-B35B-5F9279BB7BE9}">
  <a:tblStyle styleId="{89EC8244-C235-4A41-B35B-5F9279BB7B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3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6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5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8.xml"/><Relationship Id="rId37" Type="http://schemas.openxmlformats.org/officeDocument/2006/relationships/font" Target="fonts/GillSans-bold.fntdata"/><Relationship Id="rId14" Type="http://schemas.openxmlformats.org/officeDocument/2006/relationships/slide" Target="slides/slide7.xml"/><Relationship Id="rId36" Type="http://schemas.openxmlformats.org/officeDocument/2006/relationships/font" Target="fonts/GillSans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cff18dc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1ecff18dc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1ce8aecb7c1b4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1ce8aecb7c1b4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d2206496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1d2206496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d2206496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d2206496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ecff18dc7_0_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ecff18dc7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ecff18dc7_0_2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\begin{pmatrix}x_1&amp;x_2&amp;x_3\end{pmatrix}\cdot \begin{pmatrix}w_1\\ w_2\\ w_3\end{pmatrix}=\begin{pmatrix}x_1w_1+x_2w_2+x_3w_3\end{pmatrix}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1ecff18dc7_0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cff18dc7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ecff18dc7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cff18dc7_0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1ecff18dc7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cff18dc7_0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1ecff18dc7_0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cff18dc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ecff18dc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d2206496a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1d2206496a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d2206496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d2206496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cff18dc7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1ecff18dc7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d2206496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d2206496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d2206496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d2206496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d2206496a_0_2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1d2206496a_0_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ecff18dc7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ecff18dc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ecff18dc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ecff18dc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d2206496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d2206496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d2206496a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d2206496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d2206496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d2206496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d2206496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d2206496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d2206496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d2206496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ecff18dc7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1ecff18dc7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ill Sans"/>
              <a:buChar char="•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-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Gill Sans"/>
              <a:buChar char="•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-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Gill San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/>
          <p:nvPr>
            <p:ph idx="2" type="pic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/>
          <p:nvPr>
            <p:ph idx="2" type="pic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>
            <p:ph idx="2" type="pic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•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•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•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•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•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/>
          <p:nvPr>
            <p:ph idx="2" type="pic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26"/>
          <p:cNvSpPr/>
          <p:nvPr>
            <p:ph idx="3" type="pic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3" name="Google Shape;103;p26"/>
          <p:cNvSpPr/>
          <p:nvPr>
            <p:ph idx="4" type="pic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8" name="Google Shape;108;p2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228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393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55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41300" lvl="3" marL="736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9017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1066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12319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1397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15621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31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31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2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32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33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35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6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37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3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/>
          <p:nvPr>
            <p:ph idx="2" type="pic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8"/>
          <p:cNvSpPr txBox="1"/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38"/>
          <p:cNvSpPr txBox="1"/>
          <p:nvPr>
            <p:ph idx="12" type="sldNum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39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"/>
          <p:cNvSpPr/>
          <p:nvPr>
            <p:ph idx="2" type="pic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40"/>
          <p:cNvSpPr txBox="1"/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40"/>
          <p:cNvSpPr txBox="1"/>
          <p:nvPr>
            <p:ph idx="1" type="body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40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1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41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2"/>
          <p:cNvSpPr/>
          <p:nvPr>
            <p:ph idx="2" type="pic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42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42"/>
          <p:cNvSpPr txBox="1"/>
          <p:nvPr>
            <p:ph idx="1" type="body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42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/>
          <p:nvPr>
            <p:ph idx="1" type="body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4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/>
          <p:nvPr>
            <p:ph idx="2" type="pic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44"/>
          <p:cNvSpPr/>
          <p:nvPr>
            <p:ph idx="3" type="pic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44"/>
          <p:cNvSpPr/>
          <p:nvPr>
            <p:ph idx="4" type="pic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4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idx="2" type="body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6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46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•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hyperlink" Target="mailto:hunkim+ml@gmail.com" TargetMode="External"/><Relationship Id="rId5" Type="http://schemas.openxmlformats.org/officeDocument/2006/relationships/hyperlink" Target="https://github.com/hunkim/DeepLearningZeroToAll/" TargetMode="External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goo.gl/jPtWN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hyperlink" Target="mailto:hunkim+ml@gmail.com" TargetMode="External"/><Relationship Id="rId5" Type="http://schemas.openxmlformats.org/officeDocument/2006/relationships/hyperlink" Target="https://github.com/hunkim/DeepLearningZeroToAll/" TargetMode="External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hunkim/DeepLearningZeroToAll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hunkim/DeepLearningZeroToAll/blob/master/lab-04-1-multi_variable_linear_regression.p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hunkim/DeepLearningZeroToAll/blob/master/lab-04-1-multi_variable_linear_regression.p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hyperlink" Target="https://github.com/hunkim/DeepLearningZeroToAll/blob/master/lab-04-2-multi_variable_matmul_linear_regression.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hunkim/DeepLearningZeroToAll/blob/master/lab-04-2-multi_variable_matmul_linear_regression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hyperlink" Target="mailto:hunkim+ml@gmail.com" TargetMode="External"/><Relationship Id="rId5" Type="http://schemas.openxmlformats.org/officeDocument/2006/relationships/hyperlink" Target="https://github.com/hunkim/DeepLearningZeroToAll/" TargetMode="External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hunkim/DeepLearningZeroToAll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hunkim/DeepLearningZeroToAll/blob/master/lab-04-3-file_input_linear_regression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hyperlink" Target="http://cs231n.github.io/python-numpy-tutorial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hyperlink" Target="http://slides.com/wigging/numpy#/9" TargetMode="External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hunkim/DeepLearningZeroToAll/blob/master/lab-04-3-file_input_linear_regression.p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hunkim/DeepLearningZeroToAll/blob/master/lab-04-3-file_input_linear_regression.p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hunkim/DeepLearningZeroToAll/blob/master/lab-04-3-file_input_linear_regression.py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gif"/><Relationship Id="rId4" Type="http://schemas.openxmlformats.org/officeDocument/2006/relationships/hyperlink" Target="https://www.tensorflow.org/programmers_guide/reading_dat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gif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hyperlink" Target="https://github.com/hunkim/DeepLearningZeroToAll/blob/master/lab-04-4-tf_reader_linear_regression.py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tensorflow.org/programmers_guide/reading_data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hunkim/DeepLearningZeroToAll/blob/master/lab-04-4-tf_reader_linear_regression.py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tensorflow.org/programmers_guide/reading_data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7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Multi-</a:t>
            </a:r>
            <a:r>
              <a:rPr lang="en" sz="2700"/>
              <a:t>v</a:t>
            </a: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ariable linear regression</a:t>
            </a:r>
            <a:endParaRPr/>
          </a:p>
        </p:txBody>
      </p:sp>
      <p:grpSp>
        <p:nvGrpSpPr>
          <p:cNvPr id="186" name="Google Shape;186;p47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187" name="Google Shape;187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47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  <p:sp>
        <p:nvSpPr>
          <p:cNvPr id="189" name="Google Shape;189;p47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Code: 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https://github.com/hunkim/DeepLearningZeroToAll/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0" name="Google Shape;19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42" y="1538300"/>
            <a:ext cx="6008308" cy="33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8"/>
          <p:cNvSpPr txBox="1"/>
          <p:nvPr>
            <p:ph type="title"/>
          </p:nvPr>
        </p:nvSpPr>
        <p:spPr>
          <a:xfrm>
            <a:off x="0" y="286350"/>
            <a:ext cx="9073200" cy="1285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for comments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Please feel free to add comments directly on these slides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Other slides: </a:t>
            </a:r>
            <a:r>
              <a:rPr lang="en" sz="2800" u="sng">
                <a:solidFill>
                  <a:schemeClr val="hlink"/>
                </a:solidFill>
                <a:hlinkClick r:id="rId4"/>
              </a:rPr>
              <a:t>https://goo.gl/jPtWNt</a:t>
            </a:r>
            <a:r>
              <a:rPr lang="en" sz="2800"/>
              <a:t>      </a:t>
            </a:r>
            <a:endParaRPr sz="2800"/>
          </a:p>
        </p:txBody>
      </p:sp>
      <p:sp>
        <p:nvSpPr>
          <p:cNvPr id="197" name="Google Shape;197;p48"/>
          <p:cNvSpPr txBox="1"/>
          <p:nvPr/>
        </p:nvSpPr>
        <p:spPr>
          <a:xfrm>
            <a:off x="5446800" y="4728475"/>
            <a:ext cx="4064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Picture from http://www.tssablog.org/archives/3280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9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4-1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Multi-</a:t>
            </a:r>
            <a:r>
              <a:rPr lang="en" sz="2700"/>
              <a:t>v</a:t>
            </a: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ariable linear regression</a:t>
            </a:r>
            <a:endParaRPr/>
          </a:p>
        </p:txBody>
      </p:sp>
      <p:grpSp>
        <p:nvGrpSpPr>
          <p:cNvPr id="203" name="Google Shape;203;p49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204" name="Google Shape;204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49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  <p:sp>
        <p:nvSpPr>
          <p:cNvPr id="206" name="Google Shape;206;p49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Code: 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https://github.com/hunkim/DeepLearningZeroToAll/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7" name="Google Shape;207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0"/>
          <p:cNvSpPr txBox="1"/>
          <p:nvPr>
            <p:ph type="title"/>
          </p:nvPr>
        </p:nvSpPr>
        <p:spPr>
          <a:xfrm>
            <a:off x="225375" y="133950"/>
            <a:ext cx="88131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https://github.com/hunkim/DeepLearningZeroToAll/</a:t>
            </a:r>
            <a:r>
              <a:rPr lang="en" sz="3000"/>
              <a:t> </a:t>
            </a:r>
            <a:endParaRPr sz="3000"/>
          </a:p>
        </p:txBody>
      </p:sp>
      <p:pic>
        <p:nvPicPr>
          <p:cNvPr id="213" name="Google Shape;2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2150"/>
            <a:ext cx="4555950" cy="19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100" y="1572150"/>
            <a:ext cx="4130851" cy="263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1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"/>
              <a:t>matrix</a:t>
            </a:r>
            <a:endParaRPr/>
          </a:p>
        </p:txBody>
      </p:sp>
      <p:graphicFrame>
        <p:nvGraphicFramePr>
          <p:cNvPr id="220" name="Google Shape;220;p51"/>
          <p:cNvGraphicFramePr/>
          <p:nvPr/>
        </p:nvGraphicFramePr>
        <p:xfrm>
          <a:off x="190706" y="1644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{89EC8244-C235-4A41-B35B-5F9279BB7BE9}</a:tableStyleId>
              </a:tblPr>
              <a:tblGrid>
                <a:gridCol w="637075"/>
                <a:gridCol w="637075"/>
                <a:gridCol w="637075"/>
                <a:gridCol w="637075"/>
              </a:tblGrid>
              <a:tr h="42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1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2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3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Y</a:t>
                      </a:r>
                      <a:endParaRPr b="1"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75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152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88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185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89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91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180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96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98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100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196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66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142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51"/>
          <p:cNvSpPr txBox="1"/>
          <p:nvPr/>
        </p:nvSpPr>
        <p:spPr>
          <a:xfrm>
            <a:off x="65981" y="3719016"/>
            <a:ext cx="30624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222" name="Google Shape;2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094" y="1155501"/>
            <a:ext cx="4064794" cy="264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2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using </a:t>
            </a:r>
            <a:r>
              <a:rPr lang="en"/>
              <a:t>matrix</a:t>
            </a:r>
            <a:endParaRPr/>
          </a:p>
        </p:txBody>
      </p:sp>
      <p:graphicFrame>
        <p:nvGraphicFramePr>
          <p:cNvPr id="228" name="Google Shape;228;p52"/>
          <p:cNvGraphicFramePr/>
          <p:nvPr/>
        </p:nvGraphicFramePr>
        <p:xfrm>
          <a:off x="190706" y="1644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{89EC8244-C235-4A41-B35B-5F9279BB7BE9}</a:tableStyleId>
              </a:tblPr>
              <a:tblGrid>
                <a:gridCol w="637075"/>
                <a:gridCol w="637075"/>
                <a:gridCol w="637075"/>
                <a:gridCol w="637075"/>
              </a:tblGrid>
              <a:tr h="42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1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2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x</a:t>
                      </a:r>
                      <a:r>
                        <a:rPr b="1" baseline="-25000" lang="en" sz="1900"/>
                        <a:t>3</a:t>
                      </a:r>
                      <a:endParaRPr b="1" baseline="-25000"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Y</a:t>
                      </a:r>
                      <a:endParaRPr b="1"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75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152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88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185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89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91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180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96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98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100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196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  <a:tr h="3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73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66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70</a:t>
                      </a:r>
                      <a:endParaRPr sz="1900"/>
                    </a:p>
                  </a:txBody>
                  <a:tcPr marT="34275" marB="34275" marR="34275" marL="3427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142</a:t>
                      </a:r>
                      <a:endParaRPr sz="1900"/>
                    </a:p>
                  </a:txBody>
                  <a:tcPr marT="34275" marB="34275" marR="34275" marL="3427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52"/>
          <p:cNvSpPr txBox="1"/>
          <p:nvPr/>
        </p:nvSpPr>
        <p:spPr>
          <a:xfrm>
            <a:off x="65981" y="3719016"/>
            <a:ext cx="30624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</a:rPr>
              <a:t>Test Scores for General Psychology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230" name="Google Shape;2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094" y="1155501"/>
            <a:ext cx="4064794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2"/>
          <p:cNvSpPr txBox="1"/>
          <p:nvPr/>
        </p:nvSpPr>
        <p:spPr>
          <a:xfrm>
            <a:off x="3754200" y="1587325"/>
            <a:ext cx="5042100" cy="33759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E4FF"/>
                </a:highlight>
                <a:latin typeface="Consolas"/>
                <a:ea typeface="Consolas"/>
                <a:cs typeface="Consolas"/>
                <a:sym typeface="Consolas"/>
              </a:rPr>
              <a:t>x1_data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89.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x2_data =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88.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91.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98.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x3_data =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75.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152.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185.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142.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x1 = tf.placeholder(tf.float32)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x2 = tf.placeholder(tf.float32)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x3 = tf.placeholder(tf.float32)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w1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'weight1'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w2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'weight2'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w3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'weight3'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x1 * w1 + x2 * w2 + x3 * w3 + b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52"/>
          <p:cNvSpPr txBox="1"/>
          <p:nvPr/>
        </p:nvSpPr>
        <p:spPr>
          <a:xfrm>
            <a:off x="2429250" y="4894725"/>
            <a:ext cx="8326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https://github.com/hunkim/DeepLearningZeroToAll/blob/master/lab-04-1-multi_variable_linear_regression.py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3"/>
          <p:cNvSpPr txBox="1"/>
          <p:nvPr/>
        </p:nvSpPr>
        <p:spPr>
          <a:xfrm>
            <a:off x="0" y="0"/>
            <a:ext cx="7050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x1_data =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89.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96.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x2_data =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88.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91.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98.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66.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x3_data =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75.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152.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185.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196.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142.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x1 = tf.placeholder(tf.float32)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x2 = tf.placeholder(tf.float32)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x3 = tf.placeholder(tf.float32)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w1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'weight1'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w2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'weight2'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w3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'weight3'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x1 * w1 + x2 * w2 + x3 * w3 + b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reduce_mean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(tf.square(hypothesis - Y))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Minimize. Need a very small learning rate for this data set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1e-5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hy_val, _ = sess.run([cost, hypothesis, train],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={x1: x1_data, x2: x2_data, x3: x3_data, Y: y_data})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"Cost: 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cost_val, 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Prediction: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hy_val)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53"/>
          <p:cNvSpPr txBox="1"/>
          <p:nvPr/>
        </p:nvSpPr>
        <p:spPr>
          <a:xfrm>
            <a:off x="7283525" y="77275"/>
            <a:ext cx="1732200" cy="48936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0 Cost:  19614.8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[ 21.69748688  39.10213089  31.82624626  35.14236832  32.55316544]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10 Cost:  14.0682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[ 145.56100464  187.94958496  178.50236511  194.86721802  146.08096313]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...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1990 Cost:  4.9197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[ 148.15084839  186.88632202  179.6293335   195.81796265  144.46044922]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2000 Cost:  4.89449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[ 148.15931702  186.8805542   179.63194275  195.81971741  144.45298767]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</p:txBody>
      </p:sp>
      <p:sp>
        <p:nvSpPr>
          <p:cNvPr id="239" name="Google Shape;239;p53"/>
          <p:cNvSpPr txBox="1"/>
          <p:nvPr/>
        </p:nvSpPr>
        <p:spPr>
          <a:xfrm>
            <a:off x="2886450" y="4894725"/>
            <a:ext cx="8326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https://github.com/hunkim/DeepLearningZeroToAll/blob/master/lab-04-1-multi_variable_linear_regression.py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4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Matrix</a:t>
            </a:r>
            <a:endParaRPr/>
          </a:p>
        </p:txBody>
      </p:sp>
      <p:pic>
        <p:nvPicPr>
          <p:cNvPr id="245" name="Google Shape;2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75" y="1043025"/>
            <a:ext cx="4869726" cy="9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121" y="1218621"/>
            <a:ext cx="2661360" cy="49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5"/>
          <p:cNvSpPr/>
          <p:nvPr/>
        </p:nvSpPr>
        <p:spPr>
          <a:xfrm>
            <a:off x="6909345" y="2236887"/>
            <a:ext cx="669600" cy="66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2" name="Google Shape;2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75" y="1043025"/>
            <a:ext cx="4869726" cy="9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3121" y="1218621"/>
            <a:ext cx="2661360" cy="49607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5"/>
          <p:cNvSpPr txBox="1"/>
          <p:nvPr/>
        </p:nvSpPr>
        <p:spPr>
          <a:xfrm>
            <a:off x="1951950" y="2180275"/>
            <a:ext cx="5240100" cy="27234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E4FF"/>
                </a:highlight>
                <a:latin typeface="Consolas"/>
                <a:ea typeface="Consolas"/>
                <a:cs typeface="Consolas"/>
                <a:sym typeface="Consolas"/>
              </a:rPr>
              <a:t>x_data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[[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75.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88.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89.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91.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96.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98.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66.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152.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185.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180.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196.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142.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1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15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15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15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5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5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5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Hypothesis</a:t>
            </a:r>
            <a:endParaRPr i="1" sz="115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tf.matmul(X, W) + b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55"/>
          <p:cNvSpPr txBox="1"/>
          <p:nvPr/>
        </p:nvSpPr>
        <p:spPr>
          <a:xfrm>
            <a:off x="1819650" y="4894725"/>
            <a:ext cx="8326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https://github.com/hunkim/DeepLearningZeroToAll/blob/master/lab-04-2-multi_variable_matmul_linear_regression.py</a:t>
            </a:r>
            <a:r>
              <a:rPr lang="en" sz="1100"/>
              <a:t> </a:t>
            </a:r>
            <a:endParaRPr sz="1100"/>
          </a:p>
        </p:txBody>
      </p:sp>
      <p:sp>
        <p:nvSpPr>
          <p:cNvPr id="256" name="Google Shape;256;p5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Matrix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6"/>
          <p:cNvSpPr txBox="1"/>
          <p:nvPr/>
        </p:nvSpPr>
        <p:spPr>
          <a:xfrm>
            <a:off x="0" y="0"/>
            <a:ext cx="9144000" cy="51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75.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88.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89.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91.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98.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73.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152.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185.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180.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196.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142.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Hypothesis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tf.matmul(X, W) + b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Simplified cost/loss function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1e-5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hy_val, _ = sess.run(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[cost, hypothesis, train],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"Cost: 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cost_val, 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Prediction: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hy_val)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56"/>
          <p:cNvSpPr txBox="1"/>
          <p:nvPr/>
        </p:nvSpPr>
        <p:spPr>
          <a:xfrm>
            <a:off x="7638775" y="100350"/>
            <a:ext cx="1426800" cy="48924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0 Cost:  7105.46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[[ 80.82241058]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[ 92.26364136]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[ 93.70250702]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[ 98.09217834]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[ 72.51759338]]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10 Cost:  5.89726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[[ 155.35159302]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[ 181.85691833]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[ 181.97254944]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[ 194.21760559]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[ 140.85707092]]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...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1990 Cost:  3.18588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[[ 154.36352539]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[ 182.94833374]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[ 181.85189819]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[ 194.35585022]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[ 142.03240967]]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2000 Cost:  3.1781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Prediction: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[[ 154.35881042]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[ 182.95147705]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[ 181.85035706]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[ 194.35533142]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</a:rPr>
              <a:t>[ 142.036026  ]]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</a:endParaRPr>
          </a:p>
        </p:txBody>
      </p:sp>
      <p:sp>
        <p:nvSpPr>
          <p:cNvPr id="263" name="Google Shape;263;p56"/>
          <p:cNvSpPr txBox="1"/>
          <p:nvPr/>
        </p:nvSpPr>
        <p:spPr>
          <a:xfrm>
            <a:off x="1819650" y="4894725"/>
            <a:ext cx="8326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https://github.com/hunkim/DeepLearningZeroToAll/blob/master/lab-04-2-multi_variable_matmul_linear_regression.py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4-</a:t>
            </a:r>
            <a:r>
              <a:rPr lang="en"/>
              <a:t>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2700"/>
              <a:t>Loading Data from File</a:t>
            </a:r>
            <a:endParaRPr/>
          </a:p>
        </p:txBody>
      </p:sp>
      <p:grpSp>
        <p:nvGrpSpPr>
          <p:cNvPr id="269" name="Google Shape;269;p57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270" name="Google Shape;270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57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  <p:sp>
        <p:nvSpPr>
          <p:cNvPr id="272" name="Google Shape;272;p57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Gill Sans"/>
                <a:ea typeface="Gill Sans"/>
                <a:cs typeface="Gill Sans"/>
                <a:sym typeface="Gill Sans"/>
              </a:rPr>
              <a:t>Code: </a:t>
            </a:r>
            <a:r>
              <a:rPr lang="en" sz="1900" u="sng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https://github.com/hunkim/DeepLearningZeroToAll/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3" name="Google Shape;273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8"/>
          <p:cNvSpPr txBox="1"/>
          <p:nvPr>
            <p:ph type="title"/>
          </p:nvPr>
        </p:nvSpPr>
        <p:spPr>
          <a:xfrm>
            <a:off x="225375" y="133950"/>
            <a:ext cx="88131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https://github.com/hunkim/DeepLearningZeroToAll/</a:t>
            </a:r>
            <a:r>
              <a:rPr lang="en" sz="3000"/>
              <a:t> </a:t>
            </a:r>
            <a:endParaRPr sz="3000"/>
          </a:p>
        </p:txBody>
      </p:sp>
      <p:pic>
        <p:nvPicPr>
          <p:cNvPr id="279" name="Google Shape;27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2150"/>
            <a:ext cx="4555950" cy="19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100" y="1572150"/>
            <a:ext cx="4130851" cy="263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9"/>
          <p:cNvSpPr txBox="1"/>
          <p:nvPr>
            <p:ph type="title"/>
          </p:nvPr>
        </p:nvSpPr>
        <p:spPr>
          <a:xfrm>
            <a:off x="1812726" y="-1845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Loading data from file</a:t>
            </a:r>
            <a:endParaRPr/>
          </a:p>
        </p:txBody>
      </p:sp>
      <p:sp>
        <p:nvSpPr>
          <p:cNvPr id="286" name="Google Shape;286;p59"/>
          <p:cNvSpPr/>
          <p:nvPr/>
        </p:nvSpPr>
        <p:spPr>
          <a:xfrm>
            <a:off x="855716" y="1104375"/>
            <a:ext cx="2325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data-01-test-score.csv</a:t>
            </a:r>
            <a:endParaRPr/>
          </a:p>
        </p:txBody>
      </p:sp>
      <p:sp>
        <p:nvSpPr>
          <p:cNvPr id="287" name="Google Shape;287;p59"/>
          <p:cNvSpPr txBox="1"/>
          <p:nvPr/>
        </p:nvSpPr>
        <p:spPr>
          <a:xfrm>
            <a:off x="1290000" y="1501800"/>
            <a:ext cx="2325300" cy="13440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# EXAM1,EXAM2,EXAM3,FINAL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73,80,75,152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93,88,93,185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89,91,90,180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96,98,100,196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73,66,70,142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53,46,55,101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88" name="Google Shape;288;p59"/>
          <p:cNvSpPr txBox="1"/>
          <p:nvPr/>
        </p:nvSpPr>
        <p:spPr>
          <a:xfrm>
            <a:off x="1252475" y="3229925"/>
            <a:ext cx="77967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np.loadtxt(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'data-01-test-score.csv'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delimiter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=np.float32)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</a:t>
            </a:r>
            <a:r>
              <a:rPr lang="en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[:,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</a:t>
            </a:r>
            <a:r>
              <a:rPr lang="en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[:, [-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Make sure the shape and data are OK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(x_data.shape, x_data,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(x_data))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(y_data.shape, y_data)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59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https://github.com/hunkim/DeepLearningZeroToAll/blob/master/lab-04-3-file_input_linear_regression.py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0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</a:t>
            </a:r>
            <a:endParaRPr/>
          </a:p>
        </p:txBody>
      </p:sp>
      <p:pic>
        <p:nvPicPr>
          <p:cNvPr id="295" name="Google Shape;29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2145"/>
            <a:ext cx="8839198" cy="24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0"/>
          <p:cNvSpPr txBox="1"/>
          <p:nvPr/>
        </p:nvSpPr>
        <p:spPr>
          <a:xfrm>
            <a:off x="5908800" y="4759800"/>
            <a:ext cx="3921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http://cs231n.github.io/python-numpy-tutorial/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647" y="0"/>
            <a:ext cx="105722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61"/>
          <p:cNvSpPr txBox="1"/>
          <p:nvPr/>
        </p:nvSpPr>
        <p:spPr>
          <a:xfrm>
            <a:off x="7477850" y="4619750"/>
            <a:ext cx="40542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http://slides.com/wigging/numpy#/9</a:t>
            </a:r>
            <a:r>
              <a:rPr lang="en" sz="1200"/>
              <a:t> </a:t>
            </a:r>
            <a:endParaRPr sz="1200"/>
          </a:p>
        </p:txBody>
      </p:sp>
      <p:pic>
        <p:nvPicPr>
          <p:cNvPr id="303" name="Google Shape;303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46650" y="4914900"/>
            <a:ext cx="2476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2"/>
          <p:cNvSpPr txBox="1"/>
          <p:nvPr>
            <p:ph type="title"/>
          </p:nvPr>
        </p:nvSpPr>
        <p:spPr>
          <a:xfrm>
            <a:off x="1812726" y="-1845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Loading data from file</a:t>
            </a:r>
            <a:endParaRPr/>
          </a:p>
        </p:txBody>
      </p:sp>
      <p:sp>
        <p:nvSpPr>
          <p:cNvPr id="309" name="Google Shape;309;p62"/>
          <p:cNvSpPr/>
          <p:nvPr/>
        </p:nvSpPr>
        <p:spPr>
          <a:xfrm>
            <a:off x="855716" y="1104375"/>
            <a:ext cx="2325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data-01-test-score.csv</a:t>
            </a:r>
            <a:endParaRPr/>
          </a:p>
        </p:txBody>
      </p:sp>
      <p:sp>
        <p:nvSpPr>
          <p:cNvPr id="310" name="Google Shape;310;p62"/>
          <p:cNvSpPr txBox="1"/>
          <p:nvPr/>
        </p:nvSpPr>
        <p:spPr>
          <a:xfrm>
            <a:off x="1290000" y="1501800"/>
            <a:ext cx="2325300" cy="13440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# EXAM1,EXAM2,EXAM3,FINAL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73,80,75,152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93,88,93,185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89,91,90,180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96,98,100,196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73,66,70,142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53,46,55,101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11" name="Google Shape;311;p62"/>
          <p:cNvSpPr txBox="1"/>
          <p:nvPr/>
        </p:nvSpPr>
        <p:spPr>
          <a:xfrm>
            <a:off x="1252475" y="3229925"/>
            <a:ext cx="77967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np.loadtxt(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'data-01-test-score.csv'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delimiter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=np.float32)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</a:t>
            </a:r>
            <a:r>
              <a:rPr lang="en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[:,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</a:t>
            </a:r>
            <a:r>
              <a:rPr lang="en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xy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[:, [-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Make sure the shape and data are OK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(x_data.shape, x_data,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(x_data))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(y_data.shape, y_data)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62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https://github.com/hunkim/DeepLearningZeroToAll/blob/master/lab-04-3-file_input_linear_regression.py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 txBox="1"/>
          <p:nvPr/>
        </p:nvSpPr>
        <p:spPr>
          <a:xfrm>
            <a:off x="0" y="381000"/>
            <a:ext cx="5388300" cy="44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numpy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np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tf.set_random_seed(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777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for reproducibility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xy = np.loadtxt(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'data-01-test-score.csv'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delimiter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dtype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=np.float32)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xy[:,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xy[:, [-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Make sure the shape and data are OK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(x_data.shape, x_data,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(y_data.shape, y_data)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Hypothesis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tf.matmul(X, W) + b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Simplified cost/loss function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1e-5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63"/>
          <p:cNvSpPr txBox="1"/>
          <p:nvPr/>
        </p:nvSpPr>
        <p:spPr>
          <a:xfrm>
            <a:off x="4426775" y="975550"/>
            <a:ext cx="4669500" cy="35142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Set up feed_dict variables inside the loop.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hy_val, _ = sess.run(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[cost, hypothesis, train],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"Cost: 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cost_val,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"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Prediction: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hy_val)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Ask my score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"Your score will be 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sess.run(hypothesis,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"Other scores will be 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sess.run(hypothesis,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110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63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https://github.com/hunkim/DeepLearningZeroToAll/blob/master/lab-04-3-file_input_linear_regression.py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4"/>
          <p:cNvSpPr txBox="1"/>
          <p:nvPr/>
        </p:nvSpPr>
        <p:spPr>
          <a:xfrm>
            <a:off x="4946125" y="2664325"/>
            <a:ext cx="3969900" cy="8499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Your score will be  [[ 181.73277283]]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Other scores will be  [[ 145.86265564] [ 187.23129272]]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</p:txBody>
      </p:sp>
      <p:sp>
        <p:nvSpPr>
          <p:cNvPr id="325" name="Google Shape;325;p64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326" name="Google Shape;326;p64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https://github.com/hunkim/DeepLearningZeroToAll/blob/master/lab-04-3-file_input_linear_regression.py</a:t>
            </a:r>
            <a:r>
              <a:rPr lang="en" sz="1100"/>
              <a:t> </a:t>
            </a:r>
            <a:endParaRPr sz="1100"/>
          </a:p>
        </p:txBody>
      </p:sp>
      <p:sp>
        <p:nvSpPr>
          <p:cNvPr id="327" name="Google Shape;327;p64"/>
          <p:cNvSpPr txBox="1"/>
          <p:nvPr/>
        </p:nvSpPr>
        <p:spPr>
          <a:xfrm>
            <a:off x="275250" y="1065625"/>
            <a:ext cx="5161500" cy="3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Set up feed_dict variables inside the loop.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hy_val, _ = sess.run(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[cost, hypothesis, train],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x_data, Y: y_data})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"Cost: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cost_val,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"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Prediction: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hy_val)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Ask my score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"Your score will be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sess.run(hypothesis,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]]}))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"Other scores will be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sess.run(hypothesis,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feed_dict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110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]]}))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50" y="1827350"/>
            <a:ext cx="8131426" cy="20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Queue Runners</a:t>
            </a:r>
            <a:endParaRPr/>
          </a:p>
        </p:txBody>
      </p:sp>
      <p:sp>
        <p:nvSpPr>
          <p:cNvPr id="334" name="Google Shape;334;p65"/>
          <p:cNvSpPr txBox="1"/>
          <p:nvPr/>
        </p:nvSpPr>
        <p:spPr>
          <a:xfrm>
            <a:off x="4156500" y="4818750"/>
            <a:ext cx="5063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https://www.tensorflow.org/programmers_guide/reading_data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75" y="1837025"/>
            <a:ext cx="7417250" cy="18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6"/>
          <p:cNvSpPr txBox="1"/>
          <p:nvPr/>
        </p:nvSpPr>
        <p:spPr>
          <a:xfrm>
            <a:off x="401475" y="290050"/>
            <a:ext cx="56268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filename_queue = tf.train.string_input_producer(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'data-01-test-score.csv', 'data-02-test-score.csv', ...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shuffle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'filename_queue'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66"/>
          <p:cNvSpPr txBox="1"/>
          <p:nvPr/>
        </p:nvSpPr>
        <p:spPr>
          <a:xfrm>
            <a:off x="2233350" y="3819475"/>
            <a:ext cx="36159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reader = tf.TextLineReader()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key, value = reader.read(filename_queue)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66"/>
          <p:cNvSpPr txBox="1"/>
          <p:nvPr/>
        </p:nvSpPr>
        <p:spPr>
          <a:xfrm>
            <a:off x="4112225" y="947475"/>
            <a:ext cx="50637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E4FF"/>
                </a:highlight>
                <a:latin typeface="Consolas"/>
                <a:ea typeface="Consolas"/>
                <a:cs typeface="Consolas"/>
                <a:sym typeface="Consolas"/>
              </a:rPr>
              <a:t>record_defaults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[[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xy = tf.decode_csv(value, </a:t>
            </a:r>
            <a:r>
              <a:rPr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record_defaults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200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record_defaults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3" name="Google Shape;34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75" y="498350"/>
            <a:ext cx="357425" cy="3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125" y="4073762"/>
            <a:ext cx="357425" cy="35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9075" y="1253488"/>
            <a:ext cx="357425" cy="35488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6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https://github.com/hunkim/DeepLearningZeroToAll/blob/master/lab-04-4-tf_reader_linear_regression.py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7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tf.train.batch</a:t>
            </a:r>
            <a:endParaRPr/>
          </a:p>
        </p:txBody>
      </p:sp>
      <p:sp>
        <p:nvSpPr>
          <p:cNvPr id="352" name="Google Shape;352;p67"/>
          <p:cNvSpPr txBox="1"/>
          <p:nvPr/>
        </p:nvSpPr>
        <p:spPr>
          <a:xfrm>
            <a:off x="580800" y="1305200"/>
            <a:ext cx="7982400" cy="35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collect batches of csv in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train_x_batch, train_y_batch = \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tf.train.batch([xy[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xy[-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:]],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batch_size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Start populating the filename queue.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 = tf.train.Coordinator()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threads = tf.train.start_queue_runners(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=sess,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=coord)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x_batch, y_batch = sess.run([train_x_batch, train_y_batch])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coord.request_stop()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coord.join(threads)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67"/>
          <p:cNvSpPr txBox="1"/>
          <p:nvPr/>
        </p:nvSpPr>
        <p:spPr>
          <a:xfrm>
            <a:off x="4156500" y="4818750"/>
            <a:ext cx="5063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https://www.tensorflow.org/programmers_guide/reading_data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8"/>
          <p:cNvSpPr txBox="1"/>
          <p:nvPr/>
        </p:nvSpPr>
        <p:spPr>
          <a:xfrm>
            <a:off x="0" y="381000"/>
            <a:ext cx="5388300" cy="44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filename_queue = tf.train.string_input_producer(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'data-01-test-score.csv'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shuffle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'filename_queue'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reader = tf.TextLineReader()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key, value = reader.read(filename_queue)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Default values, in case of empty columns. Also specifies the type of the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decoded result.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record_defaults = [[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xy = tf.decode_csv(value,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record_defaults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=record_defaults)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collect batches of csv in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train_x_batch, train_y_batch = \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tf.train.batch([xy[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xy[-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:]],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batch_size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placeholders for a tensor that will be always fed.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Hypothesis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tf.matmul(X, W) + b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Simplified cost/loss function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1e-5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68"/>
          <p:cNvSpPr txBox="1"/>
          <p:nvPr/>
        </p:nvSpPr>
        <p:spPr>
          <a:xfrm>
            <a:off x="4466725" y="1356550"/>
            <a:ext cx="4629600" cy="31863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Start populating the filename queue.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 = tf.train.Coordinator()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threads = tf.train.start_queue_runners(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=sess, </a:t>
            </a: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=coord)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x_batch, y_batch = sess.run([train_x_batch, train_y_batch])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hy_val, _ = sess.run(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[cost, hypothesis, train],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feed_dict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x_batch, Y: y_batch})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"Cost: 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cost_val,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"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Prediction:</a:t>
            </a:r>
            <a:r>
              <a:rPr b="1" lang="en" sz="1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hy_val)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coord.request_stop()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coord.join(threads)</a:t>
            </a:r>
            <a:endParaRPr i="1" sz="10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68"/>
          <p:cNvSpPr txBox="1"/>
          <p:nvPr/>
        </p:nvSpPr>
        <p:spPr>
          <a:xfrm>
            <a:off x="2657150" y="4894725"/>
            <a:ext cx="7488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https://github.com/hunkim/DeepLearningZeroToAll/blob/master/lab-04-4-tf_reader_linear_regression.py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9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shuffle_batch</a:t>
            </a:r>
            <a:endParaRPr/>
          </a:p>
        </p:txBody>
      </p:sp>
      <p:sp>
        <p:nvSpPr>
          <p:cNvPr id="366" name="Google Shape;366;p69"/>
          <p:cNvSpPr txBox="1"/>
          <p:nvPr/>
        </p:nvSpPr>
        <p:spPr>
          <a:xfrm>
            <a:off x="580800" y="1419750"/>
            <a:ext cx="7982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min_after_dequeue defines how big a buffer we will randomly sample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from -- bigger means better shuffling but slower start up and more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memory used.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capacity must be larger than min_after_dequeue and the amount larger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determines the maximum we will prefetch.  Recommendation: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 min_after_dequeue + (num_threads + a small safety margin) * batch_size</a:t>
            </a:r>
            <a:endParaRPr i="1" sz="15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min_after_dequeue =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10000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capacity = min_after_dequeue +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batch_size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example_batch, label_batch = tf.train.shuffle_batch(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[example, label], </a:t>
            </a:r>
            <a:r>
              <a:rPr lang="en" sz="15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batch_size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=batch_size, </a:t>
            </a:r>
            <a:r>
              <a:rPr lang="en" sz="15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capacity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=capacity,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min_after_dequeue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=min_after_dequeue)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69"/>
          <p:cNvSpPr txBox="1"/>
          <p:nvPr/>
        </p:nvSpPr>
        <p:spPr>
          <a:xfrm>
            <a:off x="4156500" y="4818750"/>
            <a:ext cx="5063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https://www.tensorflow.org/programmers_guide/reading_data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0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Logistic (regression) classifier</a:t>
            </a:r>
            <a:endParaRPr/>
          </a:p>
        </p:txBody>
      </p:sp>
      <p:sp>
        <p:nvSpPr>
          <p:cNvPr id="373" name="Google Shape;373;p70"/>
          <p:cNvSpPr txBox="1"/>
          <p:nvPr>
            <p:ph idx="1" type="body"/>
          </p:nvPr>
        </p:nvSpPr>
        <p:spPr>
          <a:xfrm>
            <a:off x="1812726" y="3197944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&lt;hunkim+ml@gmail.com&gt;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