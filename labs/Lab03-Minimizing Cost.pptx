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6" r:id="rId3"/>
    <p:sldMasterId id="2147483677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143500" cx="9144000"/>
  <p:notesSz cx="6858000" cy="9144000"/>
  <p:embeddedFontLst>
    <p:embeddedFont>
      <p:font typeface="Helvetica Neue"/>
      <p:regular r:id="rId22"/>
      <p:bold r:id="rId23"/>
      <p:italic r:id="rId24"/>
      <p:boldItalic r:id="rId25"/>
    </p:embeddedFont>
    <p:embeddedFont>
      <p:font typeface="Gill Sans"/>
      <p:regular r:id="rId26"/>
      <p:bold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HelveticaNeue-regular.fntdata"/><Relationship Id="rId21" Type="http://schemas.openxmlformats.org/officeDocument/2006/relationships/slide" Target="slides/slide16.xml"/><Relationship Id="rId24" Type="http://schemas.openxmlformats.org/officeDocument/2006/relationships/font" Target="fonts/HelveticaNeue-italic.fntdata"/><Relationship Id="rId23" Type="http://schemas.openxmlformats.org/officeDocument/2006/relationships/font" Target="fonts/HelveticaNeue-bold.fntdata"/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26" Type="http://schemas.openxmlformats.org/officeDocument/2006/relationships/font" Target="fonts/GillSans-regular.fntdata"/><Relationship Id="rId25" Type="http://schemas.openxmlformats.org/officeDocument/2006/relationships/font" Target="fonts/HelveticaNeue-boldItalic.fntdata"/><Relationship Id="rId27" Type="http://schemas.openxmlformats.org/officeDocument/2006/relationships/font" Target="fonts/GillSans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1d121638f2_0_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g1d121638f2_0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1d194ea820_6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1d194ea820_6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1d194ea820_13_1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g1d194ea820_13_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1d121638f2_0_1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1d121638f2_0_1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1d121638f2_0_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g1d121638f2_0_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1d121638f2_0_1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g1d121638f2_0_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1d121638f2_0_13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g1d121638f2_0_13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1d121638f2_0_13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g1d121638f2_0_13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1d121638f2_0_15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g1d121638f2_0_15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1d121638f2_0_2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g1d121638f2_0_2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1d194ea820_13_2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g1d194ea820_13_2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1d121638f2_0_16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g1d121638f2_0_16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1d121638f2_0_3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g1d121638f2_0_3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1d121638f2_0_18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g1d121638f2_0_18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1d121638f2_0_26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g1d121638f2_0_26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1d121638f2_0_4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g1d121638f2_0_4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Subtitle" type="tx">
  <p:cSld name="TITLE_AND_BODY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title"/>
          </p:nvPr>
        </p:nvSpPr>
        <p:spPr>
          <a:xfrm>
            <a:off x="1812726" y="863947"/>
            <a:ext cx="5518500" cy="1741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34275" spcFirstLastPara="1" rIns="34275" wrap="square" tIns="3427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Gill Sans"/>
              <a:buNone/>
              <a:defRPr b="0" i="0" sz="44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1812726" y="2652117"/>
            <a:ext cx="5518500" cy="59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None/>
              <a:defRPr b="0" i="0" sz="19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228600" lvl="1" marL="9144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None/>
              <a:defRPr b="0" i="0" sz="19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-228600" lvl="2" marL="13716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None/>
              <a:defRPr b="0" i="0" sz="19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-228600" lvl="3" marL="18288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None/>
              <a:defRPr b="0" i="0" sz="19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-228600" lvl="4" marL="22860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None/>
              <a:defRPr b="0" i="0" sz="19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-381000" lvl="5" marL="2743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81000" lvl="6" marL="32004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81000" lvl="7" marL="36576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81000" lvl="8" marL="41148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4482331" y="4882307"/>
            <a:ext cx="172800" cy="186900"/>
          </a:xfrm>
          <a:prstGeom prst="rect">
            <a:avLst/>
          </a:prstGeom>
          <a:noFill/>
          <a:ln>
            <a:noFill/>
          </a:ln>
        </p:spPr>
        <p:txBody>
          <a:bodyPr anchorCtr="0" anchor="t" bIns="26775" lIns="26775" spcFirstLastPara="1" rIns="26775" wrap="square" tIns="2677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  <a:defRPr b="0" i="0" sz="9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  <a:defRPr b="0" i="0" sz="9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  <a:defRPr b="0" i="0" sz="9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  <a:defRPr b="0" i="0" sz="9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  <a:defRPr b="0" i="0" sz="9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  <a:defRPr b="0" i="0" sz="9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  <a:defRPr b="0" i="0" sz="9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  <a:defRPr b="0" i="0" sz="9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  <a:defRPr b="0" i="0" sz="9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Bullets">
  <p:cSld name="Title &amp; Bullets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1812726" y="133945"/>
            <a:ext cx="5518500" cy="12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Gill Sans"/>
              <a:buNone/>
              <a:defRPr b="0" i="0" sz="34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0" name="Google Shape;60;p15"/>
          <p:cNvSpPr txBox="1"/>
          <p:nvPr>
            <p:ph idx="1" type="body"/>
          </p:nvPr>
        </p:nvSpPr>
        <p:spPr>
          <a:xfrm>
            <a:off x="1812726" y="1460004"/>
            <a:ext cx="5518500" cy="301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-45720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Noto Sans Symbols"/>
              <a:buChar char="●"/>
              <a:defRPr b="0" i="0" sz="21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431800" lvl="1" marL="9144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Noto Sans Symbols"/>
              <a:buChar char="•"/>
              <a:defRPr b="0" i="0" sz="19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-431800" lvl="2" marL="13716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Noto Sans Symbols"/>
              <a:buChar char="●"/>
              <a:defRPr b="0" i="0" sz="19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-431800" lvl="3" marL="18288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Noto Sans Symbols"/>
              <a:buChar char="●"/>
              <a:defRPr b="0" i="0" sz="19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-431800" lvl="4" marL="22860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Noto Sans Symbols"/>
              <a:buChar char="●"/>
              <a:defRPr b="0" i="0" sz="19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-381000" lvl="5" marL="2743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81000" lvl="6" marL="32004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81000" lvl="7" marL="36576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81000" lvl="8" marL="41148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1" name="Google Shape;61;p15"/>
          <p:cNvSpPr txBox="1"/>
          <p:nvPr>
            <p:ph idx="12" type="sldNum"/>
          </p:nvPr>
        </p:nvSpPr>
        <p:spPr>
          <a:xfrm>
            <a:off x="4482331" y="4882307"/>
            <a:ext cx="172800" cy="186900"/>
          </a:xfrm>
          <a:prstGeom prst="rect">
            <a:avLst/>
          </a:prstGeom>
          <a:noFill/>
          <a:ln>
            <a:noFill/>
          </a:ln>
        </p:spPr>
        <p:txBody>
          <a:bodyPr anchorCtr="0" anchor="t" bIns="26775" lIns="26775" spcFirstLastPara="1" rIns="26775" wrap="square" tIns="2677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  <a:defRPr b="0" i="0" sz="9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  <a:defRPr b="0" i="0" sz="9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  <a:defRPr b="0" i="0" sz="9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  <a:defRPr b="0" i="0" sz="9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  <a:defRPr b="0" i="0" sz="9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  <a:defRPr b="0" i="0" sz="9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  <a:defRPr b="0" i="0" sz="9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  <a:defRPr b="0" i="0" sz="9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  <a:defRPr b="0" i="0" sz="9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Bullets">
  <p:cSld name="Title &amp; Bullets 2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6"/>
          <p:cNvSpPr txBox="1"/>
          <p:nvPr>
            <p:ph type="title"/>
          </p:nvPr>
        </p:nvSpPr>
        <p:spPr>
          <a:xfrm>
            <a:off x="-8188" y="133945"/>
            <a:ext cx="9160500" cy="12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Gill Sans"/>
              <a:buNone/>
              <a:defRPr b="0" i="0" sz="34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180210" y="1460004"/>
            <a:ext cx="8783400" cy="301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-45720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Noto Sans Symbols"/>
              <a:buChar char="●"/>
              <a:defRPr b="0" i="0" sz="21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431800" lvl="1" marL="9144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Noto Sans Symbols"/>
              <a:buChar char="•"/>
              <a:defRPr b="0" i="0" sz="19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-431800" lvl="2" marL="13716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Noto Sans Symbols"/>
              <a:buChar char="●"/>
              <a:defRPr b="0" i="0" sz="19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-431800" lvl="3" marL="18288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Noto Sans Symbols"/>
              <a:buChar char="●"/>
              <a:defRPr b="0" i="0" sz="19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-431800" lvl="4" marL="22860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Noto Sans Symbols"/>
              <a:buChar char="●"/>
              <a:defRPr b="0" i="0" sz="19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-381000" lvl="5" marL="2743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81000" lvl="6" marL="32004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81000" lvl="7" marL="36576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81000" lvl="8" marL="41148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5" name="Google Shape;65;p16"/>
          <p:cNvSpPr txBox="1"/>
          <p:nvPr>
            <p:ph idx="12" type="sldNum"/>
          </p:nvPr>
        </p:nvSpPr>
        <p:spPr>
          <a:xfrm>
            <a:off x="4482331" y="4882307"/>
            <a:ext cx="172800" cy="186900"/>
          </a:xfrm>
          <a:prstGeom prst="rect">
            <a:avLst/>
          </a:prstGeom>
          <a:noFill/>
          <a:ln>
            <a:noFill/>
          </a:ln>
        </p:spPr>
        <p:txBody>
          <a:bodyPr anchorCtr="0" anchor="t" bIns="26775" lIns="26775" spcFirstLastPara="1" rIns="26775" wrap="square" tIns="2677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  <a:defRPr b="0" i="0" sz="9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  <a:defRPr b="0" i="0" sz="9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  <a:defRPr b="0" i="0" sz="9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  <a:defRPr b="0" i="0" sz="9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  <a:defRPr b="0" i="0" sz="9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  <a:defRPr b="0" i="0" sz="9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  <a:defRPr b="0" i="0" sz="9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  <a:defRPr b="0" i="0" sz="9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  <a:defRPr b="0" i="0" sz="9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Bullets">
  <p:cSld name="Title &amp; Bullets 3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/>
          <p:nvPr>
            <p:ph type="title"/>
          </p:nvPr>
        </p:nvSpPr>
        <p:spPr>
          <a:xfrm>
            <a:off x="1645295" y="234404"/>
            <a:ext cx="5853300" cy="113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Helvetica Neue"/>
              <a:buNone/>
              <a:defRPr b="0" i="0" sz="4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8" name="Google Shape;68;p17"/>
          <p:cNvSpPr txBox="1"/>
          <p:nvPr>
            <p:ph idx="1" type="body"/>
          </p:nvPr>
        </p:nvSpPr>
        <p:spPr>
          <a:xfrm>
            <a:off x="1645295" y="1372939"/>
            <a:ext cx="5853300" cy="331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●"/>
              <a:defRPr b="0" i="0" sz="1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●"/>
              <a:defRPr b="0" i="0" sz="1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●"/>
              <a:defRPr b="0" i="0" sz="1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●"/>
              <a:defRPr b="0" i="0" sz="1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●"/>
              <a:defRPr b="0" i="0" sz="1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381000" lvl="5" marL="2743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81000" lvl="6" marL="32004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81000" lvl="7" marL="36576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81000" lvl="8" marL="41148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9" name="Google Shape;69;p17"/>
          <p:cNvSpPr txBox="1"/>
          <p:nvPr>
            <p:ph idx="12" type="sldNum"/>
          </p:nvPr>
        </p:nvSpPr>
        <p:spPr>
          <a:xfrm>
            <a:off x="4475930" y="4878958"/>
            <a:ext cx="185400" cy="1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26775" lIns="26775" spcFirstLastPara="1" rIns="26775" wrap="square" tIns="2677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/>
          <p:nvPr>
            <p:ph idx="12" type="sldNum"/>
          </p:nvPr>
        </p:nvSpPr>
        <p:spPr>
          <a:xfrm>
            <a:off x="4475930" y="4878958"/>
            <a:ext cx="185400" cy="1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26775" lIns="26775" spcFirstLastPara="1" rIns="26775" wrap="square" tIns="2677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9"/>
          <p:cNvSpPr txBox="1"/>
          <p:nvPr>
            <p:ph type="title"/>
          </p:nvPr>
        </p:nvSpPr>
        <p:spPr>
          <a:xfrm>
            <a:off x="449746" y="229118"/>
            <a:ext cx="8241900" cy="69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4" name="Google Shape;74;p19"/>
          <p:cNvSpPr txBox="1"/>
          <p:nvPr>
            <p:ph idx="12" type="sldNum"/>
          </p:nvPr>
        </p:nvSpPr>
        <p:spPr>
          <a:xfrm>
            <a:off x="4419600" y="4629150"/>
            <a:ext cx="2133600" cy="27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Calibri"/>
              <a:buNone/>
              <a:defRPr b="0" i="0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Calibri"/>
              <a:buNone/>
              <a:defRPr b="0" i="0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Calibri"/>
              <a:buNone/>
              <a:defRPr b="0" i="0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Calibri"/>
              <a:buNone/>
              <a:defRPr b="0" i="0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Calibri"/>
              <a:buNone/>
              <a:defRPr b="0" i="0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Calibri"/>
              <a:buNone/>
              <a:defRPr b="0" i="0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Calibri"/>
              <a:buNone/>
              <a:defRPr b="0" i="0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Calibri"/>
              <a:buNone/>
              <a:defRPr b="0" i="0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Calibri"/>
              <a:buNone/>
              <a:defRPr b="0" i="0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Bullets">
  <p:cSld name="Title &amp; Bullets 4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0"/>
          <p:cNvSpPr txBox="1"/>
          <p:nvPr>
            <p:ph type="title"/>
          </p:nvPr>
        </p:nvSpPr>
        <p:spPr>
          <a:xfrm>
            <a:off x="1812726" y="133945"/>
            <a:ext cx="5518500" cy="12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Gill Sans"/>
              <a:buNone/>
              <a:defRPr b="0" i="0" sz="37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7" name="Google Shape;77;p20"/>
          <p:cNvSpPr txBox="1"/>
          <p:nvPr>
            <p:ph idx="1" type="body"/>
          </p:nvPr>
        </p:nvSpPr>
        <p:spPr>
          <a:xfrm>
            <a:off x="1812726" y="1460004"/>
            <a:ext cx="5518500" cy="301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-45720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Noto Sans Symbols"/>
              <a:buChar char="●"/>
              <a:defRPr b="0" i="0" sz="21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431800" lvl="1" marL="9144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Noto Sans Symbols"/>
              <a:buChar char="•"/>
              <a:defRPr b="0" i="0" sz="19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-431800" lvl="2" marL="13716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Noto Sans Symbols"/>
              <a:buChar char="●"/>
              <a:defRPr b="0" i="0" sz="19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-431800" lvl="3" marL="18288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Noto Sans Symbols"/>
              <a:buChar char="●"/>
              <a:defRPr b="0" i="0" sz="19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-431800" lvl="4" marL="22860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Noto Sans Symbols"/>
              <a:buChar char="●"/>
              <a:defRPr b="0" i="0" sz="19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-381000" lvl="5" marL="2743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81000" lvl="6" marL="32004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81000" lvl="7" marL="36576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81000" lvl="8" marL="41148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8" name="Google Shape;78;p20"/>
          <p:cNvSpPr txBox="1"/>
          <p:nvPr>
            <p:ph idx="12" type="sldNum"/>
          </p:nvPr>
        </p:nvSpPr>
        <p:spPr>
          <a:xfrm>
            <a:off x="4482331" y="4882307"/>
            <a:ext cx="172800" cy="186900"/>
          </a:xfrm>
          <a:prstGeom prst="rect">
            <a:avLst/>
          </a:prstGeom>
          <a:noFill/>
          <a:ln>
            <a:noFill/>
          </a:ln>
        </p:spPr>
        <p:txBody>
          <a:bodyPr anchorCtr="0" anchor="t" bIns="26775" lIns="26775" spcFirstLastPara="1" rIns="26775" wrap="square" tIns="2677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  <a:defRPr b="0" i="0" sz="9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  <a:defRPr b="0" i="0" sz="9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  <a:defRPr b="0" i="0" sz="9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  <a:defRPr b="0" i="0" sz="9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  <a:defRPr b="0" i="0" sz="9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  <a:defRPr b="0" i="0" sz="9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  <a:defRPr b="0" i="0" sz="9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  <a:defRPr b="0" i="0" sz="9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  <a:defRPr b="0" i="0" sz="9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Subtitle" type="title">
  <p:cSld name="TITLE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1"/>
          <p:cNvSpPr txBox="1"/>
          <p:nvPr>
            <p:ph type="title"/>
          </p:nvPr>
        </p:nvSpPr>
        <p:spPr>
          <a:xfrm>
            <a:off x="1812726" y="863947"/>
            <a:ext cx="5518500" cy="1741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34275" spcFirstLastPara="1" rIns="34275" wrap="square" tIns="3427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Helvetica Neue"/>
              <a:buNone/>
              <a:defRPr b="0" i="0" sz="4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1" name="Google Shape;81;p21"/>
          <p:cNvSpPr txBox="1"/>
          <p:nvPr>
            <p:ph idx="1" type="body"/>
          </p:nvPr>
        </p:nvSpPr>
        <p:spPr>
          <a:xfrm>
            <a:off x="1812726" y="2652117"/>
            <a:ext cx="5518500" cy="59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None/>
              <a:defRPr b="0" i="0" sz="1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None/>
              <a:defRPr b="0" i="0" sz="1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228600" lvl="2" marL="13716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None/>
              <a:defRPr b="0" i="0" sz="1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228600" lvl="3" marL="18288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None/>
              <a:defRPr b="0" i="0" sz="1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228600" lvl="4" marL="22860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None/>
              <a:defRPr b="0" i="0" sz="1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381000" lvl="5" marL="2743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81000" lvl="6" marL="32004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81000" lvl="7" marL="36576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81000" lvl="8" marL="41148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2" name="Google Shape;82;p21"/>
          <p:cNvSpPr txBox="1"/>
          <p:nvPr>
            <p:ph idx="12" type="sldNum"/>
          </p:nvPr>
        </p:nvSpPr>
        <p:spPr>
          <a:xfrm>
            <a:off x="4475930" y="4878958"/>
            <a:ext cx="185400" cy="1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26775" lIns="26775" spcFirstLastPara="1" rIns="26775" wrap="square" tIns="2677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oto - Horizontal">
  <p:cSld name="Photo - Horizontal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2"/>
          <p:cNvSpPr/>
          <p:nvPr>
            <p:ph idx="2" type="pic"/>
          </p:nvPr>
        </p:nvSpPr>
        <p:spPr>
          <a:xfrm>
            <a:off x="1990204" y="334863"/>
            <a:ext cx="5157000" cy="3120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>
            <a:lvl1pPr indent="-177800" lvl="0" marL="1778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190500" lvl="1" marL="3683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5715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66700" lvl="3" marL="7874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79400" lvl="4" marL="965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11684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13335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15113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16764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5" name="Google Shape;85;p22"/>
          <p:cNvSpPr txBox="1"/>
          <p:nvPr>
            <p:ph type="title"/>
          </p:nvPr>
        </p:nvSpPr>
        <p:spPr>
          <a:xfrm>
            <a:off x="1812726" y="3542854"/>
            <a:ext cx="5518500" cy="750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34275" spcFirstLastPara="1" rIns="34275" wrap="square" tIns="3427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Helvetica Neue"/>
              <a:buNone/>
              <a:defRPr b="0" i="0" sz="4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6" name="Google Shape;86;p22"/>
          <p:cNvSpPr txBox="1"/>
          <p:nvPr>
            <p:ph idx="1" type="body"/>
          </p:nvPr>
        </p:nvSpPr>
        <p:spPr>
          <a:xfrm>
            <a:off x="1812726" y="4319736"/>
            <a:ext cx="5518500" cy="59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None/>
              <a:defRPr b="0" i="0" sz="1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None/>
              <a:defRPr b="0" i="0" sz="1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228600" lvl="2" marL="13716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None/>
              <a:defRPr b="0" i="0" sz="1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228600" lvl="3" marL="18288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None/>
              <a:defRPr b="0" i="0" sz="1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228600" lvl="4" marL="22860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None/>
              <a:defRPr b="0" i="0" sz="1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381000" lvl="5" marL="2743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81000" lvl="6" marL="32004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81000" lvl="7" marL="36576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81000" lvl="8" marL="41148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7" name="Google Shape;87;p22"/>
          <p:cNvSpPr txBox="1"/>
          <p:nvPr>
            <p:ph idx="12" type="sldNum"/>
          </p:nvPr>
        </p:nvSpPr>
        <p:spPr>
          <a:xfrm>
            <a:off x="4475930" y="4875609"/>
            <a:ext cx="185400" cy="1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26775" lIns="26775" spcFirstLastPara="1" rIns="26775" wrap="square" tIns="2677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- Center">
  <p:cSld name="Title - Center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3"/>
          <p:cNvSpPr txBox="1"/>
          <p:nvPr>
            <p:ph type="title"/>
          </p:nvPr>
        </p:nvSpPr>
        <p:spPr>
          <a:xfrm>
            <a:off x="1812726" y="1701105"/>
            <a:ext cx="5518500" cy="174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Helvetica Neue"/>
              <a:buNone/>
              <a:defRPr b="0" i="0" sz="4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0" name="Google Shape;90;p23"/>
          <p:cNvSpPr txBox="1"/>
          <p:nvPr>
            <p:ph idx="12" type="sldNum"/>
          </p:nvPr>
        </p:nvSpPr>
        <p:spPr>
          <a:xfrm>
            <a:off x="4475930" y="4878958"/>
            <a:ext cx="185400" cy="1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26775" lIns="26775" spcFirstLastPara="1" rIns="26775" wrap="square" tIns="2677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oto - Vertical">
  <p:cSld name="Photo - Vertical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4"/>
          <p:cNvSpPr/>
          <p:nvPr>
            <p:ph idx="2" type="pic"/>
          </p:nvPr>
        </p:nvSpPr>
        <p:spPr>
          <a:xfrm>
            <a:off x="4685854" y="334863"/>
            <a:ext cx="2812800" cy="43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>
            <a:lvl1pPr indent="-177800" lvl="0" marL="1778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190500" lvl="1" marL="3683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5715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66700" lvl="3" marL="7874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79400" lvl="4" marL="965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11684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13335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15113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16764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3" name="Google Shape;93;p24"/>
          <p:cNvSpPr txBox="1"/>
          <p:nvPr>
            <p:ph type="title"/>
          </p:nvPr>
        </p:nvSpPr>
        <p:spPr>
          <a:xfrm>
            <a:off x="1645295" y="334863"/>
            <a:ext cx="2812800" cy="2103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34275" spcFirstLastPara="1" rIns="34275" wrap="square" tIns="3427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Helvetica Neue"/>
              <a:buNone/>
              <a:defRPr b="0" i="0" sz="3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4" name="Google Shape;94;p24"/>
          <p:cNvSpPr txBox="1"/>
          <p:nvPr>
            <p:ph idx="1" type="body"/>
          </p:nvPr>
        </p:nvSpPr>
        <p:spPr>
          <a:xfrm>
            <a:off x="1645295" y="2511474"/>
            <a:ext cx="2812800" cy="21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None/>
              <a:defRPr b="0" i="0" sz="1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None/>
              <a:defRPr b="0" i="0" sz="1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228600" lvl="2" marL="13716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None/>
              <a:defRPr b="0" i="0" sz="1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228600" lvl="3" marL="18288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None/>
              <a:defRPr b="0" i="0" sz="1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228600" lvl="4" marL="22860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None/>
              <a:defRPr b="0" i="0" sz="1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381000" lvl="5" marL="2743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81000" lvl="6" marL="32004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81000" lvl="7" marL="36576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81000" lvl="8" marL="41148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5" name="Google Shape;95;p24"/>
          <p:cNvSpPr txBox="1"/>
          <p:nvPr>
            <p:ph idx="12" type="sldNum"/>
          </p:nvPr>
        </p:nvSpPr>
        <p:spPr>
          <a:xfrm>
            <a:off x="4475930" y="4878958"/>
            <a:ext cx="185400" cy="1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26775" lIns="26775" spcFirstLastPara="1" rIns="26775" wrap="square" tIns="2677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- Top">
  <p:cSld name="Title - Top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5"/>
          <p:cNvSpPr txBox="1"/>
          <p:nvPr>
            <p:ph type="title"/>
          </p:nvPr>
        </p:nvSpPr>
        <p:spPr>
          <a:xfrm>
            <a:off x="1645295" y="234404"/>
            <a:ext cx="5853300" cy="113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Helvetica Neue"/>
              <a:buNone/>
              <a:defRPr b="0" i="0" sz="4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8" name="Google Shape;98;p25"/>
          <p:cNvSpPr txBox="1"/>
          <p:nvPr>
            <p:ph idx="12" type="sldNum"/>
          </p:nvPr>
        </p:nvSpPr>
        <p:spPr>
          <a:xfrm>
            <a:off x="4475930" y="4878958"/>
            <a:ext cx="185400" cy="1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26775" lIns="26775" spcFirstLastPara="1" rIns="26775" wrap="square" tIns="2677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ullets &amp; Photo">
  <p:cSld name="Title, Bullets &amp; Photo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6"/>
          <p:cNvSpPr/>
          <p:nvPr>
            <p:ph idx="2" type="pic"/>
          </p:nvPr>
        </p:nvSpPr>
        <p:spPr>
          <a:xfrm>
            <a:off x="4685854" y="1372939"/>
            <a:ext cx="2812800" cy="3315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>
            <a:lvl1pPr indent="-177800" lvl="0" marL="1778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190500" lvl="1" marL="3683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5715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66700" lvl="3" marL="7874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79400" lvl="4" marL="965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11684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13335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15113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16764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1" name="Google Shape;101;p26"/>
          <p:cNvSpPr txBox="1"/>
          <p:nvPr>
            <p:ph type="title"/>
          </p:nvPr>
        </p:nvSpPr>
        <p:spPr>
          <a:xfrm>
            <a:off x="1645295" y="234404"/>
            <a:ext cx="5853300" cy="113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Helvetica Neue"/>
              <a:buNone/>
              <a:defRPr b="0" i="0" sz="4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2" name="Google Shape;102;p26"/>
          <p:cNvSpPr txBox="1"/>
          <p:nvPr>
            <p:ph idx="1" type="body"/>
          </p:nvPr>
        </p:nvSpPr>
        <p:spPr>
          <a:xfrm>
            <a:off x="1645295" y="1372939"/>
            <a:ext cx="2812800" cy="331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Noto Sans Symbols"/>
              <a:buChar char="●"/>
              <a:defRPr b="0" i="0" sz="1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Noto Sans Symbols"/>
              <a:buChar char="●"/>
              <a:defRPr b="0" i="0" sz="1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Noto Sans Symbols"/>
              <a:buChar char="●"/>
              <a:defRPr b="0" i="0" sz="1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Noto Sans Symbols"/>
              <a:buChar char="●"/>
              <a:defRPr b="0" i="0" sz="1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Noto Sans Symbols"/>
              <a:buChar char="●"/>
              <a:defRPr b="0" i="0" sz="1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381000" lvl="5" marL="2743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81000" lvl="6" marL="32004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81000" lvl="7" marL="36576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81000" lvl="8" marL="41148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3" name="Google Shape;103;p26"/>
          <p:cNvSpPr txBox="1"/>
          <p:nvPr>
            <p:ph idx="12" type="sldNum"/>
          </p:nvPr>
        </p:nvSpPr>
        <p:spPr>
          <a:xfrm>
            <a:off x="4475930" y="4878958"/>
            <a:ext cx="185400" cy="1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26775" lIns="26775" spcFirstLastPara="1" rIns="26775" wrap="square" tIns="2677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ullets">
  <p:cSld name="Bullets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7"/>
          <p:cNvSpPr txBox="1"/>
          <p:nvPr>
            <p:ph idx="1" type="body"/>
          </p:nvPr>
        </p:nvSpPr>
        <p:spPr>
          <a:xfrm>
            <a:off x="1645295" y="669726"/>
            <a:ext cx="5853300" cy="380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●"/>
              <a:defRPr b="0" i="0" sz="1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●"/>
              <a:defRPr b="0" i="0" sz="1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●"/>
              <a:defRPr b="0" i="0" sz="1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●"/>
              <a:defRPr b="0" i="0" sz="1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●"/>
              <a:defRPr b="0" i="0" sz="1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381000" lvl="5" marL="2743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81000" lvl="6" marL="32004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81000" lvl="7" marL="36576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81000" lvl="8" marL="41148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6" name="Google Shape;106;p27"/>
          <p:cNvSpPr txBox="1"/>
          <p:nvPr>
            <p:ph idx="12" type="sldNum"/>
          </p:nvPr>
        </p:nvSpPr>
        <p:spPr>
          <a:xfrm>
            <a:off x="4475930" y="4878958"/>
            <a:ext cx="185400" cy="1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26775" lIns="26775" spcFirstLastPara="1" rIns="26775" wrap="square" tIns="2677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oto - 3 Up">
  <p:cSld name="Photo - 3 Up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8"/>
          <p:cNvSpPr/>
          <p:nvPr>
            <p:ph idx="2" type="pic"/>
          </p:nvPr>
        </p:nvSpPr>
        <p:spPr>
          <a:xfrm>
            <a:off x="4685854" y="2685604"/>
            <a:ext cx="2812800" cy="19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>
            <a:lvl1pPr indent="-177800" lvl="0" marL="1778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190500" lvl="1" marL="3683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5715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66700" lvl="3" marL="7874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79400" lvl="4" marL="965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11684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13335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15113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16764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9" name="Google Shape;109;p28"/>
          <p:cNvSpPr/>
          <p:nvPr>
            <p:ph idx="3" type="pic"/>
          </p:nvPr>
        </p:nvSpPr>
        <p:spPr>
          <a:xfrm>
            <a:off x="4689132" y="468808"/>
            <a:ext cx="2812800" cy="19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>
            <a:lvl1pPr indent="-177800" lvl="0" marL="1778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190500" lvl="1" marL="3683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5715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66700" lvl="3" marL="7874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79400" lvl="4" marL="965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11684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13335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15113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16764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0" name="Google Shape;110;p28"/>
          <p:cNvSpPr/>
          <p:nvPr>
            <p:ph idx="4" type="pic"/>
          </p:nvPr>
        </p:nvSpPr>
        <p:spPr>
          <a:xfrm>
            <a:off x="1645295" y="468808"/>
            <a:ext cx="2812800" cy="4206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>
            <a:lvl1pPr indent="-177800" lvl="0" marL="1778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190500" lvl="1" marL="3683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5715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66700" lvl="3" marL="7874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79400" lvl="4" marL="965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11684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13335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15113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16764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1" name="Google Shape;111;p28"/>
          <p:cNvSpPr txBox="1"/>
          <p:nvPr>
            <p:ph idx="12" type="sldNum"/>
          </p:nvPr>
        </p:nvSpPr>
        <p:spPr>
          <a:xfrm>
            <a:off x="4475930" y="4878958"/>
            <a:ext cx="185400" cy="1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26775" lIns="26775" spcFirstLastPara="1" rIns="26775" wrap="square" tIns="2677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Quote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9"/>
          <p:cNvSpPr txBox="1"/>
          <p:nvPr>
            <p:ph idx="1" type="body"/>
          </p:nvPr>
        </p:nvSpPr>
        <p:spPr>
          <a:xfrm>
            <a:off x="1812726" y="3355330"/>
            <a:ext cx="55185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None/>
              <a:defRPr b="0" i="0" sz="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81000" lvl="1" marL="9144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81000" lvl="3" marL="18288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81000" lvl="4" marL="22860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81000" lvl="5" marL="2743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81000" lvl="6" marL="32004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81000" lvl="7" marL="36576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81000" lvl="8" marL="41148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4" name="Google Shape;114;p29"/>
          <p:cNvSpPr txBox="1"/>
          <p:nvPr>
            <p:ph idx="2" type="body"/>
          </p:nvPr>
        </p:nvSpPr>
        <p:spPr>
          <a:xfrm>
            <a:off x="1812726" y="2250132"/>
            <a:ext cx="5518500" cy="36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None/>
              <a:defRPr b="0" i="0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81000" lvl="1" marL="9144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81000" lvl="3" marL="18288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81000" lvl="4" marL="22860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81000" lvl="5" marL="2743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81000" lvl="6" marL="32004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81000" lvl="7" marL="36576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81000" lvl="8" marL="41148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5" name="Google Shape;115;p29"/>
          <p:cNvSpPr txBox="1"/>
          <p:nvPr>
            <p:ph idx="12" type="sldNum"/>
          </p:nvPr>
        </p:nvSpPr>
        <p:spPr>
          <a:xfrm>
            <a:off x="4475930" y="4878958"/>
            <a:ext cx="185400" cy="1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26775" lIns="26775" spcFirstLastPara="1" rIns="26775" wrap="square" tIns="2677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oto">
  <p:cSld name="Photo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0"/>
          <p:cNvSpPr/>
          <p:nvPr>
            <p:ph idx="2" type="pic"/>
          </p:nvPr>
        </p:nvSpPr>
        <p:spPr>
          <a:xfrm>
            <a:off x="1143000" y="0"/>
            <a:ext cx="6858000" cy="51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>
            <a:lvl1pPr indent="-177800" lvl="0" marL="1778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190500" lvl="1" marL="3683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5715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66700" lvl="3" marL="7874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79400" lvl="4" marL="965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11684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13335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15113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16764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8" name="Google Shape;118;p30"/>
          <p:cNvSpPr txBox="1"/>
          <p:nvPr>
            <p:ph idx="12" type="sldNum"/>
          </p:nvPr>
        </p:nvSpPr>
        <p:spPr>
          <a:xfrm>
            <a:off x="4475930" y="4878958"/>
            <a:ext cx="185400" cy="1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26775" lIns="26775" spcFirstLastPara="1" rIns="26775" wrap="square" tIns="2677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18" Type="http://schemas.openxmlformats.org/officeDocument/2006/relationships/theme" Target="../theme/theme2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449746" y="229118"/>
            <a:ext cx="8241900" cy="69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457200" y="1200150"/>
            <a:ext cx="8229600" cy="39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>
            <a:lvl1pPr indent="-38100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81000" lvl="3" marL="18288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81000" lvl="4" marL="22860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81000" lvl="5" marL="2743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81000" lvl="6" marL="32004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81000" lvl="7" marL="36576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81000" lvl="8" marL="41148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4419600" y="4629150"/>
            <a:ext cx="2133600" cy="27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Calibri"/>
              <a:buNone/>
              <a:defRPr b="0" i="0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Calibri"/>
              <a:buNone/>
              <a:defRPr b="0" i="0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Calibri"/>
              <a:buNone/>
              <a:defRPr b="0" i="0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Calibri"/>
              <a:buNone/>
              <a:defRPr b="0" i="0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Calibri"/>
              <a:buNone/>
              <a:defRPr b="0" i="0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Calibri"/>
              <a:buNone/>
              <a:defRPr b="0" i="0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Calibri"/>
              <a:buNone/>
              <a:defRPr b="0" i="0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Calibri"/>
              <a:buNone/>
              <a:defRPr b="0" i="0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Calibri"/>
              <a:buNone/>
              <a:defRPr b="0" i="0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5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hyperlink" Target="mailto:hunkim+ml@gmail.com" TargetMode="External"/><Relationship Id="rId5" Type="http://schemas.openxmlformats.org/officeDocument/2006/relationships/hyperlink" Target="https://github.com/hunkim/DeepLearningZeroToAll/" TargetMode="External"/><Relationship Id="rId6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hyperlink" Target="https://goo.gl/jPtWNt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hyperlink" Target="mailto:hunkim+ml@gmail.com" TargetMode="External"/><Relationship Id="rId5" Type="http://schemas.openxmlformats.org/officeDocument/2006/relationships/hyperlink" Target="https://github.com/hunkim/DeepLearningZeroToAll/" TargetMode="External"/><Relationship Id="rId6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github.com/hunkim/DeepLearningZeroToAll/" TargetMode="External"/><Relationship Id="rId4" Type="http://schemas.openxmlformats.org/officeDocument/2006/relationships/image" Target="../media/image2.png"/><Relationship Id="rId5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10.png"/><Relationship Id="rId5" Type="http://schemas.openxmlformats.org/officeDocument/2006/relationships/hyperlink" Target="https://github.com/hunkim/DeepLearningZeroToAll/blob/master/lab-03-1-minimizing_cost_show_graph.py" TargetMode="External"/><Relationship Id="rId6" Type="http://schemas.openxmlformats.org/officeDocument/2006/relationships/image" Target="../media/image5.png"/><Relationship Id="rId7" Type="http://schemas.openxmlformats.org/officeDocument/2006/relationships/hyperlink" Target="http://matplotlib.org/users/installing.html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10.png"/><Relationship Id="rId5" Type="http://schemas.openxmlformats.org/officeDocument/2006/relationships/image" Target="../media/image9.png"/><Relationship Id="rId6" Type="http://schemas.openxmlformats.org/officeDocument/2006/relationships/hyperlink" Target="https://github.com/hunkim/DeepLearningZeroToAll/blob/master/lab-03-1-minimizing_cost_show_graph.py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10.png"/><Relationship Id="rId5" Type="http://schemas.openxmlformats.org/officeDocument/2006/relationships/image" Target="../media/image9.png"/><Relationship Id="rId6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10.png"/><Relationship Id="rId5" Type="http://schemas.openxmlformats.org/officeDocument/2006/relationships/image" Target="../media/image9.png"/><Relationship Id="rId6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hyperlink" Target="https://github.com/hunkim/DeepLearningZeroToAll/blob/master/lab-03-2-minimizing_cost_gradient_update.py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github.com/hunkim/DeepLearningZeroToAll/blob/master/lab-03-2-minimizing_cost_gradient_update.py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Relationship Id="rId4" Type="http://schemas.openxmlformats.org/officeDocument/2006/relationships/hyperlink" Target="https://github.com/hunkim/DeepLearningZeroToAll/blob/master/lab-03-2-minimizing_cost_gradient_update.py" TargetMode="Externa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Relationship Id="rId4" Type="http://schemas.openxmlformats.org/officeDocument/2006/relationships/hyperlink" Target="https://github.com/hunkim/DeepLearningZeroToAll/blob/master/lab-03-3-minimizing_cost_tf_optimizer.py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png"/><Relationship Id="rId4" Type="http://schemas.openxmlformats.org/officeDocument/2006/relationships/hyperlink" Target="https://github.com/hunkim/DeepLearningZeroToAll/blob/master/lab-03-3-minimizing_cost_tf_optimizer.py" TargetMode="Externa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github.com/hunkim/DeepLearningZeroToAll/blob/master/lab-03-X-minimizing_cost_tf_gradient.py" TargetMode="Externa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1"/>
          <p:cNvSpPr txBox="1"/>
          <p:nvPr>
            <p:ph type="title"/>
          </p:nvPr>
        </p:nvSpPr>
        <p:spPr>
          <a:xfrm>
            <a:off x="1812726" y="863947"/>
            <a:ext cx="5518500" cy="1741200"/>
          </a:xfrm>
          <a:prstGeom prst="rect">
            <a:avLst/>
          </a:prstGeom>
          <a:noFill/>
          <a:ln>
            <a:noFill/>
          </a:ln>
        </p:spPr>
        <p:txBody>
          <a:bodyPr anchorCtr="0" anchor="b" bIns="26775" lIns="26775" spcFirstLastPara="1" rIns="26775" wrap="square" tIns="267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</a:pPr>
            <a:r>
              <a:rPr b="0" i="0" lang="en" sz="44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Lab 3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</a:pPr>
            <a:r>
              <a:rPr b="0" i="0" lang="en" sz="27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Minimizing Cost</a:t>
            </a:r>
            <a:endParaRPr/>
          </a:p>
        </p:txBody>
      </p:sp>
      <p:grpSp>
        <p:nvGrpSpPr>
          <p:cNvPr id="124" name="Google Shape;124;p31"/>
          <p:cNvGrpSpPr/>
          <p:nvPr/>
        </p:nvGrpSpPr>
        <p:grpSpPr>
          <a:xfrm>
            <a:off x="-348127" y="87975"/>
            <a:ext cx="2543803" cy="1589522"/>
            <a:chOff x="-928337" y="234600"/>
            <a:chExt cx="6783474" cy="4238725"/>
          </a:xfrm>
        </p:grpSpPr>
        <p:pic>
          <p:nvPicPr>
            <p:cNvPr id="125" name="Google Shape;125;p3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-928337" y="656925"/>
              <a:ext cx="6783474" cy="3816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6" name="Google Shape;126;p31"/>
            <p:cNvSpPr txBox="1"/>
            <p:nvPr/>
          </p:nvSpPr>
          <p:spPr>
            <a:xfrm>
              <a:off x="672550" y="234600"/>
              <a:ext cx="3581700" cy="105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34275" spcFirstLastPara="1" rIns="34275" wrap="square" tIns="34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With TF 1.0!</a:t>
              </a:r>
              <a:endParaRPr sz="1800"/>
            </a:p>
          </p:txBody>
        </p:sp>
      </p:grpSp>
      <p:sp>
        <p:nvSpPr>
          <p:cNvPr id="127" name="Google Shape;127;p31"/>
          <p:cNvSpPr txBox="1"/>
          <p:nvPr/>
        </p:nvSpPr>
        <p:spPr>
          <a:xfrm>
            <a:off x="1279125" y="3208031"/>
            <a:ext cx="6585900" cy="596100"/>
          </a:xfrm>
          <a:prstGeom prst="rect">
            <a:avLst/>
          </a:prstGeom>
          <a:noFill/>
          <a:ln>
            <a:noFill/>
          </a:ln>
        </p:spPr>
        <p:txBody>
          <a:bodyPr anchorCtr="0" anchor="t" bIns="26775" lIns="26775" spcFirstLastPara="1" rIns="26775" wrap="square" tIns="267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Gill Sans"/>
                <a:ea typeface="Gill Sans"/>
                <a:cs typeface="Gill Sans"/>
                <a:sym typeface="Gill Sans"/>
              </a:rPr>
              <a:t>Sung Kim &lt;</a:t>
            </a:r>
            <a:r>
              <a:rPr lang="en" sz="1900" u="sng">
                <a:solidFill>
                  <a:srgbClr val="0000FF"/>
                </a:solidFill>
                <a:latin typeface="Gill Sans"/>
                <a:ea typeface="Gill Sans"/>
                <a:cs typeface="Gill Sans"/>
                <a:sym typeface="Gill Sa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hunkim+ml@gmail.com</a:t>
            </a:r>
            <a:r>
              <a:rPr lang="en" sz="1900">
                <a:latin typeface="Gill Sans"/>
                <a:ea typeface="Gill Sans"/>
                <a:cs typeface="Gill Sans"/>
                <a:sym typeface="Gill Sans"/>
              </a:rPr>
              <a:t>&gt;</a:t>
            </a:r>
            <a:endParaRPr sz="1900"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Gill Sans"/>
                <a:ea typeface="Gill Sans"/>
                <a:cs typeface="Gill Sans"/>
                <a:sym typeface="Gill Sans"/>
              </a:rPr>
              <a:t>Code: </a:t>
            </a:r>
            <a:r>
              <a:rPr lang="en" sz="1900" u="sng">
                <a:solidFill>
                  <a:srgbClr val="0000FF"/>
                </a:solidFill>
                <a:latin typeface="Gill Sans"/>
                <a:ea typeface="Gill Sans"/>
                <a:cs typeface="Gill Sans"/>
                <a:sym typeface="Gill Sans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https://github.com/hunkim/DeepLearningZeroToAll/</a:t>
            </a:r>
            <a:endParaRPr sz="1900"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128" name="Google Shape;128;p3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546341" y="4261902"/>
            <a:ext cx="1428750" cy="7750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32442" y="1538300"/>
            <a:ext cx="6008308" cy="3329575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32"/>
          <p:cNvSpPr txBox="1"/>
          <p:nvPr>
            <p:ph type="title"/>
          </p:nvPr>
        </p:nvSpPr>
        <p:spPr>
          <a:xfrm>
            <a:off x="0" y="286350"/>
            <a:ext cx="9073200" cy="1285800"/>
          </a:xfrm>
          <a:prstGeom prst="rect">
            <a:avLst/>
          </a:prstGeom>
        </p:spPr>
        <p:txBody>
          <a:bodyPr anchorCtr="0" anchor="b" bIns="34275" lIns="34275" spcFirstLastPara="1" rIns="342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Call for comments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Please feel free to add comments directly on these slides</a:t>
            </a:r>
            <a:endParaRPr sz="28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Other slides: </a:t>
            </a:r>
            <a:r>
              <a:rPr lang="en" sz="2800" u="sng">
                <a:solidFill>
                  <a:schemeClr val="hlink"/>
                </a:solidFill>
                <a:hlinkClick r:id="rId4"/>
              </a:rPr>
              <a:t>https://goo.gl/jPtWNt</a:t>
            </a:r>
            <a:r>
              <a:rPr lang="en" sz="2800"/>
              <a:t>      </a:t>
            </a:r>
            <a:endParaRPr sz="2800"/>
          </a:p>
        </p:txBody>
      </p:sp>
      <p:sp>
        <p:nvSpPr>
          <p:cNvPr id="135" name="Google Shape;135;p32"/>
          <p:cNvSpPr txBox="1"/>
          <p:nvPr/>
        </p:nvSpPr>
        <p:spPr>
          <a:xfrm>
            <a:off x="5446800" y="4728475"/>
            <a:ext cx="4064700" cy="55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Picture from http://www.tssablog.org/archives/3280</a:t>
            </a:r>
            <a:endParaRPr sz="1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33"/>
          <p:cNvSpPr txBox="1"/>
          <p:nvPr>
            <p:ph type="title"/>
          </p:nvPr>
        </p:nvSpPr>
        <p:spPr>
          <a:xfrm>
            <a:off x="1812726" y="863947"/>
            <a:ext cx="5518500" cy="1741200"/>
          </a:xfrm>
          <a:prstGeom prst="rect">
            <a:avLst/>
          </a:prstGeom>
          <a:noFill/>
          <a:ln>
            <a:noFill/>
          </a:ln>
        </p:spPr>
        <p:txBody>
          <a:bodyPr anchorCtr="0" anchor="b" bIns="26775" lIns="26775" spcFirstLastPara="1" rIns="26775" wrap="square" tIns="267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</a:pPr>
            <a:r>
              <a:rPr b="0" i="0" lang="en" sz="44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Lab 3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</a:pPr>
            <a:r>
              <a:rPr b="0" i="0" lang="en" sz="27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Minimizing Cost</a:t>
            </a:r>
            <a:endParaRPr/>
          </a:p>
        </p:txBody>
      </p:sp>
      <p:grpSp>
        <p:nvGrpSpPr>
          <p:cNvPr id="141" name="Google Shape;141;p33"/>
          <p:cNvGrpSpPr/>
          <p:nvPr/>
        </p:nvGrpSpPr>
        <p:grpSpPr>
          <a:xfrm>
            <a:off x="-348127" y="87975"/>
            <a:ext cx="2543803" cy="1589522"/>
            <a:chOff x="-928337" y="234600"/>
            <a:chExt cx="6783474" cy="4238725"/>
          </a:xfrm>
        </p:grpSpPr>
        <p:pic>
          <p:nvPicPr>
            <p:cNvPr id="142" name="Google Shape;142;p3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-928337" y="656925"/>
              <a:ext cx="6783474" cy="3816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3" name="Google Shape;143;p33"/>
            <p:cNvSpPr txBox="1"/>
            <p:nvPr/>
          </p:nvSpPr>
          <p:spPr>
            <a:xfrm>
              <a:off x="672550" y="234600"/>
              <a:ext cx="3581700" cy="105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34275" spcFirstLastPara="1" rIns="34275" wrap="square" tIns="34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With TF 1.0!</a:t>
              </a:r>
              <a:endParaRPr sz="1800"/>
            </a:p>
          </p:txBody>
        </p:sp>
      </p:grpSp>
      <p:sp>
        <p:nvSpPr>
          <p:cNvPr id="144" name="Google Shape;144;p33"/>
          <p:cNvSpPr txBox="1"/>
          <p:nvPr/>
        </p:nvSpPr>
        <p:spPr>
          <a:xfrm>
            <a:off x="1279125" y="3208031"/>
            <a:ext cx="6585900" cy="596100"/>
          </a:xfrm>
          <a:prstGeom prst="rect">
            <a:avLst/>
          </a:prstGeom>
          <a:noFill/>
          <a:ln>
            <a:noFill/>
          </a:ln>
        </p:spPr>
        <p:txBody>
          <a:bodyPr anchorCtr="0" anchor="t" bIns="26775" lIns="26775" spcFirstLastPara="1" rIns="26775" wrap="square" tIns="267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Gill Sans"/>
                <a:ea typeface="Gill Sans"/>
                <a:cs typeface="Gill Sans"/>
                <a:sym typeface="Gill Sans"/>
              </a:rPr>
              <a:t>Sung Kim &lt;</a:t>
            </a:r>
            <a:r>
              <a:rPr lang="en" sz="1900" u="sng">
                <a:solidFill>
                  <a:srgbClr val="0000FF"/>
                </a:solidFill>
                <a:latin typeface="Gill Sans"/>
                <a:ea typeface="Gill Sans"/>
                <a:cs typeface="Gill Sans"/>
                <a:sym typeface="Gill Sa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hunkim+ml@gmail.com</a:t>
            </a:r>
            <a:r>
              <a:rPr lang="en" sz="1900">
                <a:latin typeface="Gill Sans"/>
                <a:ea typeface="Gill Sans"/>
                <a:cs typeface="Gill Sans"/>
                <a:sym typeface="Gill Sans"/>
              </a:rPr>
              <a:t>&gt;</a:t>
            </a:r>
            <a:endParaRPr sz="1900"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Gill Sans"/>
                <a:ea typeface="Gill Sans"/>
                <a:cs typeface="Gill Sans"/>
                <a:sym typeface="Gill Sans"/>
              </a:rPr>
              <a:t>Code: </a:t>
            </a:r>
            <a:r>
              <a:rPr lang="en" sz="1900" u="sng">
                <a:solidFill>
                  <a:srgbClr val="0000FF"/>
                </a:solidFill>
                <a:latin typeface="Gill Sans"/>
                <a:ea typeface="Gill Sans"/>
                <a:cs typeface="Gill Sans"/>
                <a:sym typeface="Gill Sans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https://github.com/hunkim/DeepLearningZeroToAll/</a:t>
            </a:r>
            <a:endParaRPr sz="1900"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145" name="Google Shape;145;p3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546341" y="4261902"/>
            <a:ext cx="1428750" cy="7750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4"/>
          <p:cNvSpPr txBox="1"/>
          <p:nvPr>
            <p:ph type="title"/>
          </p:nvPr>
        </p:nvSpPr>
        <p:spPr>
          <a:xfrm>
            <a:off x="225375" y="133950"/>
            <a:ext cx="8813100" cy="1285800"/>
          </a:xfrm>
          <a:prstGeom prst="rect">
            <a:avLst/>
          </a:prstGeom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u="sng">
                <a:solidFill>
                  <a:schemeClr val="hlink"/>
                </a:solidFill>
                <a:hlinkClick r:id="rId3"/>
              </a:rPr>
              <a:t>https://github.com/hunkim/DeepLearningZeroToAll/</a:t>
            </a:r>
            <a:r>
              <a:rPr lang="en" sz="3000"/>
              <a:t> </a:t>
            </a:r>
            <a:endParaRPr sz="3000"/>
          </a:p>
        </p:txBody>
      </p:sp>
      <p:pic>
        <p:nvPicPr>
          <p:cNvPr id="151" name="Google Shape;151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572150"/>
            <a:ext cx="4555950" cy="1938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3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2100" y="1572150"/>
            <a:ext cx="4130851" cy="26302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35"/>
          <p:cNvSpPr txBox="1"/>
          <p:nvPr>
            <p:ph type="title"/>
          </p:nvPr>
        </p:nvSpPr>
        <p:spPr>
          <a:xfrm>
            <a:off x="1812726" y="133945"/>
            <a:ext cx="5518500" cy="12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</a:pPr>
            <a:r>
              <a:rPr b="0" i="0" lang="en" sz="34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Simplified hypothesis </a:t>
            </a:r>
            <a:endParaRPr/>
          </a:p>
        </p:txBody>
      </p:sp>
      <p:pic>
        <p:nvPicPr>
          <p:cNvPr id="158" name="Google Shape;158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41434" y="2320288"/>
            <a:ext cx="1245600" cy="24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05755" y="2981800"/>
            <a:ext cx="3388800" cy="663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64620" y="1564209"/>
            <a:ext cx="1245600" cy="24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97751" y="1966561"/>
            <a:ext cx="3388800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36"/>
          <p:cNvSpPr txBox="1"/>
          <p:nvPr/>
        </p:nvSpPr>
        <p:spPr>
          <a:xfrm>
            <a:off x="0" y="0"/>
            <a:ext cx="6093300" cy="510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import 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tensorflow </a:t>
            </a:r>
            <a:r>
              <a:rPr b="1" lang="en" sz="1200">
                <a:solidFill>
                  <a:srgbClr val="000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as 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tf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import 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matplotlib.pyplot </a:t>
            </a:r>
            <a:r>
              <a:rPr b="1" lang="en" sz="1200">
                <a:solidFill>
                  <a:srgbClr val="000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as 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plt</a:t>
            </a:r>
            <a:endParaRPr i="1" sz="1200">
              <a:solidFill>
                <a:srgbClr val="80808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X = [</a:t>
            </a:r>
            <a:r>
              <a:rPr lang="en" sz="12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2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2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Y = [</a:t>
            </a:r>
            <a:r>
              <a:rPr lang="en" sz="12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2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2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W = tf.placeholder(tf.float32)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 Our hypothesis for linear model X * W</a:t>
            </a:r>
            <a:endParaRPr i="1" sz="1200">
              <a:solidFill>
                <a:srgbClr val="80808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hypothesis = X * W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 cost/loss function</a:t>
            </a:r>
            <a:endParaRPr i="1" sz="1200">
              <a:solidFill>
                <a:srgbClr val="80808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cost = tf.reduce_mean(tf.square(hypothesis - Y))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 Launch the graph in a session.</a:t>
            </a:r>
            <a:endParaRPr i="1" sz="1200">
              <a:solidFill>
                <a:srgbClr val="80808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sess = tf.Session()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 Initializes global variables in the graph.</a:t>
            </a:r>
            <a:endParaRPr i="1" sz="1200">
              <a:solidFill>
                <a:srgbClr val="80808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sess.run(tf.global_variables_initializer())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 Variables for plotting cost function</a:t>
            </a:r>
            <a:endParaRPr i="1" sz="1200">
              <a:solidFill>
                <a:srgbClr val="80808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W_val = []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cost_val = []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for 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 </a:t>
            </a:r>
            <a:r>
              <a:rPr b="1" lang="en" sz="1200">
                <a:solidFill>
                  <a:srgbClr val="000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 </a:t>
            </a:r>
            <a:r>
              <a:rPr lang="en" sz="1200">
                <a:solidFill>
                  <a:srgbClr val="000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range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(-</a:t>
            </a:r>
            <a:r>
              <a:rPr lang="en" sz="12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30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2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50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):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feed_W = i * </a:t>
            </a:r>
            <a:r>
              <a:rPr lang="en" sz="12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0.1</a:t>
            </a:r>
            <a:endParaRPr sz="1200">
              <a:solidFill>
                <a:srgbClr val="0000FF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curr_cost, curr_W = sess.run([cost, W], </a:t>
            </a:r>
            <a:r>
              <a:rPr lang="en" sz="1200">
                <a:solidFill>
                  <a:srgbClr val="66009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feed_dict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={W: feed_W})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W_val.append(curr_W)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cost_val.append(curr_cost)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 Show the cost function</a:t>
            </a:r>
            <a:endParaRPr i="1" sz="1200">
              <a:solidFill>
                <a:srgbClr val="80808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plt.plot(W_val, cost_val)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plt.show()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7" name="Google Shape;167;p36"/>
          <p:cNvSpPr txBox="1"/>
          <p:nvPr/>
        </p:nvSpPr>
        <p:spPr>
          <a:xfrm>
            <a:off x="2508300" y="4884875"/>
            <a:ext cx="6788100" cy="29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u="sng">
                <a:solidFill>
                  <a:schemeClr val="hlink"/>
                </a:solidFill>
                <a:hlinkClick r:id="rId5"/>
              </a:rPr>
              <a:t>https://github.com/hunkim/DeepLearningZeroToAll/blob/master/lab-03-1-minimizing_cost_show_graph.py</a:t>
            </a:r>
            <a:r>
              <a:rPr lang="en" sz="1100"/>
              <a:t> </a:t>
            </a:r>
            <a:endParaRPr sz="1100"/>
          </a:p>
        </p:txBody>
      </p:sp>
      <p:pic>
        <p:nvPicPr>
          <p:cNvPr id="168" name="Google Shape;168;p3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861450" y="139650"/>
            <a:ext cx="1947150" cy="46730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36"/>
          <p:cNvSpPr txBox="1"/>
          <p:nvPr/>
        </p:nvSpPr>
        <p:spPr>
          <a:xfrm>
            <a:off x="5879175" y="163600"/>
            <a:ext cx="3689700" cy="41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7"/>
              </a:rPr>
              <a:t>http://matplotlib.org/users/installing.html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64620" y="1564209"/>
            <a:ext cx="1245600" cy="24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94651" y="4164011"/>
            <a:ext cx="3388800" cy="66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3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43900" y="72575"/>
            <a:ext cx="4182126" cy="3121701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37"/>
          <p:cNvSpPr txBox="1"/>
          <p:nvPr/>
        </p:nvSpPr>
        <p:spPr>
          <a:xfrm>
            <a:off x="8015475" y="2836050"/>
            <a:ext cx="328500" cy="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</a:t>
            </a:r>
            <a:endParaRPr/>
          </a:p>
        </p:txBody>
      </p:sp>
      <p:sp>
        <p:nvSpPr>
          <p:cNvPr id="178" name="Google Shape;178;p37"/>
          <p:cNvSpPr txBox="1"/>
          <p:nvPr/>
        </p:nvSpPr>
        <p:spPr>
          <a:xfrm>
            <a:off x="3677975" y="328125"/>
            <a:ext cx="1277100" cy="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cost (W)</a:t>
            </a:r>
            <a:endParaRPr/>
          </a:p>
        </p:txBody>
      </p:sp>
      <p:sp>
        <p:nvSpPr>
          <p:cNvPr id="179" name="Google Shape;179;p37"/>
          <p:cNvSpPr txBox="1"/>
          <p:nvPr/>
        </p:nvSpPr>
        <p:spPr>
          <a:xfrm>
            <a:off x="0" y="0"/>
            <a:ext cx="6093300" cy="510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import 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tensorflow </a:t>
            </a:r>
            <a:r>
              <a:rPr b="1" lang="en" sz="1200">
                <a:solidFill>
                  <a:srgbClr val="000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as 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tf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import 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matplotlib.pyplot </a:t>
            </a:r>
            <a:r>
              <a:rPr b="1" lang="en" sz="1200">
                <a:solidFill>
                  <a:srgbClr val="000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as 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plt</a:t>
            </a:r>
            <a:endParaRPr i="1" sz="1200">
              <a:solidFill>
                <a:srgbClr val="80808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X = [</a:t>
            </a:r>
            <a:r>
              <a:rPr lang="en" sz="12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2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2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Y = [</a:t>
            </a:r>
            <a:r>
              <a:rPr lang="en" sz="12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2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2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W = tf.placeholder(tf.float32)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 Our hypothesis for linear model X * W</a:t>
            </a:r>
            <a:endParaRPr i="1" sz="1200">
              <a:solidFill>
                <a:srgbClr val="80808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hypothesis = X * W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 cost/loss function</a:t>
            </a:r>
            <a:endParaRPr i="1" sz="1200">
              <a:solidFill>
                <a:srgbClr val="80808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cost = tf.reduce_mean(tf.square(hypothesis - Y))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 Launch the graph in a session.</a:t>
            </a:r>
            <a:endParaRPr i="1" sz="1200">
              <a:solidFill>
                <a:srgbClr val="80808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sess = tf.Session()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 Initializes global variables in the graph.</a:t>
            </a:r>
            <a:endParaRPr i="1" sz="1200">
              <a:solidFill>
                <a:srgbClr val="80808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sess.run(tf.global_variables_initializer())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 Variables for plotting cost function</a:t>
            </a:r>
            <a:endParaRPr i="1" sz="1200">
              <a:solidFill>
                <a:srgbClr val="80808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W_val = []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cost_val = []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for 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 </a:t>
            </a:r>
            <a:r>
              <a:rPr b="1" lang="en" sz="1200">
                <a:solidFill>
                  <a:srgbClr val="000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 </a:t>
            </a:r>
            <a:r>
              <a:rPr lang="en" sz="1200">
                <a:solidFill>
                  <a:srgbClr val="000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range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(-</a:t>
            </a:r>
            <a:r>
              <a:rPr lang="en" sz="12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30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2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50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):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feed_W = i * </a:t>
            </a:r>
            <a:r>
              <a:rPr lang="en" sz="12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0.1</a:t>
            </a:r>
            <a:endParaRPr sz="1200">
              <a:solidFill>
                <a:srgbClr val="0000FF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curr_cost, curr_W = sess.run([cost, W], </a:t>
            </a:r>
            <a:r>
              <a:rPr lang="en" sz="1200">
                <a:solidFill>
                  <a:srgbClr val="66009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feed_dict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={W: feed_W})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W_val.append(curr_W)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cost_val.append(curr_cost)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 Show the cost function</a:t>
            </a:r>
            <a:endParaRPr i="1" sz="1200">
              <a:solidFill>
                <a:srgbClr val="80808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plt.plot(W_val, cost_val)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plt.show()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80" name="Google Shape;180;p37"/>
          <p:cNvSpPr txBox="1"/>
          <p:nvPr/>
        </p:nvSpPr>
        <p:spPr>
          <a:xfrm>
            <a:off x="2508300" y="4884875"/>
            <a:ext cx="6788100" cy="29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u="sng">
                <a:solidFill>
                  <a:schemeClr val="hlink"/>
                </a:solidFill>
                <a:hlinkClick r:id="rId6"/>
              </a:rPr>
              <a:t>https://github.com/hunkim/DeepLearningZeroToAll/blob/master/lab-03-1-minimizing_cost_show_graph.py</a:t>
            </a:r>
            <a:r>
              <a:rPr lang="en" sz="1100"/>
              <a:t> </a:t>
            </a:r>
            <a:endParaRPr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" name="Google Shape;185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9845" y="2351409"/>
            <a:ext cx="1245600" cy="24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75788" y="4235386"/>
            <a:ext cx="3388800" cy="66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3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79125" y="859775"/>
            <a:ext cx="4182126" cy="3121701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38"/>
          <p:cNvSpPr txBox="1"/>
          <p:nvPr/>
        </p:nvSpPr>
        <p:spPr>
          <a:xfrm>
            <a:off x="4674500" y="3623250"/>
            <a:ext cx="328500" cy="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</a:t>
            </a:r>
            <a:endParaRPr/>
          </a:p>
        </p:txBody>
      </p:sp>
      <p:sp>
        <p:nvSpPr>
          <p:cNvPr id="189" name="Google Shape;189;p38"/>
          <p:cNvSpPr txBox="1"/>
          <p:nvPr/>
        </p:nvSpPr>
        <p:spPr>
          <a:xfrm>
            <a:off x="413200" y="1115325"/>
            <a:ext cx="1277100" cy="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cost (W)</a:t>
            </a:r>
            <a:endParaRPr/>
          </a:p>
        </p:txBody>
      </p:sp>
      <p:sp>
        <p:nvSpPr>
          <p:cNvPr id="190" name="Google Shape;190;p38"/>
          <p:cNvSpPr txBox="1"/>
          <p:nvPr>
            <p:ph type="title"/>
          </p:nvPr>
        </p:nvSpPr>
        <p:spPr>
          <a:xfrm>
            <a:off x="1812725" y="133949"/>
            <a:ext cx="5518500" cy="9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</a:pPr>
            <a:r>
              <a:rPr lang="en" sz="3400"/>
              <a:t>Gradient descent</a:t>
            </a:r>
            <a:endParaRPr/>
          </a:p>
        </p:txBody>
      </p:sp>
      <p:pic>
        <p:nvPicPr>
          <p:cNvPr id="191" name="Google Shape;191;p3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022560" y="1851688"/>
            <a:ext cx="3239400" cy="564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9845" y="2351409"/>
            <a:ext cx="1245600" cy="24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75788" y="4235386"/>
            <a:ext cx="3388800" cy="66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3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79125" y="859775"/>
            <a:ext cx="4182126" cy="3121701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39"/>
          <p:cNvSpPr txBox="1"/>
          <p:nvPr/>
        </p:nvSpPr>
        <p:spPr>
          <a:xfrm>
            <a:off x="4436100" y="3695675"/>
            <a:ext cx="328500" cy="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</a:t>
            </a:r>
            <a:endParaRPr/>
          </a:p>
        </p:txBody>
      </p:sp>
      <p:sp>
        <p:nvSpPr>
          <p:cNvPr id="200" name="Google Shape;200;p39"/>
          <p:cNvSpPr txBox="1"/>
          <p:nvPr/>
        </p:nvSpPr>
        <p:spPr>
          <a:xfrm>
            <a:off x="413200" y="1115325"/>
            <a:ext cx="1277100" cy="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cost (W)</a:t>
            </a:r>
            <a:endParaRPr/>
          </a:p>
        </p:txBody>
      </p:sp>
      <p:sp>
        <p:nvSpPr>
          <p:cNvPr id="201" name="Google Shape;201;p39"/>
          <p:cNvSpPr txBox="1"/>
          <p:nvPr>
            <p:ph type="title"/>
          </p:nvPr>
        </p:nvSpPr>
        <p:spPr>
          <a:xfrm>
            <a:off x="1812725" y="133949"/>
            <a:ext cx="5518500" cy="9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</a:pPr>
            <a:r>
              <a:rPr lang="en" sz="3400"/>
              <a:t>Gradient descent</a:t>
            </a:r>
            <a:endParaRPr/>
          </a:p>
        </p:txBody>
      </p:sp>
      <p:pic>
        <p:nvPicPr>
          <p:cNvPr id="202" name="Google Shape;202;p3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022560" y="1851688"/>
            <a:ext cx="3239400" cy="564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39"/>
          <p:cNvSpPr txBox="1"/>
          <p:nvPr/>
        </p:nvSpPr>
        <p:spPr>
          <a:xfrm>
            <a:off x="5022550" y="2563425"/>
            <a:ext cx="4045800" cy="1255800"/>
          </a:xfrm>
          <a:prstGeom prst="rect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 Minimize: Gradient Descent using derivative: W -= learning_rate * derivative</a:t>
            </a:r>
            <a:endParaRPr i="1" sz="1200">
              <a:solidFill>
                <a:srgbClr val="80808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learning_rate = </a:t>
            </a:r>
            <a:r>
              <a:rPr lang="en" sz="12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0.1</a:t>
            </a:r>
            <a:endParaRPr sz="1200">
              <a:solidFill>
                <a:srgbClr val="0000FF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gradient = tf.reduce_mean((W * X - Y) * X)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descent = W - learning_rate * gradient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update = W.assign(descent)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8" name="Google Shape;208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4160" y="3146013"/>
            <a:ext cx="3239400" cy="564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40"/>
          <p:cNvSpPr txBox="1"/>
          <p:nvPr/>
        </p:nvSpPr>
        <p:spPr>
          <a:xfrm>
            <a:off x="0" y="0"/>
            <a:ext cx="6927900" cy="509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import 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tensorflow </a:t>
            </a:r>
            <a:r>
              <a:rPr b="1" lang="en" sz="1200">
                <a:solidFill>
                  <a:srgbClr val="000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as 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tf</a:t>
            </a:r>
            <a:endParaRPr i="1" sz="1200">
              <a:solidFill>
                <a:srgbClr val="80808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x_data = [</a:t>
            </a:r>
            <a:r>
              <a:rPr lang="en" sz="12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2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2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y_data = [</a:t>
            </a:r>
            <a:r>
              <a:rPr lang="en" sz="12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2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2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200">
              <a:solidFill>
                <a:srgbClr val="80808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W = tf.Variable(tf.random_normal([</a:t>
            </a:r>
            <a:r>
              <a:rPr lang="en" sz="12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]), </a:t>
            </a:r>
            <a:r>
              <a:rPr lang="en" sz="1200">
                <a:solidFill>
                  <a:srgbClr val="66009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name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1" lang="en" sz="1200">
                <a:solidFill>
                  <a:srgbClr val="0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'weight'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X = tf.placeholder(tf.float32)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Y = tf.placeholder(tf.float32)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 Our hypothesis for linear model X * W</a:t>
            </a:r>
            <a:endParaRPr i="1" sz="1200">
              <a:solidFill>
                <a:srgbClr val="80808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hypothesis = X * W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 cost/loss function</a:t>
            </a:r>
            <a:endParaRPr i="1" sz="1200">
              <a:solidFill>
                <a:srgbClr val="80808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cost = tf.reduce_sum(tf.square(hypothesis - Y))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 Minimize: Gradient Descent using derivative: W -= learning_rate * derivative</a:t>
            </a:r>
            <a:endParaRPr i="1" sz="1200">
              <a:solidFill>
                <a:srgbClr val="80808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learning_rate = </a:t>
            </a:r>
            <a:r>
              <a:rPr lang="en" sz="12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0.1</a:t>
            </a:r>
            <a:endParaRPr sz="1200">
              <a:solidFill>
                <a:srgbClr val="0000FF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gradient = tf.reduce_mean((W * X - Y) * X)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descent = W - learning_rate * gradient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update = W.assign(descent)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 Launch the graph in a session.</a:t>
            </a:r>
            <a:endParaRPr i="1" sz="1200">
              <a:solidFill>
                <a:srgbClr val="80808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sess = tf.Session()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 Initializes global variables in the graph.</a:t>
            </a:r>
            <a:endParaRPr i="1" sz="1200">
              <a:solidFill>
                <a:srgbClr val="80808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sess.run(tf.global_variables_initializer())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for 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step </a:t>
            </a:r>
            <a:r>
              <a:rPr b="1" lang="en" sz="1200">
                <a:solidFill>
                  <a:srgbClr val="000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 </a:t>
            </a:r>
            <a:r>
              <a:rPr lang="en" sz="1200">
                <a:solidFill>
                  <a:srgbClr val="000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range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2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21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):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sess.run(update, </a:t>
            </a:r>
            <a:r>
              <a:rPr lang="en" sz="1200">
                <a:solidFill>
                  <a:srgbClr val="66009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feed_dict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={X: x_data, Y: y_data})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" sz="1200">
                <a:solidFill>
                  <a:srgbClr val="000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(step, sess.run(cost, </a:t>
            </a:r>
            <a:r>
              <a:rPr lang="en" sz="1200">
                <a:solidFill>
                  <a:srgbClr val="66009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feed_dict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={X: x_data, Y: y_data}), sess.run(W))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10" name="Google Shape;210;p40"/>
          <p:cNvSpPr txBox="1"/>
          <p:nvPr/>
        </p:nvSpPr>
        <p:spPr>
          <a:xfrm>
            <a:off x="2879475" y="4884875"/>
            <a:ext cx="7026600" cy="29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u="sng">
                <a:solidFill>
                  <a:schemeClr val="hlink"/>
                </a:solidFill>
                <a:hlinkClick r:id="rId4"/>
              </a:rPr>
              <a:t>https://github.com/hunkim/DeepLearningZeroToAll/blob/master/lab-03-2-minimizing_cost_gradient_update.py</a:t>
            </a:r>
            <a:r>
              <a:rPr lang="en" sz="1000"/>
              <a:t> </a:t>
            </a:r>
            <a:endParaRPr sz="10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41"/>
          <p:cNvSpPr txBox="1"/>
          <p:nvPr/>
        </p:nvSpPr>
        <p:spPr>
          <a:xfrm>
            <a:off x="0" y="0"/>
            <a:ext cx="6927900" cy="509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import 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tensorflow </a:t>
            </a:r>
            <a:r>
              <a:rPr b="1" lang="en" sz="1200">
                <a:solidFill>
                  <a:srgbClr val="000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as 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tf</a:t>
            </a:r>
            <a:endParaRPr i="1" sz="1200">
              <a:solidFill>
                <a:srgbClr val="80808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x_data = [</a:t>
            </a:r>
            <a:r>
              <a:rPr lang="en" sz="12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2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2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y_data = [</a:t>
            </a:r>
            <a:r>
              <a:rPr lang="en" sz="12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2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2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200">
              <a:solidFill>
                <a:srgbClr val="80808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W = tf.Variable(tf.random_normal([</a:t>
            </a:r>
            <a:r>
              <a:rPr lang="en" sz="12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]), </a:t>
            </a:r>
            <a:r>
              <a:rPr lang="en" sz="1200">
                <a:solidFill>
                  <a:srgbClr val="66009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name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1" lang="en" sz="1200">
                <a:solidFill>
                  <a:srgbClr val="0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'weight'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X = tf.placeholder(tf.float32)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Y = tf.placeholder(tf.float32)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 Our hypothesis for linear model X * W</a:t>
            </a:r>
            <a:endParaRPr i="1" sz="1200">
              <a:solidFill>
                <a:srgbClr val="80808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hypothesis = X * W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 cost/loss function</a:t>
            </a:r>
            <a:endParaRPr i="1" sz="1200">
              <a:solidFill>
                <a:srgbClr val="80808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cost = tf.reduce_sum(tf.square(hypothesis - Y))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 Minimize: Gradient Descent using derivative: W -= learning_rate * derivative</a:t>
            </a:r>
            <a:endParaRPr i="1" sz="1200">
              <a:solidFill>
                <a:srgbClr val="80808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learning_rate = </a:t>
            </a:r>
            <a:r>
              <a:rPr lang="en" sz="12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0.1</a:t>
            </a:r>
            <a:endParaRPr sz="1200">
              <a:solidFill>
                <a:srgbClr val="0000FF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gradient = tf.reduce_mean((W * X - Y) * X)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descent = W - learning_rate * gradient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update = W.assign(descent)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 Launch the graph in a session.</a:t>
            </a:r>
            <a:endParaRPr i="1" sz="1200">
              <a:solidFill>
                <a:srgbClr val="80808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sess = tf.Session()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 Initializes global variables in the graph.</a:t>
            </a:r>
            <a:endParaRPr i="1" sz="1200">
              <a:solidFill>
                <a:srgbClr val="80808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sess.run(tf.global_variables_initializer())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for 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step </a:t>
            </a:r>
            <a:r>
              <a:rPr b="1" lang="en" sz="1200">
                <a:solidFill>
                  <a:srgbClr val="000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 </a:t>
            </a:r>
            <a:r>
              <a:rPr lang="en" sz="1200">
                <a:solidFill>
                  <a:srgbClr val="000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range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2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21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):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sess.run(update, </a:t>
            </a:r>
            <a:r>
              <a:rPr lang="en" sz="1200">
                <a:solidFill>
                  <a:srgbClr val="66009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feed_dict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={X: x_data, Y: y_data})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" sz="1200">
                <a:solidFill>
                  <a:srgbClr val="000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(step, sess.run(cost, </a:t>
            </a:r>
            <a:r>
              <a:rPr lang="en" sz="1200">
                <a:solidFill>
                  <a:srgbClr val="66009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feed_dict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={X: x_data, Y: y_data}), sess.run(W))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16" name="Google Shape;216;p41"/>
          <p:cNvSpPr txBox="1"/>
          <p:nvPr/>
        </p:nvSpPr>
        <p:spPr>
          <a:xfrm>
            <a:off x="2879475" y="4884875"/>
            <a:ext cx="7026600" cy="29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u="sng">
                <a:solidFill>
                  <a:schemeClr val="hlink"/>
                </a:solidFill>
                <a:hlinkClick r:id="rId3"/>
              </a:rPr>
              <a:t>https://github.com/hunkim/DeepLearningZeroToAll/blob/master/lab-03-2-minimizing_cost_gradient_update.py</a:t>
            </a:r>
            <a:r>
              <a:rPr lang="en" sz="1000"/>
              <a:t> </a:t>
            </a:r>
            <a:endParaRPr sz="1000"/>
          </a:p>
        </p:txBody>
      </p:sp>
      <p:sp>
        <p:nvSpPr>
          <p:cNvPr id="217" name="Google Shape;217;p41"/>
          <p:cNvSpPr txBox="1"/>
          <p:nvPr/>
        </p:nvSpPr>
        <p:spPr>
          <a:xfrm>
            <a:off x="6579250" y="446625"/>
            <a:ext cx="2416200" cy="4458300"/>
          </a:xfrm>
          <a:prstGeom prst="rect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08080"/>
                </a:solidFill>
                <a:highlight>
                  <a:srgbClr val="FFFFFF"/>
                </a:highlight>
              </a:rPr>
              <a:t>0 5.81756 [ 1.64462376]</a:t>
            </a:r>
            <a:endParaRPr b="1" sz="1300">
              <a:solidFill>
                <a:srgbClr val="008080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08080"/>
                </a:solidFill>
                <a:highlight>
                  <a:srgbClr val="FFFFFF"/>
                </a:highlight>
              </a:rPr>
              <a:t>1 1.65477 [ 1.34379935]</a:t>
            </a:r>
            <a:endParaRPr b="1" sz="1300">
              <a:solidFill>
                <a:srgbClr val="008080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08080"/>
                </a:solidFill>
                <a:highlight>
                  <a:srgbClr val="FFFFFF"/>
                </a:highlight>
              </a:rPr>
              <a:t>2 0.470691 [ 1.18335962]</a:t>
            </a:r>
            <a:endParaRPr b="1" sz="1300">
              <a:solidFill>
                <a:srgbClr val="008080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08080"/>
                </a:solidFill>
                <a:highlight>
                  <a:srgbClr val="FFFFFF"/>
                </a:highlight>
              </a:rPr>
              <a:t>3 0.133885 [ 1.09779179]</a:t>
            </a:r>
            <a:endParaRPr b="1" sz="1300">
              <a:solidFill>
                <a:srgbClr val="008080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08080"/>
                </a:solidFill>
                <a:highlight>
                  <a:srgbClr val="FFFFFF"/>
                </a:highlight>
              </a:rPr>
              <a:t>4 0.0380829 [ 1.05215561]</a:t>
            </a:r>
            <a:endParaRPr b="1" sz="1300">
              <a:solidFill>
                <a:srgbClr val="008080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08080"/>
                </a:solidFill>
                <a:highlight>
                  <a:srgbClr val="FFFFFF"/>
                </a:highlight>
              </a:rPr>
              <a:t>5 0.0108324 [ 1.0278163]</a:t>
            </a:r>
            <a:endParaRPr b="1" sz="1300">
              <a:solidFill>
                <a:srgbClr val="008080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08080"/>
                </a:solidFill>
                <a:highlight>
                  <a:srgbClr val="FFFFFF"/>
                </a:highlight>
              </a:rPr>
              <a:t>6 0.00308123 [ 1.01483536]</a:t>
            </a:r>
            <a:endParaRPr b="1" sz="1300">
              <a:solidFill>
                <a:srgbClr val="008080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08080"/>
                </a:solidFill>
                <a:highlight>
                  <a:srgbClr val="FFFFFF"/>
                </a:highlight>
              </a:rPr>
              <a:t>7 0.000876432 [ 1.00791216]</a:t>
            </a:r>
            <a:endParaRPr b="1" sz="1300">
              <a:solidFill>
                <a:srgbClr val="008080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08080"/>
                </a:solidFill>
                <a:highlight>
                  <a:srgbClr val="FFFFFF"/>
                </a:highlight>
              </a:rPr>
              <a:t>8 0.00024929 [ 1.00421977]</a:t>
            </a:r>
            <a:endParaRPr b="1" sz="1300">
              <a:solidFill>
                <a:srgbClr val="008080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08080"/>
                </a:solidFill>
                <a:highlight>
                  <a:srgbClr val="FFFFFF"/>
                </a:highlight>
              </a:rPr>
              <a:t>9 7.09082e-05 [ 1.00225055]</a:t>
            </a:r>
            <a:endParaRPr b="1" sz="1300">
              <a:solidFill>
                <a:srgbClr val="008080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08080"/>
                </a:solidFill>
                <a:highlight>
                  <a:srgbClr val="FFFFFF"/>
                </a:highlight>
              </a:rPr>
              <a:t>10 2.01716e-05 [ 1.00120032]</a:t>
            </a:r>
            <a:endParaRPr b="1" sz="1300">
              <a:solidFill>
                <a:srgbClr val="008080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08080"/>
                </a:solidFill>
                <a:highlight>
                  <a:srgbClr val="FFFFFF"/>
                </a:highlight>
              </a:rPr>
              <a:t>11 5.73716e-06 [ 1.00064015]</a:t>
            </a:r>
            <a:endParaRPr b="1" sz="1300">
              <a:solidFill>
                <a:srgbClr val="008080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08080"/>
                </a:solidFill>
                <a:highlight>
                  <a:srgbClr val="FFFFFF"/>
                </a:highlight>
              </a:rPr>
              <a:t>12 1.6319e-06 [ 1.00034142]</a:t>
            </a:r>
            <a:endParaRPr b="1" sz="1300">
              <a:solidFill>
                <a:srgbClr val="008080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08080"/>
                </a:solidFill>
                <a:highlight>
                  <a:srgbClr val="FFFFFF"/>
                </a:highlight>
              </a:rPr>
              <a:t>13 4.63772e-07 [ 1.00018203]</a:t>
            </a:r>
            <a:endParaRPr b="1" sz="1300">
              <a:solidFill>
                <a:srgbClr val="008080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08080"/>
                </a:solidFill>
                <a:highlight>
                  <a:srgbClr val="FFFFFF"/>
                </a:highlight>
              </a:rPr>
              <a:t>14 1.31825e-07 [ 1.00009704]</a:t>
            </a:r>
            <a:endParaRPr b="1" sz="1300">
              <a:solidFill>
                <a:srgbClr val="008080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08080"/>
                </a:solidFill>
                <a:highlight>
                  <a:srgbClr val="FFFFFF"/>
                </a:highlight>
              </a:rPr>
              <a:t>15 3.74738e-08 [ 1.00005174]</a:t>
            </a:r>
            <a:endParaRPr b="1" sz="1300">
              <a:solidFill>
                <a:srgbClr val="008080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08080"/>
                </a:solidFill>
                <a:highlight>
                  <a:srgbClr val="FFFFFF"/>
                </a:highlight>
              </a:rPr>
              <a:t>16 1.05966e-08 [ 1.00002754]</a:t>
            </a:r>
            <a:endParaRPr b="1" sz="1300">
              <a:solidFill>
                <a:srgbClr val="008080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08080"/>
                </a:solidFill>
                <a:highlight>
                  <a:srgbClr val="FFFFFF"/>
                </a:highlight>
              </a:rPr>
              <a:t>17 2.99947e-09 [ 1.00001466]</a:t>
            </a:r>
            <a:endParaRPr b="1" sz="1300">
              <a:solidFill>
                <a:srgbClr val="008080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08080"/>
                </a:solidFill>
                <a:highlight>
                  <a:srgbClr val="FFFFFF"/>
                </a:highlight>
              </a:rPr>
              <a:t>18 8.66635e-10 [ 1.00000787]</a:t>
            </a:r>
            <a:endParaRPr b="1" sz="1300">
              <a:solidFill>
                <a:srgbClr val="008080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08080"/>
                </a:solidFill>
                <a:highlight>
                  <a:srgbClr val="FFFFFF"/>
                </a:highlight>
              </a:rPr>
              <a:t>19 2.40746e-10 [ 1.00000417]</a:t>
            </a:r>
            <a:endParaRPr b="1" sz="1300">
              <a:solidFill>
                <a:srgbClr val="008080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08080"/>
                </a:solidFill>
                <a:highlight>
                  <a:srgbClr val="FFFFFF"/>
                </a:highlight>
              </a:rPr>
              <a:t>20 7.02158e-11 [ 1.00000226]</a:t>
            </a:r>
            <a:endParaRPr b="1" sz="1300">
              <a:solidFill>
                <a:srgbClr val="008080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2" name="Google Shape;222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4160" y="3146013"/>
            <a:ext cx="3239400" cy="564600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42"/>
          <p:cNvSpPr txBox="1"/>
          <p:nvPr/>
        </p:nvSpPr>
        <p:spPr>
          <a:xfrm>
            <a:off x="3528500" y="1176800"/>
            <a:ext cx="5508000" cy="942900"/>
          </a:xfrm>
          <a:prstGeom prst="rect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 Minimize: Gradient Descent Magic</a:t>
            </a:r>
            <a:endParaRPr i="1">
              <a:solidFill>
                <a:srgbClr val="80808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optimizer = 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tf.train.GradientDescentOptimizer(</a:t>
            </a:r>
            <a:r>
              <a:rPr lang="en">
                <a:solidFill>
                  <a:srgbClr val="66009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learning_rate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0.1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train = optimizer.minimize(cost)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24" name="Google Shape;224;p42"/>
          <p:cNvSpPr txBox="1"/>
          <p:nvPr/>
        </p:nvSpPr>
        <p:spPr>
          <a:xfrm>
            <a:off x="0" y="0"/>
            <a:ext cx="6927900" cy="509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import 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tensorflow </a:t>
            </a:r>
            <a:r>
              <a:rPr b="1" lang="en" sz="1200">
                <a:solidFill>
                  <a:srgbClr val="000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as 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tf</a:t>
            </a:r>
            <a:endParaRPr i="1" sz="1200">
              <a:solidFill>
                <a:srgbClr val="80808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x_data = [</a:t>
            </a:r>
            <a:r>
              <a:rPr lang="en" sz="12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2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2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y_data = [</a:t>
            </a:r>
            <a:r>
              <a:rPr lang="en" sz="12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2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2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200">
              <a:solidFill>
                <a:srgbClr val="80808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W = tf.Variable(tf.random_normal([</a:t>
            </a:r>
            <a:r>
              <a:rPr lang="en" sz="12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]), </a:t>
            </a:r>
            <a:r>
              <a:rPr lang="en" sz="1200">
                <a:solidFill>
                  <a:srgbClr val="66009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name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1" lang="en" sz="1200">
                <a:solidFill>
                  <a:srgbClr val="0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'weight'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X = tf.placeholder(tf.float32)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Y = tf.placeholder(tf.float32)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 Our hypothesis for linear model X * W</a:t>
            </a:r>
            <a:endParaRPr i="1" sz="1200">
              <a:solidFill>
                <a:srgbClr val="80808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hypothesis = X * W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 cost/loss function</a:t>
            </a:r>
            <a:endParaRPr i="1" sz="1200">
              <a:solidFill>
                <a:srgbClr val="80808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cost = tf.reduce_sum(tf.square(hypothesis - Y))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 Minimize: Gradient Descent using derivative: W -= learning_rate * derivative</a:t>
            </a:r>
            <a:endParaRPr i="1" sz="1200">
              <a:solidFill>
                <a:srgbClr val="80808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learning_rate = </a:t>
            </a:r>
            <a:r>
              <a:rPr lang="en" sz="12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0.1</a:t>
            </a:r>
            <a:endParaRPr sz="1200">
              <a:solidFill>
                <a:srgbClr val="0000FF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gradient = tf.reduce_mean((W * X - Y) * X)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descent = W - learning_rate * gradient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update = W.assign(descent)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 Launch the graph in a session.</a:t>
            </a:r>
            <a:endParaRPr i="1" sz="1200">
              <a:solidFill>
                <a:srgbClr val="80808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sess = tf.Session()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 Initializes global variables in the graph.</a:t>
            </a:r>
            <a:endParaRPr i="1" sz="1200">
              <a:solidFill>
                <a:srgbClr val="80808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sess.run(tf.global_variables_initializer())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for 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step </a:t>
            </a:r>
            <a:r>
              <a:rPr b="1" lang="en" sz="1200">
                <a:solidFill>
                  <a:srgbClr val="000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 </a:t>
            </a:r>
            <a:r>
              <a:rPr lang="en" sz="1200">
                <a:solidFill>
                  <a:srgbClr val="000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range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2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21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):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sess.run(update, </a:t>
            </a:r>
            <a:r>
              <a:rPr lang="en" sz="1200">
                <a:solidFill>
                  <a:srgbClr val="66009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feed_dict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={X: x_data, Y: y_data})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" sz="1200">
                <a:solidFill>
                  <a:srgbClr val="000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(step, sess.run(cost, </a:t>
            </a:r>
            <a:r>
              <a:rPr lang="en" sz="1200">
                <a:solidFill>
                  <a:srgbClr val="66009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feed_dict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={X: x_data, Y: y_data}), sess.run(W))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25" name="Google Shape;225;p42"/>
          <p:cNvSpPr txBox="1"/>
          <p:nvPr/>
        </p:nvSpPr>
        <p:spPr>
          <a:xfrm>
            <a:off x="2879475" y="4884875"/>
            <a:ext cx="7026600" cy="29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u="sng">
                <a:solidFill>
                  <a:schemeClr val="hlink"/>
                </a:solidFill>
                <a:hlinkClick r:id="rId4"/>
              </a:rPr>
              <a:t>https://github.com/hunkim/DeepLearningZeroToAll/blob/master/lab-03-2-minimizing_cost_gradient_update.py</a:t>
            </a:r>
            <a:r>
              <a:rPr lang="en" sz="1000"/>
              <a:t> </a:t>
            </a:r>
            <a:endParaRPr sz="10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43"/>
          <p:cNvSpPr txBox="1"/>
          <p:nvPr>
            <p:ph type="title"/>
          </p:nvPr>
        </p:nvSpPr>
        <p:spPr>
          <a:xfrm>
            <a:off x="2223251" y="129120"/>
            <a:ext cx="5518500" cy="12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</a:pPr>
            <a:r>
              <a:rPr b="0" i="0" lang="en" sz="34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Output when W=5</a:t>
            </a:r>
            <a:endParaRPr/>
          </a:p>
        </p:txBody>
      </p:sp>
      <p:sp>
        <p:nvSpPr>
          <p:cNvPr id="231" name="Google Shape;231;p43"/>
          <p:cNvSpPr txBox="1"/>
          <p:nvPr/>
        </p:nvSpPr>
        <p:spPr>
          <a:xfrm>
            <a:off x="0" y="0"/>
            <a:ext cx="6594600" cy="514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rgbClr val="000080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import </a:t>
            </a:r>
            <a:r>
              <a:rPr lang="en" sz="130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tensorflow </a:t>
            </a:r>
            <a:r>
              <a:rPr b="1" lang="en" sz="1300">
                <a:solidFill>
                  <a:srgbClr val="000080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as </a:t>
            </a:r>
            <a:r>
              <a:rPr lang="en" sz="130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tf</a:t>
            </a:r>
            <a:endParaRPr sz="1300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i="1" sz="1300">
              <a:solidFill>
                <a:srgbClr val="808080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300">
                <a:solidFill>
                  <a:srgbClr val="808080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# tf Graph Input</a:t>
            </a:r>
            <a:endParaRPr i="1" sz="1300">
              <a:solidFill>
                <a:srgbClr val="808080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X = [</a:t>
            </a:r>
            <a:r>
              <a:rPr lang="en" sz="1300">
                <a:solidFill>
                  <a:schemeClr val="hlink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" sz="130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300">
                <a:solidFill>
                  <a:schemeClr val="hlink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lang="en" sz="130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300">
                <a:solidFill>
                  <a:schemeClr val="hlink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lang="en" sz="130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]</a:t>
            </a:r>
            <a:endParaRPr sz="1300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Y = [</a:t>
            </a:r>
            <a:r>
              <a:rPr lang="en" sz="1300">
                <a:solidFill>
                  <a:schemeClr val="hlink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" sz="130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300">
                <a:solidFill>
                  <a:schemeClr val="hlink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lang="en" sz="130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300">
                <a:solidFill>
                  <a:schemeClr val="hlink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lang="en" sz="130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]</a:t>
            </a:r>
            <a:endParaRPr sz="1300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300">
                <a:solidFill>
                  <a:srgbClr val="808080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# Set wrong model weights</a:t>
            </a:r>
            <a:endParaRPr i="1" sz="1300">
              <a:solidFill>
                <a:srgbClr val="808080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W = tf.Variable(</a:t>
            </a:r>
            <a:r>
              <a:rPr b="1" lang="en" sz="2300">
                <a:solidFill>
                  <a:schemeClr val="hlink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5.0</a:t>
            </a:r>
            <a:r>
              <a:rPr lang="en" sz="130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300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300">
                <a:solidFill>
                  <a:srgbClr val="808080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# Linear model</a:t>
            </a:r>
            <a:endParaRPr i="1" sz="1300">
              <a:solidFill>
                <a:srgbClr val="808080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hypothesis = X * W</a:t>
            </a:r>
            <a:endParaRPr sz="1300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300">
                <a:solidFill>
                  <a:srgbClr val="808080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# cost/loss function</a:t>
            </a:r>
            <a:endParaRPr i="1" sz="1300">
              <a:solidFill>
                <a:srgbClr val="808080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cost = tf.reduce_mean(tf.square(hypothesis - Y))</a:t>
            </a:r>
            <a:endParaRPr sz="1300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300">
                <a:solidFill>
                  <a:srgbClr val="808080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# Minimize: Gradient Descent Magic</a:t>
            </a:r>
            <a:endParaRPr i="1" sz="1300">
              <a:solidFill>
                <a:srgbClr val="808080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optimizer = tf.train.GradientDescentOptimizer(</a:t>
            </a:r>
            <a:r>
              <a:rPr lang="en" sz="1300">
                <a:solidFill>
                  <a:srgbClr val="660099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learning_rate</a:t>
            </a:r>
            <a:r>
              <a:rPr lang="en" sz="130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" sz="1300">
                <a:solidFill>
                  <a:schemeClr val="hlink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0.1</a:t>
            </a:r>
            <a:r>
              <a:rPr lang="en" sz="130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300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train = optimizer.minimize(cost)</a:t>
            </a:r>
            <a:endParaRPr sz="1300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300">
                <a:solidFill>
                  <a:srgbClr val="808080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# Launch the graph in a session.</a:t>
            </a:r>
            <a:endParaRPr i="1" sz="1300">
              <a:solidFill>
                <a:srgbClr val="808080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sess = tf.Session()</a:t>
            </a:r>
            <a:endParaRPr sz="1300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300">
                <a:solidFill>
                  <a:srgbClr val="808080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# Initializes global variables in the graph.</a:t>
            </a:r>
            <a:endParaRPr i="1" sz="1300">
              <a:solidFill>
                <a:srgbClr val="808080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sess.run(tf.global_variables_initializer())</a:t>
            </a:r>
            <a:endParaRPr sz="1300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rgbClr val="000080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for </a:t>
            </a:r>
            <a:r>
              <a:rPr lang="en" sz="130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step </a:t>
            </a:r>
            <a:r>
              <a:rPr b="1" lang="en" sz="1300">
                <a:solidFill>
                  <a:srgbClr val="000080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in </a:t>
            </a:r>
            <a:r>
              <a:rPr lang="en" sz="1300">
                <a:solidFill>
                  <a:srgbClr val="000080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range</a:t>
            </a:r>
            <a:r>
              <a:rPr lang="en" sz="130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300">
                <a:solidFill>
                  <a:schemeClr val="hlink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100</a:t>
            </a:r>
            <a:r>
              <a:rPr lang="en" sz="130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):</a:t>
            </a:r>
            <a:endParaRPr sz="1300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" sz="1300">
                <a:solidFill>
                  <a:srgbClr val="000080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en" sz="130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(step, sess.run(W))</a:t>
            </a:r>
            <a:endParaRPr sz="1300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sess.run(train)</a:t>
            </a:r>
            <a:endParaRPr sz="1300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00008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232" name="Google Shape;232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96775" y="10875"/>
            <a:ext cx="2122075" cy="1583999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43"/>
          <p:cNvSpPr txBox="1"/>
          <p:nvPr/>
        </p:nvSpPr>
        <p:spPr>
          <a:xfrm>
            <a:off x="7176725" y="1857200"/>
            <a:ext cx="1762200" cy="2368800"/>
          </a:xfrm>
          <a:prstGeom prst="rect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0 5.0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1 1.26667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2 1.01778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3 1.00119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4 1.00008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5 1.00001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6 1.0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7 1.0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8 1.0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9 1.0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34" name="Google Shape;234;p43"/>
          <p:cNvSpPr txBox="1"/>
          <p:nvPr/>
        </p:nvSpPr>
        <p:spPr>
          <a:xfrm>
            <a:off x="3108075" y="4884875"/>
            <a:ext cx="7026600" cy="29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u="sng">
                <a:solidFill>
                  <a:schemeClr val="hlink"/>
                </a:solidFill>
                <a:hlinkClick r:id="rId4"/>
              </a:rPr>
              <a:t>https://github.com/hunkim/DeepLearningZeroToAll/blob/master/lab-03-3-minimizing_cost_tf_optimizer.py</a:t>
            </a:r>
            <a:r>
              <a:rPr lang="en" sz="1000"/>
              <a:t> </a:t>
            </a:r>
            <a:endParaRPr sz="10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44"/>
          <p:cNvSpPr txBox="1"/>
          <p:nvPr>
            <p:ph type="title"/>
          </p:nvPr>
        </p:nvSpPr>
        <p:spPr>
          <a:xfrm>
            <a:off x="2223251" y="129120"/>
            <a:ext cx="5518500" cy="12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</a:pPr>
            <a:r>
              <a:rPr b="0" i="0" lang="en" sz="34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Output when W=</a:t>
            </a:r>
            <a:r>
              <a:rPr lang="en"/>
              <a:t>-3</a:t>
            </a:r>
            <a:endParaRPr/>
          </a:p>
        </p:txBody>
      </p:sp>
      <p:pic>
        <p:nvPicPr>
          <p:cNvPr id="240" name="Google Shape;240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96775" y="10875"/>
            <a:ext cx="2122075" cy="1583999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44"/>
          <p:cNvSpPr txBox="1"/>
          <p:nvPr/>
        </p:nvSpPr>
        <p:spPr>
          <a:xfrm>
            <a:off x="7176725" y="1857200"/>
            <a:ext cx="1762200" cy="2426700"/>
          </a:xfrm>
          <a:prstGeom prst="rect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0 -3.0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1 0.733334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2 0.982222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3 0.998815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4 0.999921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5 0.999995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6 1.0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7 1.0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8 1.0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9 1.0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42" name="Google Shape;242;p44"/>
          <p:cNvSpPr txBox="1"/>
          <p:nvPr/>
        </p:nvSpPr>
        <p:spPr>
          <a:xfrm>
            <a:off x="0" y="0"/>
            <a:ext cx="6443700" cy="514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00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import </a:t>
            </a: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tensorflow </a:t>
            </a:r>
            <a:r>
              <a:rPr b="1" lang="en" sz="1300">
                <a:solidFill>
                  <a:srgbClr val="000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as </a:t>
            </a: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tf</a:t>
            </a:r>
            <a:endParaRPr sz="13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300">
              <a:solidFill>
                <a:srgbClr val="80808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300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 tf Graph Input</a:t>
            </a:r>
            <a:endParaRPr i="1" sz="1300">
              <a:solidFill>
                <a:srgbClr val="80808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X = [</a:t>
            </a:r>
            <a:r>
              <a:rPr lang="en" sz="13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3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3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</a:t>
            </a:r>
            <a:endParaRPr sz="13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Y = [</a:t>
            </a:r>
            <a:r>
              <a:rPr lang="en" sz="13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3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3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</a:t>
            </a:r>
            <a:endParaRPr sz="13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300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 Set wrong model weights</a:t>
            </a:r>
            <a:endParaRPr i="1" sz="1300">
              <a:solidFill>
                <a:srgbClr val="80808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W = tf.Variable(</a:t>
            </a:r>
            <a:r>
              <a:rPr b="1" lang="en" sz="23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-3.0</a:t>
            </a: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3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300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 Linear model</a:t>
            </a:r>
            <a:endParaRPr i="1" sz="1300">
              <a:solidFill>
                <a:srgbClr val="80808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hypothesis = X * W</a:t>
            </a:r>
            <a:endParaRPr sz="13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300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 cost/loss function</a:t>
            </a:r>
            <a:endParaRPr i="1" sz="1300">
              <a:solidFill>
                <a:srgbClr val="80808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cost = tf.reduce_mean(tf.square(hypothesis - Y))</a:t>
            </a:r>
            <a:endParaRPr sz="13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300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 Minimize: Gradient Descent Magic</a:t>
            </a:r>
            <a:endParaRPr i="1" sz="1300">
              <a:solidFill>
                <a:srgbClr val="80808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optimizer = tf.train.GradientDescentOptimizer(</a:t>
            </a:r>
            <a:r>
              <a:rPr lang="en" sz="1300">
                <a:solidFill>
                  <a:srgbClr val="66009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learning_rate</a:t>
            </a: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" sz="13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0.1</a:t>
            </a: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3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train = optimizer.minimize(cost)</a:t>
            </a:r>
            <a:endParaRPr sz="13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300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 Launch the graph in a session.</a:t>
            </a:r>
            <a:endParaRPr i="1" sz="1300">
              <a:solidFill>
                <a:srgbClr val="80808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sess = tf.Session()</a:t>
            </a:r>
            <a:endParaRPr sz="13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300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 Initializes global variables in the graph.</a:t>
            </a:r>
            <a:endParaRPr i="1" sz="1300">
              <a:solidFill>
                <a:srgbClr val="80808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sess.run(tf.global_variables_initializer())</a:t>
            </a:r>
            <a:endParaRPr sz="13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00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for </a:t>
            </a: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step </a:t>
            </a:r>
            <a:r>
              <a:rPr b="1" lang="en" sz="1300">
                <a:solidFill>
                  <a:srgbClr val="000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 </a:t>
            </a:r>
            <a:r>
              <a:rPr lang="en" sz="1300">
                <a:solidFill>
                  <a:srgbClr val="000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range</a:t>
            </a: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3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100</a:t>
            </a: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):</a:t>
            </a:r>
            <a:endParaRPr sz="13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" sz="1300">
                <a:solidFill>
                  <a:srgbClr val="000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(step, sess.run(W))</a:t>
            </a:r>
            <a:endParaRPr sz="13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sess.run(train)</a:t>
            </a:r>
            <a:endParaRPr sz="13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43" name="Google Shape;243;p44"/>
          <p:cNvSpPr txBox="1"/>
          <p:nvPr/>
        </p:nvSpPr>
        <p:spPr>
          <a:xfrm>
            <a:off x="3108075" y="4884875"/>
            <a:ext cx="7026600" cy="29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u="sng">
                <a:solidFill>
                  <a:schemeClr val="hlink"/>
                </a:solidFill>
                <a:hlinkClick r:id="rId4"/>
              </a:rPr>
              <a:t>https://github.com/hunkim/DeepLearningZeroToAll/blob/master/lab-03-3-minimizing_cost_tf_optimizer.py</a:t>
            </a:r>
            <a:r>
              <a:rPr lang="en" sz="1000"/>
              <a:t> </a:t>
            </a:r>
            <a:endParaRPr sz="10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45"/>
          <p:cNvSpPr txBox="1"/>
          <p:nvPr/>
        </p:nvSpPr>
        <p:spPr>
          <a:xfrm>
            <a:off x="72425" y="-2675"/>
            <a:ext cx="6145500" cy="514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00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import </a:t>
            </a: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tensorflow </a:t>
            </a:r>
            <a:r>
              <a:rPr b="1" lang="en" sz="1300">
                <a:solidFill>
                  <a:srgbClr val="000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as </a:t>
            </a: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tf</a:t>
            </a:r>
            <a:endParaRPr i="1" sz="1300">
              <a:solidFill>
                <a:srgbClr val="80808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X = [</a:t>
            </a:r>
            <a:r>
              <a:rPr lang="en" sz="13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3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3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</a:t>
            </a:r>
            <a:endParaRPr sz="13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Y = [</a:t>
            </a:r>
            <a:r>
              <a:rPr lang="en" sz="13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3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3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</a:t>
            </a:r>
            <a:endParaRPr sz="13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300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 Set wrong model weights</a:t>
            </a:r>
            <a:endParaRPr i="1" sz="1300">
              <a:solidFill>
                <a:srgbClr val="80808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W = tf.Variable(</a:t>
            </a:r>
            <a:r>
              <a:rPr lang="en" sz="13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5.</a:t>
            </a: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3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300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 Linear model</a:t>
            </a:r>
            <a:endParaRPr i="1" sz="1300">
              <a:solidFill>
                <a:srgbClr val="80808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hypothesis = X * W</a:t>
            </a:r>
            <a:endParaRPr sz="13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300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 Manual gradient</a:t>
            </a:r>
            <a:endParaRPr i="1" sz="1300">
              <a:solidFill>
                <a:srgbClr val="80808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gradient = tf.reduce_mean((W * X - Y) * X) * </a:t>
            </a:r>
            <a:r>
              <a:rPr lang="en" sz="13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2</a:t>
            </a:r>
            <a:endParaRPr sz="1300">
              <a:solidFill>
                <a:srgbClr val="0000FF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300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 cost/loss function</a:t>
            </a:r>
            <a:endParaRPr i="1" sz="1300">
              <a:solidFill>
                <a:srgbClr val="80808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cost = tf.reduce_mean(tf.square(hypothesis - Y))</a:t>
            </a:r>
            <a:endParaRPr sz="13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optimizer = tf.train.GradientDescentOptimizer(</a:t>
            </a:r>
            <a:r>
              <a:rPr lang="en" sz="1300">
                <a:solidFill>
                  <a:srgbClr val="66009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learning_rate</a:t>
            </a: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" sz="13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0.01</a:t>
            </a: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3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300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 Get gradients</a:t>
            </a:r>
            <a:endParaRPr i="1" sz="1300">
              <a:solidFill>
                <a:srgbClr val="80808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gvs = optimizer.compute_gradients(cost, [W])</a:t>
            </a:r>
            <a:endParaRPr sz="13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300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 Apply gradients</a:t>
            </a:r>
            <a:endParaRPr sz="13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apply_gradients = optimizer.apply_gradients(gvs)</a:t>
            </a:r>
            <a:endParaRPr sz="13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300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 Launch the graph in a session.</a:t>
            </a:r>
            <a:endParaRPr i="1" sz="1300">
              <a:solidFill>
                <a:srgbClr val="80808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sess = tf.Session()</a:t>
            </a:r>
            <a:endParaRPr sz="13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sess.run(tf.global_variables_initializer())</a:t>
            </a:r>
            <a:endParaRPr sz="13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00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for </a:t>
            </a: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step </a:t>
            </a:r>
            <a:r>
              <a:rPr b="1" lang="en" sz="1300">
                <a:solidFill>
                  <a:srgbClr val="000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 </a:t>
            </a:r>
            <a:r>
              <a:rPr lang="en" sz="1300">
                <a:solidFill>
                  <a:srgbClr val="000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range</a:t>
            </a: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3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100</a:t>
            </a: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):</a:t>
            </a:r>
            <a:endParaRPr sz="13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" sz="1300">
                <a:solidFill>
                  <a:srgbClr val="000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(step, sess.run([gradient, W, gvs]))</a:t>
            </a:r>
            <a:endParaRPr sz="13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sess.run(apply_gradients)</a:t>
            </a:r>
            <a:endParaRPr b="1" sz="1300">
              <a:solidFill>
                <a:srgbClr val="00008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49" name="Google Shape;249;p45"/>
          <p:cNvSpPr txBox="1"/>
          <p:nvPr>
            <p:ph type="title"/>
          </p:nvPr>
        </p:nvSpPr>
        <p:spPr>
          <a:xfrm>
            <a:off x="3641525" y="-3750"/>
            <a:ext cx="5518500" cy="150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</a:pPr>
            <a:r>
              <a:rPr lang="en"/>
              <a:t>Optional: </a:t>
            </a:r>
            <a:r>
              <a:rPr i="1" lang="en"/>
              <a:t>compute_g</a:t>
            </a:r>
            <a:r>
              <a:rPr i="1" lang="en" sz="3400"/>
              <a:t>radient</a:t>
            </a:r>
            <a:r>
              <a:rPr lang="en" sz="3400"/>
              <a:t> and </a:t>
            </a:r>
            <a:r>
              <a:rPr i="1" lang="en" sz="3400"/>
              <a:t>apply_gradient</a:t>
            </a:r>
            <a:endParaRPr i="1"/>
          </a:p>
        </p:txBody>
      </p:sp>
      <p:sp>
        <p:nvSpPr>
          <p:cNvPr id="250" name="Google Shape;250;p45"/>
          <p:cNvSpPr txBox="1"/>
          <p:nvPr/>
        </p:nvSpPr>
        <p:spPr>
          <a:xfrm>
            <a:off x="4673525" y="3045350"/>
            <a:ext cx="4309800" cy="1936500"/>
          </a:xfrm>
          <a:prstGeom prst="rect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50">
                <a:solidFill>
                  <a:srgbClr val="008080"/>
                </a:solidFill>
                <a:highlight>
                  <a:srgbClr val="FFFFFF"/>
                </a:highlight>
              </a:rPr>
              <a:t>0 [37.333332, 5.0, [(37.333336, 5.0)]]</a:t>
            </a:r>
            <a:endParaRPr b="1" sz="1150">
              <a:solidFill>
                <a:srgbClr val="008080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50">
                <a:solidFill>
                  <a:srgbClr val="008080"/>
                </a:solidFill>
                <a:highlight>
                  <a:srgbClr val="FFFFFF"/>
                </a:highlight>
              </a:rPr>
              <a:t>1 [33.848888, 4.6266665, [(33.848888, 4.6266665)]]</a:t>
            </a:r>
            <a:endParaRPr b="1" sz="1150">
              <a:solidFill>
                <a:srgbClr val="008080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50">
                <a:solidFill>
                  <a:srgbClr val="008080"/>
                </a:solidFill>
                <a:highlight>
                  <a:srgbClr val="FFFFFF"/>
                </a:highlight>
              </a:rPr>
              <a:t>2 [30.689657, 4.2881775, [(30.689657, 4.2881775)]]</a:t>
            </a:r>
            <a:endParaRPr b="1" sz="1150">
              <a:solidFill>
                <a:srgbClr val="008080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50">
                <a:solidFill>
                  <a:srgbClr val="008080"/>
                </a:solidFill>
                <a:highlight>
                  <a:srgbClr val="FFFFFF"/>
                </a:highlight>
              </a:rPr>
              <a:t>3 [27.825287, 3.9812808, [(27.825287, 3.9812808)]]</a:t>
            </a:r>
            <a:endParaRPr b="1" sz="1150">
              <a:solidFill>
                <a:srgbClr val="008080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50">
                <a:solidFill>
                  <a:srgbClr val="008080"/>
                </a:solidFill>
                <a:highlight>
                  <a:srgbClr val="FFFFFF"/>
                </a:highlight>
              </a:rPr>
              <a:t>4 [25.228262, 3.703028, [(25.228264, 3.703028)]]</a:t>
            </a:r>
            <a:endParaRPr b="1" sz="1150">
              <a:solidFill>
                <a:srgbClr val="008080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50">
                <a:solidFill>
                  <a:srgbClr val="008080"/>
                </a:solidFill>
                <a:highlight>
                  <a:srgbClr val="FFFFFF"/>
                </a:highlight>
              </a:rPr>
              <a:t>...</a:t>
            </a:r>
            <a:endParaRPr b="1" sz="1150">
              <a:solidFill>
                <a:srgbClr val="008080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50">
                <a:solidFill>
                  <a:srgbClr val="008080"/>
                </a:solidFill>
                <a:highlight>
                  <a:srgbClr val="FFFFFF"/>
                </a:highlight>
              </a:rPr>
              <a:t>96 [0.0030694802, 1.0003289, [(0.0030694804, 1.0003289)]]</a:t>
            </a:r>
            <a:endParaRPr b="1" sz="1150">
              <a:solidFill>
                <a:srgbClr val="008080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50">
                <a:solidFill>
                  <a:srgbClr val="008080"/>
                </a:solidFill>
                <a:highlight>
                  <a:srgbClr val="FFFFFF"/>
                </a:highlight>
              </a:rPr>
              <a:t>97 [0.0027837753, 1.0002983, [(0.0027837753, 1.0002983)]]</a:t>
            </a:r>
            <a:endParaRPr b="1" sz="1150">
              <a:solidFill>
                <a:srgbClr val="008080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50">
                <a:solidFill>
                  <a:srgbClr val="008080"/>
                </a:solidFill>
                <a:highlight>
                  <a:srgbClr val="FFFFFF"/>
                </a:highlight>
              </a:rPr>
              <a:t>98 [0.0025234222, 1.0002704, [(0.0025234222, 1.0002704)]]</a:t>
            </a:r>
            <a:endParaRPr b="1" sz="1150">
              <a:solidFill>
                <a:srgbClr val="008080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50">
                <a:solidFill>
                  <a:srgbClr val="008080"/>
                </a:solidFill>
                <a:highlight>
                  <a:srgbClr val="FFFFFF"/>
                </a:highlight>
              </a:rPr>
              <a:t>99 [0.0022875469, 1.0002451, [(0.0022875469, 1.0002451)]]</a:t>
            </a:r>
            <a:endParaRPr sz="1000"/>
          </a:p>
        </p:txBody>
      </p:sp>
      <p:sp>
        <p:nvSpPr>
          <p:cNvPr id="251" name="Google Shape;251;p45"/>
          <p:cNvSpPr txBox="1"/>
          <p:nvPr/>
        </p:nvSpPr>
        <p:spPr>
          <a:xfrm>
            <a:off x="3108075" y="4884875"/>
            <a:ext cx="7026600" cy="29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u="sng">
                <a:solidFill>
                  <a:schemeClr val="hlink"/>
                </a:solidFill>
                <a:hlinkClick r:id="rId3"/>
              </a:rPr>
              <a:t>https://github.com/hunkim/DeepLearningZeroToAll/blob/master/lab-03-X-minimizing_cost_tf_gradient.py</a:t>
            </a:r>
            <a:r>
              <a:rPr lang="en" sz="1000"/>
              <a:t> </a:t>
            </a:r>
            <a:endParaRPr sz="10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46"/>
          <p:cNvSpPr txBox="1"/>
          <p:nvPr>
            <p:ph type="title"/>
          </p:nvPr>
        </p:nvSpPr>
        <p:spPr>
          <a:xfrm>
            <a:off x="1812726" y="863947"/>
            <a:ext cx="5518500" cy="1741200"/>
          </a:xfrm>
          <a:prstGeom prst="rect">
            <a:avLst/>
          </a:prstGeom>
          <a:noFill/>
          <a:ln>
            <a:noFill/>
          </a:ln>
        </p:spPr>
        <p:txBody>
          <a:bodyPr anchorCtr="0" anchor="b" bIns="26775" lIns="26775" spcFirstLastPara="1" rIns="26775" wrap="square" tIns="267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</a:pPr>
            <a:r>
              <a:rPr b="0" i="0" lang="en" sz="44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Lab 4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</a:pPr>
            <a:r>
              <a:rPr b="0" i="0" lang="en" sz="27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Multi-</a:t>
            </a:r>
            <a:r>
              <a:rPr lang="en" sz="2700"/>
              <a:t>v</a:t>
            </a:r>
            <a:r>
              <a:rPr b="0" i="0" lang="en" sz="27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ariable linear regression</a:t>
            </a:r>
            <a:endParaRPr/>
          </a:p>
        </p:txBody>
      </p:sp>
      <p:sp>
        <p:nvSpPr>
          <p:cNvPr id="257" name="Google Shape;257;p46"/>
          <p:cNvSpPr txBox="1"/>
          <p:nvPr>
            <p:ph idx="1" type="body"/>
          </p:nvPr>
        </p:nvSpPr>
        <p:spPr>
          <a:xfrm>
            <a:off x="1812726" y="3197944"/>
            <a:ext cx="5518500" cy="596100"/>
          </a:xfrm>
          <a:prstGeom prst="rect">
            <a:avLst/>
          </a:prstGeom>
          <a:noFill/>
          <a:ln>
            <a:noFill/>
          </a:ln>
        </p:spPr>
        <p:txBody>
          <a:bodyPr anchorCtr="0" anchor="t" bIns="26775" lIns="26775" spcFirstLastPara="1" rIns="26775" wrap="square" tIns="267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Noto Sans Symbols"/>
              <a:buNone/>
            </a:pPr>
            <a:r>
              <a:rPr b="0" i="0" lang="en" sz="19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Sung Kim &lt;hunkim+ml@gmail.com&gt;</a:t>
            </a:r>
            <a:endParaRPr/>
          </a:p>
        </p:txBody>
      </p:sp>
      <p:grpSp>
        <p:nvGrpSpPr>
          <p:cNvPr id="258" name="Google Shape;258;p46"/>
          <p:cNvGrpSpPr/>
          <p:nvPr/>
        </p:nvGrpSpPr>
        <p:grpSpPr>
          <a:xfrm>
            <a:off x="-348127" y="87975"/>
            <a:ext cx="2543803" cy="1589522"/>
            <a:chOff x="-928337" y="234600"/>
            <a:chExt cx="6783474" cy="4238725"/>
          </a:xfrm>
        </p:grpSpPr>
        <p:pic>
          <p:nvPicPr>
            <p:cNvPr id="259" name="Google Shape;259;p4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-928337" y="656925"/>
              <a:ext cx="6783474" cy="3816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0" name="Google Shape;260;p46"/>
            <p:cNvSpPr txBox="1"/>
            <p:nvPr/>
          </p:nvSpPr>
          <p:spPr>
            <a:xfrm>
              <a:off x="672550" y="234600"/>
              <a:ext cx="3581700" cy="105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34275" spcFirstLastPara="1" rIns="34275" wrap="square" tIns="34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With TF 1.0!</a:t>
              </a:r>
              <a:endParaRPr sz="1800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